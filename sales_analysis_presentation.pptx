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Bold" charset="1" panose="00000800000000000000"/>
      <p:regular r:id="rId21"/>
    </p:embeddedFont>
    <p:embeddedFont>
      <p:font typeface="TT Interphases Bold" charset="1" panose="02000803060000020004"/>
      <p:regular r:id="rId22"/>
    </p:embeddedFont>
    <p:embeddedFont>
      <p:font typeface="Poppins Bold" charset="1" panose="00000800000000000000"/>
      <p:regular r:id="rId26"/>
    </p:embeddedFont>
    <p:embeddedFont>
      <p:font typeface="Open Sans Bold" charset="1" panose="00000000000000000000"/>
      <p:regular r:id="rId27"/>
    </p:embeddedFont>
    <p:embeddedFont>
      <p:font typeface="Canva Sans Bold" charset="1" panose="020B0803030501040103"/>
      <p:regular r:id="rId30"/>
    </p:embeddedFont>
    <p:embeddedFont>
      <p:font typeface="Canva Sans Bold Italics" charset="1" panose="020B0803030501040103"/>
      <p:regular r:id="rId31"/>
    </p:embeddedFont>
    <p:embeddedFont>
      <p:font typeface="Canva Sans" charset="1" panose="020B0503030501040103"/>
      <p:regular r:id="rId32"/>
    </p:embeddedFont>
    <p:embeddedFont>
      <p:font typeface="Open Sans Italics" charset="1" panose="00000000000000000000"/>
      <p:regular r:id="rId33"/>
    </p:embeddedFont>
    <p:embeddedFont>
      <p:font typeface="Open Sans" charset="1" panose="000000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notesSlides/notesSlide2.xml" Type="http://schemas.openxmlformats.org/officeDocument/2006/relationships/notesSlide"/><Relationship Id="rId29" Target="notesSlides/notesSlide3.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notesSlides/notesSlide4.xml" Type="http://schemas.openxmlformats.org/officeDocument/2006/relationships/notesSlide"/><Relationship Id="rId35" Target="notesSlides/notesSlide5.xml" Type="http://schemas.openxmlformats.org/officeDocument/2006/relationships/notesSlide"/><Relationship Id="rId36" Target="fonts/font36.fntdata" Type="http://schemas.openxmlformats.org/officeDocument/2006/relationships/font"/><Relationship Id="rId37" Target="notesSlides/notesSlide6.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Parch &amp; Posey was founded in April of 2013 and has since established itself as a reliable name within the paper industry.</a:t>
            </a:r>
          </a:p>
          <a:p>
            <a:r>
              <a:rPr lang="en-US"/>
              <a:t/>
            </a:r>
          </a:p>
          <a:p>
            <a:r>
              <a:rPr lang="en-US"/>
              <a:t>The company specializes in 3 types of paper: standard (which is their most popular), gloss, and poster. With operations spanning across the US and internationally, Parch &amp; Posey is supported by a team of 52 employees who have been able to generate over 23 million dollars in revenue since they started, just 4 years ago.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really, their products are in demand across a wide range of industries.</a:t>
            </a:r>
          </a:p>
          <a:p>
            <a:r>
              <a:rPr lang="en-US"/>
              <a:t/>
            </a:r>
          </a:p>
          <a:p>
            <a:r>
              <a:rPr lang="en-US"/>
              <a:t>With a customer base of over 352 accounts, Parch &amp; Posey serves many sectors like healthcare, retail, and entertainment, with big name customers like Disney, Walmart, and Chase. </a:t>
            </a:r>
          </a:p>
          <a:p>
            <a:r>
              <a:rPr lang="en-US"/>
              <a:t/>
            </a:r>
          </a:p>
          <a:p>
            <a:r>
              <a:rPr lang="en-US"/>
              <a:t>now pass roger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start with product popularity. This pie chart shows how often each product is ordered. As we can see, Standard is the most popular product, accounting for over 50% of the orders, followed by Gloss and Poster, which represent a smaller share of the total order count.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Moving on to revenue, this second chart shows the contribution of each product type to total revenue. While Standard still leads in popularity, Gloss contributes a higher percentage to revenue than Poster. This indicates that even though Poster is less frequently ordered, it might have a higher price or generate more revenue per sale.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Finally, we have a stacked bar chart showing the revenue contribution of each product across individual sample orders. This chart reveals that some orders are more heavily focused on certain products, with Standard dominating most orders, but there are variations across different orders in terms of how much each product contributes to revenue.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need to know:</a:t>
            </a:r>
          </a:p>
          <a:p>
            <a:r>
              <a:rPr lang="en-US"/>
              <a:t>- profit not just revenue</a:t>
            </a:r>
          </a:p>
          <a:p>
            <a:r>
              <a:rPr lang="en-US"/>
              <a:t>- market competition</a:t>
            </a:r>
          </a:p>
          <a:p>
            <a:r>
              <a:rPr lang="en-US"/>
              <a:t>etc. </a:t>
            </a:r>
          </a:p>
          <a:p>
            <a:r>
              <a:rPr lang="en-US"/>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6.jpeg" Type="http://schemas.openxmlformats.org/officeDocument/2006/relationships/image"/><Relationship Id="rId6" Target="../media/image7.jpeg" Type="http://schemas.openxmlformats.org/officeDocument/2006/relationships/image"/><Relationship Id="rId7" Target="../media/image8.jpeg" Type="http://schemas.openxmlformats.org/officeDocument/2006/relationships/image"/><Relationship Id="rId8" Target="../media/image9.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2" Target="../notesSlides/notesSlide1.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12" Target="../media/image27.png" Type="http://schemas.openxmlformats.org/officeDocument/2006/relationships/image"/><Relationship Id="rId13" Target="../media/image28.png" Type="http://schemas.openxmlformats.org/officeDocument/2006/relationships/image"/><Relationship Id="rId14" Target="../media/image29.png" Type="http://schemas.openxmlformats.org/officeDocument/2006/relationships/image"/><Relationship Id="rId15" Target="../media/image30.png" Type="http://schemas.openxmlformats.org/officeDocument/2006/relationships/image"/><Relationship Id="rId16" Target="../media/image31.png" Type="http://schemas.openxmlformats.org/officeDocument/2006/relationships/image"/><Relationship Id="rId17" Target="../media/image32.png" Type="http://schemas.openxmlformats.org/officeDocument/2006/relationships/image"/><Relationship Id="rId18" Target="../media/image33.png" Type="http://schemas.openxmlformats.org/officeDocument/2006/relationships/image"/><Relationship Id="rId19" Target="../media/image34.png" Type="http://schemas.openxmlformats.org/officeDocument/2006/relationships/image"/><Relationship Id="rId2" Target="../notesSlides/notesSlide2.xml" Type="http://schemas.openxmlformats.org/officeDocument/2006/relationships/notesSlide"/><Relationship Id="rId20" Target="../media/image35.png" Type="http://schemas.openxmlformats.org/officeDocument/2006/relationships/image"/><Relationship Id="rId21" Target="../media/image36.png" Type="http://schemas.openxmlformats.org/officeDocument/2006/relationships/image"/><Relationship Id="rId22" Target="../media/image37.png" Type="http://schemas.openxmlformats.org/officeDocument/2006/relationships/image"/><Relationship Id="rId23" Target="../media/image38.png" Type="http://schemas.openxmlformats.org/officeDocument/2006/relationships/image"/><Relationship Id="rId24" Target="../media/image16.png" Type="http://schemas.openxmlformats.org/officeDocument/2006/relationships/image"/><Relationship Id="rId25" Target="../media/image17.sv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2.png" Type="http://schemas.openxmlformats.org/officeDocument/2006/relationships/image"/><Relationship Id="rId4" Target="../media/image53.svg" Type="http://schemas.openxmlformats.org/officeDocument/2006/relationships/image"/><Relationship Id="rId5" Target="../media/image54.png" Type="http://schemas.openxmlformats.org/officeDocument/2006/relationships/image"/><Relationship Id="rId6" Target="../media/image5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028700" y="3182152"/>
            <a:ext cx="16230600" cy="3738816"/>
            <a:chOff x="0" y="0"/>
            <a:chExt cx="3851202" cy="887147"/>
          </a:xfrm>
        </p:grpSpPr>
        <p:sp>
          <p:nvSpPr>
            <p:cNvPr name="Freeform 4" id="4"/>
            <p:cNvSpPr/>
            <p:nvPr/>
          </p:nvSpPr>
          <p:spPr>
            <a:xfrm flipH="false" flipV="false" rot="0">
              <a:off x="0" y="0"/>
              <a:ext cx="3851202" cy="887147"/>
            </a:xfrm>
            <a:custGeom>
              <a:avLst/>
              <a:gdLst/>
              <a:ahLst/>
              <a:cxnLst/>
              <a:rect r="r" b="b" t="t" l="l"/>
              <a:pathLst>
                <a:path h="887147" w="3851202">
                  <a:moveTo>
                    <a:pt x="0" y="0"/>
                  </a:moveTo>
                  <a:lnTo>
                    <a:pt x="3851202" y="0"/>
                  </a:lnTo>
                  <a:lnTo>
                    <a:pt x="3851202" y="887147"/>
                  </a:lnTo>
                  <a:lnTo>
                    <a:pt x="0" y="887147"/>
                  </a:lnTo>
                  <a:close/>
                </a:path>
              </a:pathLst>
            </a:custGeom>
            <a:ln w="38100" cap="sq">
              <a:solidFill>
                <a:srgbClr val="FF7300"/>
              </a:solidFill>
              <a:prstDash val="solid"/>
              <a:miter/>
            </a:ln>
          </p:spPr>
        </p:sp>
        <p:sp>
          <p:nvSpPr>
            <p:cNvPr name="TextBox 5" id="5"/>
            <p:cNvSpPr txBox="true"/>
            <p:nvPr/>
          </p:nvSpPr>
          <p:spPr>
            <a:xfrm>
              <a:off x="0" y="-38100"/>
              <a:ext cx="3851202" cy="92524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60254" y="3789478"/>
            <a:ext cx="14767491" cy="2565169"/>
          </a:xfrm>
          <a:prstGeom prst="rect">
            <a:avLst/>
          </a:prstGeom>
        </p:spPr>
        <p:txBody>
          <a:bodyPr anchor="t" rtlCol="false" tIns="0" lIns="0" bIns="0" rIns="0">
            <a:spAutoFit/>
          </a:bodyPr>
          <a:lstStyle/>
          <a:p>
            <a:pPr algn="ctr">
              <a:lnSpc>
                <a:spcPts val="10300"/>
              </a:lnSpc>
              <a:spcBef>
                <a:spcPct val="0"/>
              </a:spcBef>
            </a:pPr>
            <a:r>
              <a:rPr lang="en-US" b="true" sz="7357">
                <a:solidFill>
                  <a:srgbClr val="000000"/>
                </a:solidFill>
                <a:latin typeface="Montserrat Bold"/>
                <a:ea typeface="Montserrat Bold"/>
                <a:cs typeface="Montserrat Bold"/>
                <a:sym typeface="Montserrat Bold"/>
              </a:rPr>
              <a:t>ACQUISITION ANALYSIS: PARCH &amp; POSEY</a:t>
            </a:r>
          </a:p>
        </p:txBody>
      </p:sp>
      <p:sp>
        <p:nvSpPr>
          <p:cNvPr name="Freeform 7" id="7"/>
          <p:cNvSpPr/>
          <p:nvPr/>
        </p:nvSpPr>
        <p:spPr>
          <a:xfrm flipH="false" flipV="false" rot="0">
            <a:off x="8014435" y="7402568"/>
            <a:ext cx="2259130" cy="918713"/>
          </a:xfrm>
          <a:custGeom>
            <a:avLst/>
            <a:gdLst/>
            <a:ahLst/>
            <a:cxnLst/>
            <a:rect r="r" b="b" t="t" l="l"/>
            <a:pathLst>
              <a:path h="918713" w="2259130">
                <a:moveTo>
                  <a:pt x="0" y="0"/>
                </a:moveTo>
                <a:lnTo>
                  <a:pt x="2259130" y="0"/>
                </a:lnTo>
                <a:lnTo>
                  <a:pt x="2259130" y="918713"/>
                </a:lnTo>
                <a:lnTo>
                  <a:pt x="0" y="918713"/>
                </a:lnTo>
                <a:lnTo>
                  <a:pt x="0" y="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664544" y="773120"/>
            <a:ext cx="2958913" cy="2127061"/>
            <a:chOff x="0" y="0"/>
            <a:chExt cx="3945217" cy="2836081"/>
          </a:xfrm>
        </p:grpSpPr>
        <p:sp>
          <p:nvSpPr>
            <p:cNvPr name="TextBox 3" id="3"/>
            <p:cNvSpPr txBox="true"/>
            <p:nvPr/>
          </p:nvSpPr>
          <p:spPr>
            <a:xfrm rot="0">
              <a:off x="0" y="-123825"/>
              <a:ext cx="3945217" cy="2928120"/>
            </a:xfrm>
            <a:prstGeom prst="rect">
              <a:avLst/>
            </a:prstGeom>
          </p:spPr>
          <p:txBody>
            <a:bodyPr anchor="t" rtlCol="false" tIns="0" lIns="0" bIns="0" rIns="0">
              <a:spAutoFit/>
            </a:bodyPr>
            <a:lstStyle/>
            <a:p>
              <a:pPr algn="ctr">
                <a:lnSpc>
                  <a:spcPts val="8925"/>
                </a:lnSpc>
                <a:spcBef>
                  <a:spcPct val="0"/>
                </a:spcBef>
              </a:pPr>
              <a:r>
                <a:rPr lang="en-US" b="true" sz="6375">
                  <a:solidFill>
                    <a:srgbClr val="000000"/>
                  </a:solidFill>
                  <a:latin typeface="Montserrat Bold"/>
                  <a:ea typeface="Montserrat Bold"/>
                  <a:cs typeface="Montserrat Bold"/>
                  <a:sym typeface="Montserrat Bold"/>
                </a:rPr>
                <a:t>TEAM D9</a:t>
              </a:r>
            </a:p>
          </p:txBody>
        </p:sp>
        <p:grpSp>
          <p:nvGrpSpPr>
            <p:cNvPr name="Group 4" id="4"/>
            <p:cNvGrpSpPr/>
            <p:nvPr/>
          </p:nvGrpSpPr>
          <p:grpSpPr>
            <a:xfrm rot="0">
              <a:off x="417052" y="1338576"/>
              <a:ext cx="3111112" cy="63571"/>
              <a:chOff x="0" y="0"/>
              <a:chExt cx="614541" cy="12557"/>
            </a:xfrm>
          </p:grpSpPr>
          <p:sp>
            <p:nvSpPr>
              <p:cNvPr name="Freeform 5" id="5"/>
              <p:cNvSpPr/>
              <p:nvPr/>
            </p:nvSpPr>
            <p:spPr>
              <a:xfrm flipH="false" flipV="false" rot="0">
                <a:off x="0" y="0"/>
                <a:ext cx="614541" cy="12557"/>
              </a:xfrm>
              <a:custGeom>
                <a:avLst/>
                <a:gdLst/>
                <a:ahLst/>
                <a:cxnLst/>
                <a:rect r="r" b="b" t="t" l="l"/>
                <a:pathLst>
                  <a:path h="12557" w="614541">
                    <a:moveTo>
                      <a:pt x="6279" y="0"/>
                    </a:moveTo>
                    <a:lnTo>
                      <a:pt x="608262" y="0"/>
                    </a:lnTo>
                    <a:cubicBezTo>
                      <a:pt x="609927" y="0"/>
                      <a:pt x="611524" y="661"/>
                      <a:pt x="612702" y="1839"/>
                    </a:cubicBezTo>
                    <a:cubicBezTo>
                      <a:pt x="613879" y="3016"/>
                      <a:pt x="614541" y="4613"/>
                      <a:pt x="614541" y="6279"/>
                    </a:cubicBezTo>
                    <a:lnTo>
                      <a:pt x="614541" y="6279"/>
                    </a:lnTo>
                    <a:cubicBezTo>
                      <a:pt x="614541" y="9746"/>
                      <a:pt x="611730" y="12557"/>
                      <a:pt x="608262" y="12557"/>
                    </a:cubicBezTo>
                    <a:lnTo>
                      <a:pt x="6279" y="12557"/>
                    </a:lnTo>
                    <a:cubicBezTo>
                      <a:pt x="2811" y="12557"/>
                      <a:pt x="0" y="9746"/>
                      <a:pt x="0" y="6279"/>
                    </a:cubicBezTo>
                    <a:lnTo>
                      <a:pt x="0" y="6279"/>
                    </a:lnTo>
                    <a:cubicBezTo>
                      <a:pt x="0" y="2811"/>
                      <a:pt x="2811" y="0"/>
                      <a:pt x="6279" y="0"/>
                    </a:cubicBezTo>
                    <a:close/>
                  </a:path>
                </a:pathLst>
              </a:custGeom>
              <a:solidFill>
                <a:srgbClr val="FF7300"/>
              </a:solidFill>
            </p:spPr>
          </p:sp>
          <p:sp>
            <p:nvSpPr>
              <p:cNvPr name="TextBox 6" id="6"/>
              <p:cNvSpPr txBox="true"/>
              <p:nvPr/>
            </p:nvSpPr>
            <p:spPr>
              <a:xfrm>
                <a:off x="0" y="-38100"/>
                <a:ext cx="614541" cy="50657"/>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252598" y="2772510"/>
              <a:ext cx="1516222" cy="63571"/>
              <a:chOff x="0" y="0"/>
              <a:chExt cx="299501" cy="12557"/>
            </a:xfrm>
          </p:grpSpPr>
          <p:sp>
            <p:nvSpPr>
              <p:cNvPr name="Freeform 8" id="8"/>
              <p:cNvSpPr/>
              <p:nvPr/>
            </p:nvSpPr>
            <p:spPr>
              <a:xfrm flipH="false" flipV="false" rot="0">
                <a:off x="0" y="0"/>
                <a:ext cx="299501" cy="12557"/>
              </a:xfrm>
              <a:custGeom>
                <a:avLst/>
                <a:gdLst/>
                <a:ahLst/>
                <a:cxnLst/>
                <a:rect r="r" b="b" t="t" l="l"/>
                <a:pathLst>
                  <a:path h="12557" w="299501">
                    <a:moveTo>
                      <a:pt x="6279" y="0"/>
                    </a:moveTo>
                    <a:lnTo>
                      <a:pt x="293222" y="0"/>
                    </a:lnTo>
                    <a:cubicBezTo>
                      <a:pt x="296689" y="0"/>
                      <a:pt x="299501" y="2811"/>
                      <a:pt x="299501" y="6279"/>
                    </a:cubicBezTo>
                    <a:lnTo>
                      <a:pt x="299501" y="6279"/>
                    </a:lnTo>
                    <a:cubicBezTo>
                      <a:pt x="299501" y="7944"/>
                      <a:pt x="298839" y="9541"/>
                      <a:pt x="297662" y="10718"/>
                    </a:cubicBezTo>
                    <a:cubicBezTo>
                      <a:pt x="296484" y="11896"/>
                      <a:pt x="294887" y="12557"/>
                      <a:pt x="293222" y="12557"/>
                    </a:cubicBezTo>
                    <a:lnTo>
                      <a:pt x="6279" y="12557"/>
                    </a:lnTo>
                    <a:cubicBezTo>
                      <a:pt x="2811" y="12557"/>
                      <a:pt x="0" y="9746"/>
                      <a:pt x="0" y="6279"/>
                    </a:cubicBezTo>
                    <a:lnTo>
                      <a:pt x="0" y="6279"/>
                    </a:lnTo>
                    <a:cubicBezTo>
                      <a:pt x="0" y="2811"/>
                      <a:pt x="2811" y="0"/>
                      <a:pt x="6279" y="0"/>
                    </a:cubicBezTo>
                    <a:close/>
                  </a:path>
                </a:pathLst>
              </a:custGeom>
              <a:solidFill>
                <a:srgbClr val="FF7300"/>
              </a:solidFill>
            </p:spPr>
          </p:sp>
          <p:sp>
            <p:nvSpPr>
              <p:cNvPr name="TextBox 9" id="9"/>
              <p:cNvSpPr txBox="true"/>
              <p:nvPr/>
            </p:nvSpPr>
            <p:spPr>
              <a:xfrm>
                <a:off x="0" y="-38100"/>
                <a:ext cx="299501" cy="50657"/>
              </a:xfrm>
              <a:prstGeom prst="rect">
                <a:avLst/>
              </a:prstGeom>
            </p:spPr>
            <p:txBody>
              <a:bodyPr anchor="ctr" rtlCol="false" tIns="50800" lIns="50800" bIns="50800" rIns="50800"/>
              <a:lstStyle/>
              <a:p>
                <a:pPr algn="ctr">
                  <a:lnSpc>
                    <a:spcPts val="2659"/>
                  </a:lnSpc>
                </a:pPr>
              </a:p>
            </p:txBody>
          </p:sp>
        </p:grpSp>
      </p:grpSp>
      <p:grpSp>
        <p:nvGrpSpPr>
          <p:cNvPr name="Group 10" id="10"/>
          <p:cNvGrpSpPr>
            <a:grpSpLocks noChangeAspect="true"/>
          </p:cNvGrpSpPr>
          <p:nvPr/>
        </p:nvGrpSpPr>
        <p:grpSpPr>
          <a:xfrm rot="0">
            <a:off x="3451044" y="5955090"/>
            <a:ext cx="2266614" cy="2266614"/>
            <a:chOff x="0" y="0"/>
            <a:chExt cx="6350000" cy="6350000"/>
          </a:xfrm>
        </p:grpSpPr>
        <p:sp>
          <p:nvSpPr>
            <p:cNvPr name="Freeform 11" id="11"/>
            <p:cNvSpPr/>
            <p:nvPr/>
          </p:nvSpPr>
          <p:spPr>
            <a:xfrm flipH="false" flipV="false" rot="0">
              <a:off x="-14231" y="-32"/>
              <a:ext cx="6378462" cy="6350064"/>
            </a:xfrm>
            <a:custGeom>
              <a:avLst/>
              <a:gdLst/>
              <a:ahLst/>
              <a:cxnLst/>
              <a:rect r="r" b="b" t="t" l="l"/>
              <a:pathLst>
                <a:path h="6350064" w="6378462">
                  <a:moveTo>
                    <a:pt x="3189231" y="32"/>
                  </a:moveTo>
                  <a:lnTo>
                    <a:pt x="3189231" y="32"/>
                  </a:lnTo>
                  <a:cubicBezTo>
                    <a:pt x="2051530" y="-5056"/>
                    <a:pt x="998068" y="598980"/>
                    <a:pt x="427743" y="1583419"/>
                  </a:cubicBezTo>
                  <a:cubicBezTo>
                    <a:pt x="-142581" y="2567857"/>
                    <a:pt x="-142581" y="3782207"/>
                    <a:pt x="427743" y="4766645"/>
                  </a:cubicBezTo>
                  <a:cubicBezTo>
                    <a:pt x="998068" y="5751084"/>
                    <a:pt x="2051530" y="6355120"/>
                    <a:pt x="3189231" y="6350032"/>
                  </a:cubicBezTo>
                  <a:cubicBezTo>
                    <a:pt x="4326932" y="6355120"/>
                    <a:pt x="5380395" y="5751084"/>
                    <a:pt x="5950719" y="4766645"/>
                  </a:cubicBezTo>
                  <a:cubicBezTo>
                    <a:pt x="6521043" y="3782207"/>
                    <a:pt x="6521043" y="2567857"/>
                    <a:pt x="5950719" y="1583419"/>
                  </a:cubicBezTo>
                  <a:cubicBezTo>
                    <a:pt x="5380395" y="598980"/>
                    <a:pt x="4326932" y="-5056"/>
                    <a:pt x="3189231" y="32"/>
                  </a:cubicBezTo>
                  <a:close/>
                </a:path>
              </a:pathLst>
            </a:custGeom>
            <a:solidFill>
              <a:srgbClr val="FD8D14"/>
            </a:solidFill>
          </p:spPr>
        </p:sp>
        <p:sp>
          <p:nvSpPr>
            <p:cNvPr name="Freeform 12" id="12"/>
            <p:cNvSpPr/>
            <p:nvPr/>
          </p:nvSpPr>
          <p:spPr>
            <a:xfrm flipH="false" flipV="false" rot="0">
              <a:off x="408023" y="420342"/>
              <a:ext cx="5533953" cy="5509315"/>
            </a:xfrm>
            <a:custGeom>
              <a:avLst/>
              <a:gdLst/>
              <a:ahLst/>
              <a:cxnLst/>
              <a:rect r="r" b="b" t="t" l="l"/>
              <a:pathLst>
                <a:path h="5509315" w="5533953">
                  <a:moveTo>
                    <a:pt x="2766977" y="28"/>
                  </a:moveTo>
                  <a:cubicBezTo>
                    <a:pt x="1779908" y="-4386"/>
                    <a:pt x="865924" y="519676"/>
                    <a:pt x="371110" y="1373774"/>
                  </a:cubicBezTo>
                  <a:cubicBezTo>
                    <a:pt x="-123703" y="2227873"/>
                    <a:pt x="-123703" y="3281443"/>
                    <a:pt x="371110" y="4135542"/>
                  </a:cubicBezTo>
                  <a:cubicBezTo>
                    <a:pt x="865924" y="4989640"/>
                    <a:pt x="1779908" y="5513702"/>
                    <a:pt x="2766977" y="5509288"/>
                  </a:cubicBezTo>
                  <a:cubicBezTo>
                    <a:pt x="3754046" y="5513702"/>
                    <a:pt x="4668030" y="4989640"/>
                    <a:pt x="5162844" y="4135542"/>
                  </a:cubicBezTo>
                  <a:cubicBezTo>
                    <a:pt x="5657657" y="3281443"/>
                    <a:pt x="5657657" y="2227873"/>
                    <a:pt x="5162844" y="1373775"/>
                  </a:cubicBezTo>
                  <a:cubicBezTo>
                    <a:pt x="4668030" y="519676"/>
                    <a:pt x="3754046" y="-4386"/>
                    <a:pt x="2766977" y="28"/>
                  </a:cubicBezTo>
                  <a:close/>
                </a:path>
              </a:pathLst>
            </a:custGeom>
            <a:blipFill>
              <a:blip r:embed="rId2"/>
              <a:stretch>
                <a:fillRect l="223" t="0" r="223" b="0"/>
              </a:stretch>
            </a:blipFill>
          </p:spPr>
        </p:sp>
      </p:grpSp>
      <p:grpSp>
        <p:nvGrpSpPr>
          <p:cNvPr name="Group 13" id="13"/>
          <p:cNvGrpSpPr>
            <a:grpSpLocks noChangeAspect="true"/>
          </p:cNvGrpSpPr>
          <p:nvPr/>
        </p:nvGrpSpPr>
        <p:grpSpPr>
          <a:xfrm rot="0">
            <a:off x="8010693" y="5955090"/>
            <a:ext cx="2266614" cy="2266614"/>
            <a:chOff x="0" y="0"/>
            <a:chExt cx="6350000" cy="6350000"/>
          </a:xfrm>
        </p:grpSpPr>
        <p:sp>
          <p:nvSpPr>
            <p:cNvPr name="Freeform 14" id="14"/>
            <p:cNvSpPr/>
            <p:nvPr/>
          </p:nvSpPr>
          <p:spPr>
            <a:xfrm flipH="false" flipV="false" rot="0">
              <a:off x="-14231" y="-32"/>
              <a:ext cx="6378462" cy="6350064"/>
            </a:xfrm>
            <a:custGeom>
              <a:avLst/>
              <a:gdLst/>
              <a:ahLst/>
              <a:cxnLst/>
              <a:rect r="r" b="b" t="t" l="l"/>
              <a:pathLst>
                <a:path h="6350064" w="6378462">
                  <a:moveTo>
                    <a:pt x="3189231" y="32"/>
                  </a:moveTo>
                  <a:lnTo>
                    <a:pt x="3189231" y="32"/>
                  </a:lnTo>
                  <a:cubicBezTo>
                    <a:pt x="2051530" y="-5056"/>
                    <a:pt x="998068" y="598980"/>
                    <a:pt x="427743" y="1583419"/>
                  </a:cubicBezTo>
                  <a:cubicBezTo>
                    <a:pt x="-142581" y="2567857"/>
                    <a:pt x="-142581" y="3782207"/>
                    <a:pt x="427743" y="4766645"/>
                  </a:cubicBezTo>
                  <a:cubicBezTo>
                    <a:pt x="998068" y="5751084"/>
                    <a:pt x="2051530" y="6355120"/>
                    <a:pt x="3189231" y="6350032"/>
                  </a:cubicBezTo>
                  <a:cubicBezTo>
                    <a:pt x="4326932" y="6355120"/>
                    <a:pt x="5380395" y="5751084"/>
                    <a:pt x="5950719" y="4766645"/>
                  </a:cubicBezTo>
                  <a:cubicBezTo>
                    <a:pt x="6521043" y="3782207"/>
                    <a:pt x="6521043" y="2567857"/>
                    <a:pt x="5950719" y="1583419"/>
                  </a:cubicBezTo>
                  <a:cubicBezTo>
                    <a:pt x="5380395" y="598980"/>
                    <a:pt x="4326932" y="-5056"/>
                    <a:pt x="3189231" y="32"/>
                  </a:cubicBezTo>
                  <a:close/>
                </a:path>
              </a:pathLst>
            </a:custGeom>
            <a:solidFill>
              <a:srgbClr val="FD8D14"/>
            </a:solidFill>
          </p:spPr>
        </p:sp>
        <p:sp>
          <p:nvSpPr>
            <p:cNvPr name="Freeform 15" id="15"/>
            <p:cNvSpPr/>
            <p:nvPr/>
          </p:nvSpPr>
          <p:spPr>
            <a:xfrm flipH="false" flipV="false" rot="0">
              <a:off x="408023" y="420342"/>
              <a:ext cx="5533953" cy="5509315"/>
            </a:xfrm>
            <a:custGeom>
              <a:avLst/>
              <a:gdLst/>
              <a:ahLst/>
              <a:cxnLst/>
              <a:rect r="r" b="b" t="t" l="l"/>
              <a:pathLst>
                <a:path h="5509315" w="5533953">
                  <a:moveTo>
                    <a:pt x="2766977" y="28"/>
                  </a:moveTo>
                  <a:cubicBezTo>
                    <a:pt x="1779908" y="-4386"/>
                    <a:pt x="865924" y="519676"/>
                    <a:pt x="371110" y="1373774"/>
                  </a:cubicBezTo>
                  <a:cubicBezTo>
                    <a:pt x="-123703" y="2227873"/>
                    <a:pt x="-123703" y="3281443"/>
                    <a:pt x="371110" y="4135542"/>
                  </a:cubicBezTo>
                  <a:cubicBezTo>
                    <a:pt x="865924" y="4989640"/>
                    <a:pt x="1779908" y="5513702"/>
                    <a:pt x="2766977" y="5509288"/>
                  </a:cubicBezTo>
                  <a:cubicBezTo>
                    <a:pt x="3754046" y="5513702"/>
                    <a:pt x="4668030" y="4989640"/>
                    <a:pt x="5162844" y="4135542"/>
                  </a:cubicBezTo>
                  <a:cubicBezTo>
                    <a:pt x="5657657" y="3281443"/>
                    <a:pt x="5657657" y="2227873"/>
                    <a:pt x="5162844" y="1373775"/>
                  </a:cubicBezTo>
                  <a:cubicBezTo>
                    <a:pt x="4668030" y="519676"/>
                    <a:pt x="3754046" y="-4386"/>
                    <a:pt x="2766977" y="28"/>
                  </a:cubicBezTo>
                  <a:close/>
                </a:path>
              </a:pathLst>
            </a:custGeom>
            <a:blipFill>
              <a:blip r:embed="rId3"/>
              <a:stretch>
                <a:fillRect l="223" t="0" r="223" b="0"/>
              </a:stretch>
            </a:blipFill>
          </p:spPr>
        </p:sp>
      </p:grpSp>
      <p:grpSp>
        <p:nvGrpSpPr>
          <p:cNvPr name="Group 16" id="16"/>
          <p:cNvGrpSpPr>
            <a:grpSpLocks noChangeAspect="true"/>
          </p:cNvGrpSpPr>
          <p:nvPr/>
        </p:nvGrpSpPr>
        <p:grpSpPr>
          <a:xfrm rot="0">
            <a:off x="14429573" y="2408649"/>
            <a:ext cx="2266614" cy="2266614"/>
            <a:chOff x="0" y="0"/>
            <a:chExt cx="6350000" cy="6350000"/>
          </a:xfrm>
        </p:grpSpPr>
        <p:sp>
          <p:nvSpPr>
            <p:cNvPr name="Freeform 17" id="17"/>
            <p:cNvSpPr/>
            <p:nvPr/>
          </p:nvSpPr>
          <p:spPr>
            <a:xfrm flipH="false" flipV="false" rot="0">
              <a:off x="-14231" y="-32"/>
              <a:ext cx="6378462" cy="6350064"/>
            </a:xfrm>
            <a:custGeom>
              <a:avLst/>
              <a:gdLst/>
              <a:ahLst/>
              <a:cxnLst/>
              <a:rect r="r" b="b" t="t" l="l"/>
              <a:pathLst>
                <a:path h="6350064" w="6378462">
                  <a:moveTo>
                    <a:pt x="3189231" y="32"/>
                  </a:moveTo>
                  <a:lnTo>
                    <a:pt x="3189231" y="32"/>
                  </a:lnTo>
                  <a:cubicBezTo>
                    <a:pt x="2051530" y="-5056"/>
                    <a:pt x="998068" y="598980"/>
                    <a:pt x="427743" y="1583419"/>
                  </a:cubicBezTo>
                  <a:cubicBezTo>
                    <a:pt x="-142581" y="2567857"/>
                    <a:pt x="-142581" y="3782207"/>
                    <a:pt x="427743" y="4766645"/>
                  </a:cubicBezTo>
                  <a:cubicBezTo>
                    <a:pt x="998068" y="5751084"/>
                    <a:pt x="2051530" y="6355120"/>
                    <a:pt x="3189231" y="6350032"/>
                  </a:cubicBezTo>
                  <a:cubicBezTo>
                    <a:pt x="4326932" y="6355120"/>
                    <a:pt x="5380395" y="5751084"/>
                    <a:pt x="5950719" y="4766645"/>
                  </a:cubicBezTo>
                  <a:cubicBezTo>
                    <a:pt x="6521043" y="3782207"/>
                    <a:pt x="6521043" y="2567857"/>
                    <a:pt x="5950719" y="1583419"/>
                  </a:cubicBezTo>
                  <a:cubicBezTo>
                    <a:pt x="5380395" y="598980"/>
                    <a:pt x="4326932" y="-5056"/>
                    <a:pt x="3189231" y="32"/>
                  </a:cubicBezTo>
                  <a:close/>
                </a:path>
              </a:pathLst>
            </a:custGeom>
            <a:solidFill>
              <a:srgbClr val="FD8D14"/>
            </a:solidFill>
          </p:spPr>
        </p:sp>
        <p:sp>
          <p:nvSpPr>
            <p:cNvPr name="Freeform 18" id="18"/>
            <p:cNvSpPr/>
            <p:nvPr/>
          </p:nvSpPr>
          <p:spPr>
            <a:xfrm flipH="false" flipV="false" rot="0">
              <a:off x="408023" y="420342"/>
              <a:ext cx="5533953" cy="5509315"/>
            </a:xfrm>
            <a:custGeom>
              <a:avLst/>
              <a:gdLst/>
              <a:ahLst/>
              <a:cxnLst/>
              <a:rect r="r" b="b" t="t" l="l"/>
              <a:pathLst>
                <a:path h="5509315" w="5533953">
                  <a:moveTo>
                    <a:pt x="2766977" y="28"/>
                  </a:moveTo>
                  <a:cubicBezTo>
                    <a:pt x="1779908" y="-4386"/>
                    <a:pt x="865924" y="519676"/>
                    <a:pt x="371110" y="1373774"/>
                  </a:cubicBezTo>
                  <a:cubicBezTo>
                    <a:pt x="-123703" y="2227873"/>
                    <a:pt x="-123703" y="3281443"/>
                    <a:pt x="371110" y="4135542"/>
                  </a:cubicBezTo>
                  <a:cubicBezTo>
                    <a:pt x="865924" y="4989640"/>
                    <a:pt x="1779908" y="5513702"/>
                    <a:pt x="2766977" y="5509288"/>
                  </a:cubicBezTo>
                  <a:cubicBezTo>
                    <a:pt x="3754046" y="5513702"/>
                    <a:pt x="4668030" y="4989640"/>
                    <a:pt x="5162844" y="4135542"/>
                  </a:cubicBezTo>
                  <a:cubicBezTo>
                    <a:pt x="5657657" y="3281443"/>
                    <a:pt x="5657657" y="2227873"/>
                    <a:pt x="5162844" y="1373775"/>
                  </a:cubicBezTo>
                  <a:cubicBezTo>
                    <a:pt x="4668030" y="519676"/>
                    <a:pt x="3754046" y="-4386"/>
                    <a:pt x="2766977" y="28"/>
                  </a:cubicBezTo>
                  <a:close/>
                </a:path>
              </a:pathLst>
            </a:custGeom>
            <a:blipFill>
              <a:blip r:embed="rId4"/>
              <a:stretch>
                <a:fillRect l="223" t="0" r="223" b="0"/>
              </a:stretch>
            </a:blipFill>
          </p:spPr>
        </p:sp>
      </p:grpSp>
      <p:grpSp>
        <p:nvGrpSpPr>
          <p:cNvPr name="Group 19" id="19"/>
          <p:cNvGrpSpPr>
            <a:grpSpLocks noChangeAspect="true"/>
          </p:cNvGrpSpPr>
          <p:nvPr/>
        </p:nvGrpSpPr>
        <p:grpSpPr>
          <a:xfrm rot="0">
            <a:off x="10343684" y="2465829"/>
            <a:ext cx="2266614" cy="2266614"/>
            <a:chOff x="0" y="0"/>
            <a:chExt cx="6350000" cy="6350000"/>
          </a:xfrm>
        </p:grpSpPr>
        <p:sp>
          <p:nvSpPr>
            <p:cNvPr name="Freeform 20" id="20"/>
            <p:cNvSpPr/>
            <p:nvPr/>
          </p:nvSpPr>
          <p:spPr>
            <a:xfrm flipH="false" flipV="false" rot="0">
              <a:off x="-14231" y="-32"/>
              <a:ext cx="6378462" cy="6350064"/>
            </a:xfrm>
            <a:custGeom>
              <a:avLst/>
              <a:gdLst/>
              <a:ahLst/>
              <a:cxnLst/>
              <a:rect r="r" b="b" t="t" l="l"/>
              <a:pathLst>
                <a:path h="6350064" w="6378462">
                  <a:moveTo>
                    <a:pt x="3189231" y="32"/>
                  </a:moveTo>
                  <a:lnTo>
                    <a:pt x="3189231" y="32"/>
                  </a:lnTo>
                  <a:cubicBezTo>
                    <a:pt x="2051530" y="-5056"/>
                    <a:pt x="998068" y="598980"/>
                    <a:pt x="427743" y="1583419"/>
                  </a:cubicBezTo>
                  <a:cubicBezTo>
                    <a:pt x="-142581" y="2567857"/>
                    <a:pt x="-142581" y="3782207"/>
                    <a:pt x="427743" y="4766645"/>
                  </a:cubicBezTo>
                  <a:cubicBezTo>
                    <a:pt x="998068" y="5751084"/>
                    <a:pt x="2051530" y="6355120"/>
                    <a:pt x="3189231" y="6350032"/>
                  </a:cubicBezTo>
                  <a:cubicBezTo>
                    <a:pt x="4326932" y="6355120"/>
                    <a:pt x="5380395" y="5751084"/>
                    <a:pt x="5950719" y="4766645"/>
                  </a:cubicBezTo>
                  <a:cubicBezTo>
                    <a:pt x="6521043" y="3782207"/>
                    <a:pt x="6521043" y="2567857"/>
                    <a:pt x="5950719" y="1583419"/>
                  </a:cubicBezTo>
                  <a:cubicBezTo>
                    <a:pt x="5380395" y="598980"/>
                    <a:pt x="4326932" y="-5056"/>
                    <a:pt x="3189231" y="32"/>
                  </a:cubicBezTo>
                  <a:close/>
                </a:path>
              </a:pathLst>
            </a:custGeom>
            <a:solidFill>
              <a:srgbClr val="FD8D14"/>
            </a:solidFill>
          </p:spPr>
        </p:sp>
        <p:sp>
          <p:nvSpPr>
            <p:cNvPr name="Freeform 21" id="21"/>
            <p:cNvSpPr/>
            <p:nvPr/>
          </p:nvSpPr>
          <p:spPr>
            <a:xfrm flipH="false" flipV="false" rot="0">
              <a:off x="408023" y="420342"/>
              <a:ext cx="5533953" cy="5509315"/>
            </a:xfrm>
            <a:custGeom>
              <a:avLst/>
              <a:gdLst/>
              <a:ahLst/>
              <a:cxnLst/>
              <a:rect r="r" b="b" t="t" l="l"/>
              <a:pathLst>
                <a:path h="5509315" w="5533953">
                  <a:moveTo>
                    <a:pt x="2766977" y="28"/>
                  </a:moveTo>
                  <a:cubicBezTo>
                    <a:pt x="1779908" y="-4386"/>
                    <a:pt x="865924" y="519676"/>
                    <a:pt x="371110" y="1373774"/>
                  </a:cubicBezTo>
                  <a:cubicBezTo>
                    <a:pt x="-123703" y="2227873"/>
                    <a:pt x="-123703" y="3281443"/>
                    <a:pt x="371110" y="4135542"/>
                  </a:cubicBezTo>
                  <a:cubicBezTo>
                    <a:pt x="865924" y="4989640"/>
                    <a:pt x="1779908" y="5513702"/>
                    <a:pt x="2766977" y="5509288"/>
                  </a:cubicBezTo>
                  <a:cubicBezTo>
                    <a:pt x="3754046" y="5513702"/>
                    <a:pt x="4668030" y="4989640"/>
                    <a:pt x="5162844" y="4135542"/>
                  </a:cubicBezTo>
                  <a:cubicBezTo>
                    <a:pt x="5657657" y="3281443"/>
                    <a:pt x="5657657" y="2227873"/>
                    <a:pt x="5162844" y="1373775"/>
                  </a:cubicBezTo>
                  <a:cubicBezTo>
                    <a:pt x="4668030" y="519676"/>
                    <a:pt x="3754046" y="-4386"/>
                    <a:pt x="2766977" y="28"/>
                  </a:cubicBezTo>
                  <a:close/>
                </a:path>
              </a:pathLst>
            </a:custGeom>
            <a:blipFill>
              <a:blip r:embed="rId5"/>
              <a:stretch>
                <a:fillRect l="223" t="0" r="223" b="0"/>
              </a:stretch>
            </a:blipFill>
          </p:spPr>
        </p:sp>
      </p:grpSp>
      <p:sp>
        <p:nvSpPr>
          <p:cNvPr name="TextBox 22" id="22"/>
          <p:cNvSpPr txBox="true"/>
          <p:nvPr/>
        </p:nvSpPr>
        <p:spPr>
          <a:xfrm rot="0">
            <a:off x="10853675" y="4849846"/>
            <a:ext cx="1246633" cy="782587"/>
          </a:xfrm>
          <a:prstGeom prst="rect">
            <a:avLst/>
          </a:prstGeom>
        </p:spPr>
        <p:txBody>
          <a:bodyPr anchor="t" rtlCol="false" tIns="0" lIns="0" bIns="0" rIns="0">
            <a:spAutoFit/>
          </a:bodyPr>
          <a:lstStyle/>
          <a:p>
            <a:pPr algn="ctr" marL="0" indent="0" lvl="0">
              <a:lnSpc>
                <a:spcPts val="3177"/>
              </a:lnSpc>
              <a:spcBef>
                <a:spcPct val="0"/>
              </a:spcBef>
            </a:pPr>
            <a:r>
              <a:rPr lang="en-US" b="true" sz="2269">
                <a:solidFill>
                  <a:srgbClr val="000000"/>
                </a:solidFill>
                <a:latin typeface="TT Interphases Bold"/>
                <a:ea typeface="TT Interphases Bold"/>
                <a:cs typeface="TT Interphases Bold"/>
                <a:sym typeface="TT Interphases Bold"/>
              </a:rPr>
              <a:t>Roger Ren</a:t>
            </a:r>
          </a:p>
        </p:txBody>
      </p:sp>
      <p:grpSp>
        <p:nvGrpSpPr>
          <p:cNvPr name="Group 23" id="23"/>
          <p:cNvGrpSpPr>
            <a:grpSpLocks noChangeAspect="true"/>
          </p:cNvGrpSpPr>
          <p:nvPr/>
        </p:nvGrpSpPr>
        <p:grpSpPr>
          <a:xfrm rot="0">
            <a:off x="12843670" y="5955090"/>
            <a:ext cx="2266614" cy="2266614"/>
            <a:chOff x="0" y="0"/>
            <a:chExt cx="6350000" cy="6350000"/>
          </a:xfrm>
        </p:grpSpPr>
        <p:sp>
          <p:nvSpPr>
            <p:cNvPr name="Freeform 24" id="24"/>
            <p:cNvSpPr/>
            <p:nvPr/>
          </p:nvSpPr>
          <p:spPr>
            <a:xfrm flipH="false" flipV="false" rot="0">
              <a:off x="-14231" y="-32"/>
              <a:ext cx="6378462" cy="6350064"/>
            </a:xfrm>
            <a:custGeom>
              <a:avLst/>
              <a:gdLst/>
              <a:ahLst/>
              <a:cxnLst/>
              <a:rect r="r" b="b" t="t" l="l"/>
              <a:pathLst>
                <a:path h="6350064" w="6378462">
                  <a:moveTo>
                    <a:pt x="3189231" y="32"/>
                  </a:moveTo>
                  <a:lnTo>
                    <a:pt x="3189231" y="32"/>
                  </a:lnTo>
                  <a:cubicBezTo>
                    <a:pt x="2051530" y="-5056"/>
                    <a:pt x="998068" y="598980"/>
                    <a:pt x="427743" y="1583419"/>
                  </a:cubicBezTo>
                  <a:cubicBezTo>
                    <a:pt x="-142581" y="2567857"/>
                    <a:pt x="-142581" y="3782207"/>
                    <a:pt x="427743" y="4766645"/>
                  </a:cubicBezTo>
                  <a:cubicBezTo>
                    <a:pt x="998068" y="5751084"/>
                    <a:pt x="2051530" y="6355120"/>
                    <a:pt x="3189231" y="6350032"/>
                  </a:cubicBezTo>
                  <a:cubicBezTo>
                    <a:pt x="4326932" y="6355120"/>
                    <a:pt x="5380395" y="5751084"/>
                    <a:pt x="5950719" y="4766645"/>
                  </a:cubicBezTo>
                  <a:cubicBezTo>
                    <a:pt x="6521043" y="3782207"/>
                    <a:pt x="6521043" y="2567857"/>
                    <a:pt x="5950719" y="1583419"/>
                  </a:cubicBezTo>
                  <a:cubicBezTo>
                    <a:pt x="5380395" y="598980"/>
                    <a:pt x="4326932" y="-5056"/>
                    <a:pt x="3189231" y="32"/>
                  </a:cubicBezTo>
                  <a:close/>
                </a:path>
              </a:pathLst>
            </a:custGeom>
            <a:solidFill>
              <a:srgbClr val="FD8D14"/>
            </a:solidFill>
          </p:spPr>
        </p:sp>
        <p:sp>
          <p:nvSpPr>
            <p:cNvPr name="Freeform 25" id="25"/>
            <p:cNvSpPr/>
            <p:nvPr/>
          </p:nvSpPr>
          <p:spPr>
            <a:xfrm flipH="false" flipV="false" rot="0">
              <a:off x="408023" y="420342"/>
              <a:ext cx="5533953" cy="5509315"/>
            </a:xfrm>
            <a:custGeom>
              <a:avLst/>
              <a:gdLst/>
              <a:ahLst/>
              <a:cxnLst/>
              <a:rect r="r" b="b" t="t" l="l"/>
              <a:pathLst>
                <a:path h="5509315" w="5533953">
                  <a:moveTo>
                    <a:pt x="2766977" y="28"/>
                  </a:moveTo>
                  <a:cubicBezTo>
                    <a:pt x="1779908" y="-4386"/>
                    <a:pt x="865924" y="519676"/>
                    <a:pt x="371110" y="1373774"/>
                  </a:cubicBezTo>
                  <a:cubicBezTo>
                    <a:pt x="-123703" y="2227873"/>
                    <a:pt x="-123703" y="3281443"/>
                    <a:pt x="371110" y="4135542"/>
                  </a:cubicBezTo>
                  <a:cubicBezTo>
                    <a:pt x="865924" y="4989640"/>
                    <a:pt x="1779908" y="5513702"/>
                    <a:pt x="2766977" y="5509288"/>
                  </a:cubicBezTo>
                  <a:cubicBezTo>
                    <a:pt x="3754046" y="5513702"/>
                    <a:pt x="4668030" y="4989640"/>
                    <a:pt x="5162844" y="4135542"/>
                  </a:cubicBezTo>
                  <a:cubicBezTo>
                    <a:pt x="5657657" y="3281443"/>
                    <a:pt x="5657657" y="2227873"/>
                    <a:pt x="5162844" y="1373775"/>
                  </a:cubicBezTo>
                  <a:cubicBezTo>
                    <a:pt x="4668030" y="519676"/>
                    <a:pt x="3754046" y="-4386"/>
                    <a:pt x="2766977" y="28"/>
                  </a:cubicBezTo>
                  <a:close/>
                </a:path>
              </a:pathLst>
            </a:custGeom>
            <a:blipFill>
              <a:blip r:embed="rId6"/>
              <a:stretch>
                <a:fillRect l="223" t="-16665" r="223" b="-16665"/>
              </a:stretch>
            </a:blipFill>
          </p:spPr>
        </p:sp>
      </p:grpSp>
      <p:grpSp>
        <p:nvGrpSpPr>
          <p:cNvPr name="Group 26" id="26"/>
          <p:cNvGrpSpPr>
            <a:grpSpLocks noChangeAspect="true"/>
          </p:cNvGrpSpPr>
          <p:nvPr/>
        </p:nvGrpSpPr>
        <p:grpSpPr>
          <a:xfrm rot="0">
            <a:off x="1460639" y="2465829"/>
            <a:ext cx="2266614" cy="2266614"/>
            <a:chOff x="0" y="0"/>
            <a:chExt cx="6350000" cy="6350000"/>
          </a:xfrm>
        </p:grpSpPr>
        <p:sp>
          <p:nvSpPr>
            <p:cNvPr name="Freeform 27" id="27"/>
            <p:cNvSpPr/>
            <p:nvPr/>
          </p:nvSpPr>
          <p:spPr>
            <a:xfrm flipH="false" flipV="false" rot="0">
              <a:off x="-14231" y="-32"/>
              <a:ext cx="6378462" cy="6350064"/>
            </a:xfrm>
            <a:custGeom>
              <a:avLst/>
              <a:gdLst/>
              <a:ahLst/>
              <a:cxnLst/>
              <a:rect r="r" b="b" t="t" l="l"/>
              <a:pathLst>
                <a:path h="6350064" w="6378462">
                  <a:moveTo>
                    <a:pt x="3189231" y="32"/>
                  </a:moveTo>
                  <a:lnTo>
                    <a:pt x="3189231" y="32"/>
                  </a:lnTo>
                  <a:cubicBezTo>
                    <a:pt x="2051530" y="-5056"/>
                    <a:pt x="998068" y="598980"/>
                    <a:pt x="427743" y="1583419"/>
                  </a:cubicBezTo>
                  <a:cubicBezTo>
                    <a:pt x="-142581" y="2567857"/>
                    <a:pt x="-142581" y="3782207"/>
                    <a:pt x="427743" y="4766645"/>
                  </a:cubicBezTo>
                  <a:cubicBezTo>
                    <a:pt x="998068" y="5751084"/>
                    <a:pt x="2051530" y="6355120"/>
                    <a:pt x="3189231" y="6350032"/>
                  </a:cubicBezTo>
                  <a:cubicBezTo>
                    <a:pt x="4326932" y="6355120"/>
                    <a:pt x="5380395" y="5751084"/>
                    <a:pt x="5950719" y="4766645"/>
                  </a:cubicBezTo>
                  <a:cubicBezTo>
                    <a:pt x="6521043" y="3782207"/>
                    <a:pt x="6521043" y="2567857"/>
                    <a:pt x="5950719" y="1583419"/>
                  </a:cubicBezTo>
                  <a:cubicBezTo>
                    <a:pt x="5380395" y="598980"/>
                    <a:pt x="4326932" y="-5056"/>
                    <a:pt x="3189231" y="32"/>
                  </a:cubicBezTo>
                  <a:close/>
                </a:path>
              </a:pathLst>
            </a:custGeom>
            <a:solidFill>
              <a:srgbClr val="FD8D14"/>
            </a:solidFill>
          </p:spPr>
        </p:sp>
        <p:sp>
          <p:nvSpPr>
            <p:cNvPr name="Freeform 28" id="28"/>
            <p:cNvSpPr/>
            <p:nvPr/>
          </p:nvSpPr>
          <p:spPr>
            <a:xfrm flipH="false" flipV="false" rot="0">
              <a:off x="408023" y="420342"/>
              <a:ext cx="5533953" cy="5509315"/>
            </a:xfrm>
            <a:custGeom>
              <a:avLst/>
              <a:gdLst/>
              <a:ahLst/>
              <a:cxnLst/>
              <a:rect r="r" b="b" t="t" l="l"/>
              <a:pathLst>
                <a:path h="5509315" w="5533953">
                  <a:moveTo>
                    <a:pt x="2766977" y="28"/>
                  </a:moveTo>
                  <a:cubicBezTo>
                    <a:pt x="1779908" y="-4386"/>
                    <a:pt x="865924" y="519676"/>
                    <a:pt x="371110" y="1373774"/>
                  </a:cubicBezTo>
                  <a:cubicBezTo>
                    <a:pt x="-123703" y="2227873"/>
                    <a:pt x="-123703" y="3281443"/>
                    <a:pt x="371110" y="4135542"/>
                  </a:cubicBezTo>
                  <a:cubicBezTo>
                    <a:pt x="865924" y="4989640"/>
                    <a:pt x="1779908" y="5513702"/>
                    <a:pt x="2766977" y="5509288"/>
                  </a:cubicBezTo>
                  <a:cubicBezTo>
                    <a:pt x="3754046" y="5513702"/>
                    <a:pt x="4668030" y="4989640"/>
                    <a:pt x="5162844" y="4135542"/>
                  </a:cubicBezTo>
                  <a:cubicBezTo>
                    <a:pt x="5657657" y="3281443"/>
                    <a:pt x="5657657" y="2227873"/>
                    <a:pt x="5162844" y="1373775"/>
                  </a:cubicBezTo>
                  <a:cubicBezTo>
                    <a:pt x="4668030" y="519676"/>
                    <a:pt x="3754046" y="-4386"/>
                    <a:pt x="2766977" y="28"/>
                  </a:cubicBezTo>
                  <a:close/>
                </a:path>
              </a:pathLst>
            </a:custGeom>
            <a:blipFill>
              <a:blip r:embed="rId7"/>
              <a:stretch>
                <a:fillRect l="223" t="0" r="223" b="0"/>
              </a:stretch>
            </a:blipFill>
          </p:spPr>
        </p:sp>
      </p:grpSp>
      <p:sp>
        <p:nvSpPr>
          <p:cNvPr name="TextBox 29" id="29"/>
          <p:cNvSpPr txBox="true"/>
          <p:nvPr/>
        </p:nvSpPr>
        <p:spPr>
          <a:xfrm rot="0">
            <a:off x="1227267" y="4849846"/>
            <a:ext cx="2756335" cy="784259"/>
          </a:xfrm>
          <a:prstGeom prst="rect">
            <a:avLst/>
          </a:prstGeom>
        </p:spPr>
        <p:txBody>
          <a:bodyPr anchor="t" rtlCol="false" tIns="0" lIns="0" bIns="0" rIns="0">
            <a:spAutoFit/>
          </a:bodyPr>
          <a:lstStyle/>
          <a:p>
            <a:pPr algn="ctr" marL="0" indent="0" lvl="0">
              <a:lnSpc>
                <a:spcPts val="3177"/>
              </a:lnSpc>
              <a:spcBef>
                <a:spcPct val="0"/>
              </a:spcBef>
            </a:pPr>
            <a:r>
              <a:rPr lang="en-US" b="true" sz="2269">
                <a:solidFill>
                  <a:srgbClr val="000000"/>
                </a:solidFill>
                <a:latin typeface="TT Interphases Bold"/>
                <a:ea typeface="TT Interphases Bold"/>
                <a:cs typeface="TT Interphases Bold"/>
                <a:sym typeface="TT Interphases Bold"/>
              </a:rPr>
              <a:t>Jasmine Bahremand</a:t>
            </a:r>
          </a:p>
        </p:txBody>
      </p:sp>
      <p:sp>
        <p:nvSpPr>
          <p:cNvPr name="TextBox 30" id="30"/>
          <p:cNvSpPr txBox="true"/>
          <p:nvPr/>
        </p:nvSpPr>
        <p:spPr>
          <a:xfrm rot="0">
            <a:off x="8361486" y="8388879"/>
            <a:ext cx="1565029" cy="801954"/>
          </a:xfrm>
          <a:prstGeom prst="rect">
            <a:avLst/>
          </a:prstGeom>
        </p:spPr>
        <p:txBody>
          <a:bodyPr anchor="t" rtlCol="false" tIns="0" lIns="0" bIns="0" rIns="0">
            <a:spAutoFit/>
          </a:bodyPr>
          <a:lstStyle/>
          <a:p>
            <a:pPr algn="ctr" marL="0" indent="0" lvl="0">
              <a:lnSpc>
                <a:spcPts val="3260"/>
              </a:lnSpc>
              <a:spcBef>
                <a:spcPct val="0"/>
              </a:spcBef>
            </a:pPr>
            <a:r>
              <a:rPr lang="en-US" b="true" sz="2329">
                <a:solidFill>
                  <a:srgbClr val="000000"/>
                </a:solidFill>
                <a:latin typeface="TT Interphases Bold"/>
                <a:ea typeface="TT Interphases Bold"/>
                <a:cs typeface="TT Interphases Bold"/>
                <a:sym typeface="TT Interphases Bold"/>
              </a:rPr>
              <a:t>Nicolas Lopez</a:t>
            </a:r>
          </a:p>
        </p:txBody>
      </p:sp>
      <p:grpSp>
        <p:nvGrpSpPr>
          <p:cNvPr name="Group 31" id="31"/>
          <p:cNvGrpSpPr>
            <a:grpSpLocks noChangeAspect="true"/>
          </p:cNvGrpSpPr>
          <p:nvPr/>
        </p:nvGrpSpPr>
        <p:grpSpPr>
          <a:xfrm rot="0">
            <a:off x="5476745" y="2526166"/>
            <a:ext cx="2266614" cy="2266614"/>
            <a:chOff x="0" y="0"/>
            <a:chExt cx="6350000" cy="6350000"/>
          </a:xfrm>
        </p:grpSpPr>
        <p:sp>
          <p:nvSpPr>
            <p:cNvPr name="Freeform 32" id="32"/>
            <p:cNvSpPr/>
            <p:nvPr/>
          </p:nvSpPr>
          <p:spPr>
            <a:xfrm flipH="false" flipV="false" rot="0">
              <a:off x="-14231" y="-32"/>
              <a:ext cx="6378462" cy="6350064"/>
            </a:xfrm>
            <a:custGeom>
              <a:avLst/>
              <a:gdLst/>
              <a:ahLst/>
              <a:cxnLst/>
              <a:rect r="r" b="b" t="t" l="l"/>
              <a:pathLst>
                <a:path h="6350064" w="6378462">
                  <a:moveTo>
                    <a:pt x="3189231" y="32"/>
                  </a:moveTo>
                  <a:lnTo>
                    <a:pt x="3189231" y="32"/>
                  </a:lnTo>
                  <a:cubicBezTo>
                    <a:pt x="2051530" y="-5056"/>
                    <a:pt x="998068" y="598980"/>
                    <a:pt x="427743" y="1583419"/>
                  </a:cubicBezTo>
                  <a:cubicBezTo>
                    <a:pt x="-142581" y="2567857"/>
                    <a:pt x="-142581" y="3782207"/>
                    <a:pt x="427743" y="4766645"/>
                  </a:cubicBezTo>
                  <a:cubicBezTo>
                    <a:pt x="998068" y="5751084"/>
                    <a:pt x="2051530" y="6355120"/>
                    <a:pt x="3189231" y="6350032"/>
                  </a:cubicBezTo>
                  <a:cubicBezTo>
                    <a:pt x="4326932" y="6355120"/>
                    <a:pt x="5380395" y="5751084"/>
                    <a:pt x="5950719" y="4766645"/>
                  </a:cubicBezTo>
                  <a:cubicBezTo>
                    <a:pt x="6521043" y="3782207"/>
                    <a:pt x="6521043" y="2567857"/>
                    <a:pt x="5950719" y="1583419"/>
                  </a:cubicBezTo>
                  <a:cubicBezTo>
                    <a:pt x="5380395" y="598980"/>
                    <a:pt x="4326932" y="-5056"/>
                    <a:pt x="3189231" y="32"/>
                  </a:cubicBezTo>
                  <a:close/>
                </a:path>
              </a:pathLst>
            </a:custGeom>
            <a:solidFill>
              <a:srgbClr val="FD8D14"/>
            </a:solidFill>
          </p:spPr>
        </p:sp>
        <p:sp>
          <p:nvSpPr>
            <p:cNvPr name="Freeform 33" id="33"/>
            <p:cNvSpPr/>
            <p:nvPr/>
          </p:nvSpPr>
          <p:spPr>
            <a:xfrm flipH="false" flipV="false" rot="0">
              <a:off x="408023" y="420342"/>
              <a:ext cx="5533953" cy="5509315"/>
            </a:xfrm>
            <a:custGeom>
              <a:avLst/>
              <a:gdLst/>
              <a:ahLst/>
              <a:cxnLst/>
              <a:rect r="r" b="b" t="t" l="l"/>
              <a:pathLst>
                <a:path h="5509315" w="5533953">
                  <a:moveTo>
                    <a:pt x="2766977" y="28"/>
                  </a:moveTo>
                  <a:cubicBezTo>
                    <a:pt x="1779908" y="-4386"/>
                    <a:pt x="865924" y="519676"/>
                    <a:pt x="371110" y="1373774"/>
                  </a:cubicBezTo>
                  <a:cubicBezTo>
                    <a:pt x="-123703" y="2227873"/>
                    <a:pt x="-123703" y="3281443"/>
                    <a:pt x="371110" y="4135542"/>
                  </a:cubicBezTo>
                  <a:cubicBezTo>
                    <a:pt x="865924" y="4989640"/>
                    <a:pt x="1779908" y="5513702"/>
                    <a:pt x="2766977" y="5509288"/>
                  </a:cubicBezTo>
                  <a:cubicBezTo>
                    <a:pt x="3754046" y="5513702"/>
                    <a:pt x="4668030" y="4989640"/>
                    <a:pt x="5162844" y="4135542"/>
                  </a:cubicBezTo>
                  <a:cubicBezTo>
                    <a:pt x="5657657" y="3281443"/>
                    <a:pt x="5657657" y="2227873"/>
                    <a:pt x="5162844" y="1373775"/>
                  </a:cubicBezTo>
                  <a:cubicBezTo>
                    <a:pt x="4668030" y="519676"/>
                    <a:pt x="3754046" y="-4386"/>
                    <a:pt x="2766977" y="28"/>
                  </a:cubicBezTo>
                  <a:close/>
                </a:path>
              </a:pathLst>
            </a:custGeom>
            <a:blipFill>
              <a:blip r:embed="rId8"/>
              <a:stretch>
                <a:fillRect l="223" t="0" r="223" b="0"/>
              </a:stretch>
            </a:blipFill>
          </p:spPr>
        </p:sp>
      </p:grpSp>
      <p:sp>
        <p:nvSpPr>
          <p:cNvPr name="TextBox 34" id="34"/>
          <p:cNvSpPr txBox="true"/>
          <p:nvPr/>
        </p:nvSpPr>
        <p:spPr>
          <a:xfrm rot="0">
            <a:off x="5910453" y="4849846"/>
            <a:ext cx="1399199" cy="793803"/>
          </a:xfrm>
          <a:prstGeom prst="rect">
            <a:avLst/>
          </a:prstGeom>
        </p:spPr>
        <p:txBody>
          <a:bodyPr anchor="t" rtlCol="false" tIns="0" lIns="0" bIns="0" rIns="0">
            <a:spAutoFit/>
          </a:bodyPr>
          <a:lstStyle/>
          <a:p>
            <a:pPr algn="ctr" marL="0" indent="0" lvl="0">
              <a:lnSpc>
                <a:spcPts val="3225"/>
              </a:lnSpc>
              <a:spcBef>
                <a:spcPct val="0"/>
              </a:spcBef>
            </a:pPr>
            <a:r>
              <a:rPr lang="en-US" b="true" sz="2304">
                <a:solidFill>
                  <a:srgbClr val="000000"/>
                </a:solidFill>
                <a:latin typeface="TT Interphases Bold"/>
                <a:ea typeface="TT Interphases Bold"/>
                <a:cs typeface="TT Interphases Bold"/>
                <a:sym typeface="TT Interphases Bold"/>
              </a:rPr>
              <a:t>Xinyan Yin</a:t>
            </a:r>
          </a:p>
        </p:txBody>
      </p:sp>
      <p:sp>
        <p:nvSpPr>
          <p:cNvPr name="TextBox 35" id="35"/>
          <p:cNvSpPr txBox="true"/>
          <p:nvPr/>
        </p:nvSpPr>
        <p:spPr>
          <a:xfrm rot="0">
            <a:off x="3838151" y="8428144"/>
            <a:ext cx="1492398" cy="782587"/>
          </a:xfrm>
          <a:prstGeom prst="rect">
            <a:avLst/>
          </a:prstGeom>
        </p:spPr>
        <p:txBody>
          <a:bodyPr anchor="t" rtlCol="false" tIns="0" lIns="0" bIns="0" rIns="0">
            <a:spAutoFit/>
          </a:bodyPr>
          <a:lstStyle/>
          <a:p>
            <a:pPr algn="ctr" marL="0" indent="0" lvl="0">
              <a:lnSpc>
                <a:spcPts val="3177"/>
              </a:lnSpc>
              <a:spcBef>
                <a:spcPct val="0"/>
              </a:spcBef>
            </a:pPr>
            <a:r>
              <a:rPr lang="en-US" b="true" sz="2269">
                <a:solidFill>
                  <a:srgbClr val="000000"/>
                </a:solidFill>
                <a:latin typeface="TT Interphases Bold"/>
                <a:ea typeface="TT Interphases Bold"/>
                <a:cs typeface="TT Interphases Bold"/>
                <a:sym typeface="TT Interphases Bold"/>
              </a:rPr>
              <a:t>Yixiao Shen</a:t>
            </a:r>
          </a:p>
        </p:txBody>
      </p:sp>
      <p:sp>
        <p:nvSpPr>
          <p:cNvPr name="TextBox 36" id="36"/>
          <p:cNvSpPr txBox="true"/>
          <p:nvPr/>
        </p:nvSpPr>
        <p:spPr>
          <a:xfrm rot="0">
            <a:off x="14703653" y="4840321"/>
            <a:ext cx="1718454" cy="824304"/>
          </a:xfrm>
          <a:prstGeom prst="rect">
            <a:avLst/>
          </a:prstGeom>
        </p:spPr>
        <p:txBody>
          <a:bodyPr anchor="t" rtlCol="false" tIns="0" lIns="0" bIns="0" rIns="0">
            <a:spAutoFit/>
          </a:bodyPr>
          <a:lstStyle/>
          <a:p>
            <a:pPr algn="ctr" marL="0" indent="0" lvl="0">
              <a:lnSpc>
                <a:spcPts val="3316"/>
              </a:lnSpc>
              <a:spcBef>
                <a:spcPct val="0"/>
              </a:spcBef>
            </a:pPr>
            <a:r>
              <a:rPr lang="en-US" b="true" sz="2368">
                <a:solidFill>
                  <a:srgbClr val="000000"/>
                </a:solidFill>
                <a:latin typeface="TT Interphases Bold"/>
                <a:ea typeface="TT Interphases Bold"/>
                <a:cs typeface="TT Interphases Bold"/>
                <a:sym typeface="TT Interphases Bold"/>
              </a:rPr>
              <a:t>Kaveri Verma</a:t>
            </a:r>
          </a:p>
        </p:txBody>
      </p:sp>
      <p:sp>
        <p:nvSpPr>
          <p:cNvPr name="TextBox 37" id="37"/>
          <p:cNvSpPr txBox="true"/>
          <p:nvPr/>
        </p:nvSpPr>
        <p:spPr>
          <a:xfrm rot="0">
            <a:off x="13067339" y="8388879"/>
            <a:ext cx="1819275" cy="784259"/>
          </a:xfrm>
          <a:prstGeom prst="rect">
            <a:avLst/>
          </a:prstGeom>
        </p:spPr>
        <p:txBody>
          <a:bodyPr anchor="t" rtlCol="false" tIns="0" lIns="0" bIns="0" rIns="0">
            <a:spAutoFit/>
          </a:bodyPr>
          <a:lstStyle/>
          <a:p>
            <a:pPr algn="ctr" marL="0" indent="0" lvl="0">
              <a:lnSpc>
                <a:spcPts val="3177"/>
              </a:lnSpc>
              <a:spcBef>
                <a:spcPct val="0"/>
              </a:spcBef>
            </a:pPr>
            <a:r>
              <a:rPr lang="en-US" b="true" sz="2269">
                <a:solidFill>
                  <a:srgbClr val="000000"/>
                </a:solidFill>
                <a:latin typeface="TT Interphases Bold"/>
                <a:ea typeface="TT Interphases Bold"/>
                <a:cs typeface="TT Interphases Bold"/>
                <a:sym typeface="TT Interphases Bold"/>
              </a:rPr>
              <a:t>Jong Hoon Park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28241" y="2842456"/>
            <a:ext cx="4817620" cy="5068336"/>
            <a:chOff x="0" y="0"/>
            <a:chExt cx="6423493" cy="6757782"/>
          </a:xfrm>
        </p:grpSpPr>
        <p:sp>
          <p:nvSpPr>
            <p:cNvPr name="Freeform 3" id="3"/>
            <p:cNvSpPr/>
            <p:nvPr/>
          </p:nvSpPr>
          <p:spPr>
            <a:xfrm flipH="false" flipV="false" rot="0">
              <a:off x="0" y="0"/>
              <a:ext cx="3363541" cy="3481688"/>
            </a:xfrm>
            <a:custGeom>
              <a:avLst/>
              <a:gdLst/>
              <a:ahLst/>
              <a:cxnLst/>
              <a:rect r="r" b="b" t="t" l="l"/>
              <a:pathLst>
                <a:path h="3481688" w="3363541">
                  <a:moveTo>
                    <a:pt x="0" y="0"/>
                  </a:moveTo>
                  <a:lnTo>
                    <a:pt x="3363541" y="0"/>
                  </a:lnTo>
                  <a:lnTo>
                    <a:pt x="3363541" y="3481688"/>
                  </a:lnTo>
                  <a:lnTo>
                    <a:pt x="0" y="3481688"/>
                  </a:lnTo>
                  <a:lnTo>
                    <a:pt x="0" y="0"/>
                  </a:lnTo>
                  <a:close/>
                </a:path>
              </a:pathLst>
            </a:custGeom>
            <a:blipFill>
              <a:blip r:embed="rId3"/>
              <a:stretch>
                <a:fillRect l="-1756" t="0" r="-1756" b="0"/>
              </a:stretch>
            </a:blipFill>
            <a:ln cap="sq">
              <a:noFill/>
              <a:prstDash val="solid"/>
              <a:miter/>
            </a:ln>
          </p:spPr>
        </p:sp>
        <p:sp>
          <p:nvSpPr>
            <p:cNvPr name="Freeform 4" id="4"/>
            <p:cNvSpPr/>
            <p:nvPr/>
          </p:nvSpPr>
          <p:spPr>
            <a:xfrm flipH="false" flipV="false" rot="0">
              <a:off x="3363541" y="0"/>
              <a:ext cx="3059951" cy="6757782"/>
            </a:xfrm>
            <a:custGeom>
              <a:avLst/>
              <a:gdLst/>
              <a:ahLst/>
              <a:cxnLst/>
              <a:rect r="r" b="b" t="t" l="l"/>
              <a:pathLst>
                <a:path h="6757782" w="3059951">
                  <a:moveTo>
                    <a:pt x="0" y="0"/>
                  </a:moveTo>
                  <a:lnTo>
                    <a:pt x="3059952" y="0"/>
                  </a:lnTo>
                  <a:lnTo>
                    <a:pt x="3059952" y="6757782"/>
                  </a:lnTo>
                  <a:lnTo>
                    <a:pt x="0" y="6757782"/>
                  </a:lnTo>
                  <a:lnTo>
                    <a:pt x="0" y="0"/>
                  </a:lnTo>
                  <a:close/>
                </a:path>
              </a:pathLst>
            </a:custGeom>
            <a:blipFill>
              <a:blip r:embed="rId4"/>
              <a:stretch>
                <a:fillRect l="-56018" t="0" r="-66217" b="-629"/>
              </a:stretch>
            </a:blipFill>
            <a:ln cap="sq">
              <a:noFill/>
              <a:prstDash val="solid"/>
              <a:miter/>
            </a:ln>
          </p:spPr>
        </p:sp>
        <p:sp>
          <p:nvSpPr>
            <p:cNvPr name="Freeform 5" id="5"/>
            <p:cNvSpPr/>
            <p:nvPr/>
          </p:nvSpPr>
          <p:spPr>
            <a:xfrm flipH="false" flipV="false" rot="0">
              <a:off x="0" y="3394240"/>
              <a:ext cx="3363541" cy="3363541"/>
            </a:xfrm>
            <a:custGeom>
              <a:avLst/>
              <a:gdLst/>
              <a:ahLst/>
              <a:cxnLst/>
              <a:rect r="r" b="b" t="t" l="l"/>
              <a:pathLst>
                <a:path h="3363541" w="3363541">
                  <a:moveTo>
                    <a:pt x="0" y="0"/>
                  </a:moveTo>
                  <a:lnTo>
                    <a:pt x="3363541" y="0"/>
                  </a:lnTo>
                  <a:lnTo>
                    <a:pt x="3363541" y="3363542"/>
                  </a:lnTo>
                  <a:lnTo>
                    <a:pt x="0" y="3363542"/>
                  </a:lnTo>
                  <a:lnTo>
                    <a:pt x="0" y="0"/>
                  </a:lnTo>
                  <a:close/>
                </a:path>
              </a:pathLst>
            </a:custGeom>
            <a:blipFill>
              <a:blip r:embed="rId5"/>
              <a:stretch>
                <a:fillRect l="0" t="0" r="0" b="0"/>
              </a:stretch>
            </a:blipFill>
            <a:ln cap="sq">
              <a:noFill/>
              <a:prstDash val="solid"/>
              <a:miter/>
            </a:ln>
          </p:spPr>
        </p:sp>
      </p:grpSp>
      <p:pic>
        <p:nvPicPr>
          <p:cNvPr name="Picture 6" id="6"/>
          <p:cNvPicPr>
            <a:picLocks noChangeAspect="true"/>
          </p:cNvPicPr>
          <p:nvPr/>
        </p:nvPicPr>
        <p:blipFill>
          <a:blip r:embed="rId6"/>
          <a:stretch>
            <a:fillRect/>
          </a:stretch>
        </p:blipFill>
        <p:spPr>
          <a:xfrm rot="0">
            <a:off x="6808779" y="3208846"/>
            <a:ext cx="3233446" cy="3233446"/>
          </a:xfrm>
          <a:prstGeom prst="rect">
            <a:avLst/>
          </a:prstGeom>
        </p:spPr>
      </p:pic>
      <p:pic>
        <p:nvPicPr>
          <p:cNvPr name="Picture 7" id="7"/>
          <p:cNvPicPr>
            <a:picLocks noChangeAspect="true"/>
          </p:cNvPicPr>
          <p:nvPr/>
        </p:nvPicPr>
        <p:blipFill>
          <a:blip r:embed="rId7"/>
          <a:stretch>
            <a:fillRect/>
          </a:stretch>
        </p:blipFill>
        <p:spPr>
          <a:xfrm rot="0">
            <a:off x="10347513" y="3092642"/>
            <a:ext cx="3465853" cy="3465853"/>
          </a:xfrm>
          <a:prstGeom prst="rect">
            <a:avLst/>
          </a:prstGeom>
        </p:spPr>
      </p:pic>
      <p:pic>
        <p:nvPicPr>
          <p:cNvPr name="Picture 8" id="8"/>
          <p:cNvPicPr>
            <a:picLocks noChangeAspect="true"/>
          </p:cNvPicPr>
          <p:nvPr/>
        </p:nvPicPr>
        <p:blipFill>
          <a:blip r:embed="rId8"/>
          <a:stretch>
            <a:fillRect/>
          </a:stretch>
        </p:blipFill>
        <p:spPr>
          <a:xfrm rot="0">
            <a:off x="13863867" y="3092642"/>
            <a:ext cx="3465853" cy="3465853"/>
          </a:xfrm>
          <a:prstGeom prst="rect">
            <a:avLst/>
          </a:prstGeom>
        </p:spPr>
      </p:pic>
      <p:sp>
        <p:nvSpPr>
          <p:cNvPr name="Freeform 9" id="9"/>
          <p:cNvSpPr/>
          <p:nvPr/>
        </p:nvSpPr>
        <p:spPr>
          <a:xfrm flipH="false" flipV="false" rot="0">
            <a:off x="0" y="-397764"/>
            <a:ext cx="7315200" cy="795528"/>
          </a:xfrm>
          <a:custGeom>
            <a:avLst/>
            <a:gdLst/>
            <a:ahLst/>
            <a:cxnLst/>
            <a:rect r="r" b="b" t="t" l="l"/>
            <a:pathLst>
              <a:path h="795528" w="7315200">
                <a:moveTo>
                  <a:pt x="0" y="0"/>
                </a:moveTo>
                <a:lnTo>
                  <a:pt x="7315200" y="0"/>
                </a:lnTo>
                <a:lnTo>
                  <a:pt x="7315200" y="795528"/>
                </a:lnTo>
                <a:lnTo>
                  <a:pt x="0" y="7955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true" flipV="true" rot="0">
            <a:off x="10972800" y="9889236"/>
            <a:ext cx="7315200" cy="795528"/>
          </a:xfrm>
          <a:custGeom>
            <a:avLst/>
            <a:gdLst/>
            <a:ahLst/>
            <a:cxnLst/>
            <a:rect r="r" b="b" t="t" l="l"/>
            <a:pathLst>
              <a:path h="795528" w="7315200">
                <a:moveTo>
                  <a:pt x="7315200" y="795528"/>
                </a:moveTo>
                <a:lnTo>
                  <a:pt x="0" y="795528"/>
                </a:lnTo>
                <a:lnTo>
                  <a:pt x="0" y="0"/>
                </a:lnTo>
                <a:lnTo>
                  <a:pt x="7315200" y="0"/>
                </a:lnTo>
                <a:lnTo>
                  <a:pt x="7315200" y="795528"/>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7842155" y="7158733"/>
            <a:ext cx="8448664" cy="634365"/>
          </a:xfrm>
          <a:prstGeom prst="rect">
            <a:avLst/>
          </a:prstGeom>
        </p:spPr>
        <p:txBody>
          <a:bodyPr anchor="t" rtlCol="false" tIns="0" lIns="0" bIns="0" rIns="0">
            <a:spAutoFit/>
          </a:bodyPr>
          <a:lstStyle/>
          <a:p>
            <a:pPr algn="l">
              <a:lnSpc>
                <a:spcPts val="4679"/>
              </a:lnSpc>
            </a:pPr>
            <a:r>
              <a:rPr lang="en-US" sz="3999" b="true">
                <a:solidFill>
                  <a:srgbClr val="000000"/>
                </a:solidFill>
                <a:latin typeface="Poppins Bold"/>
                <a:ea typeface="Poppins Bold"/>
                <a:cs typeface="Poppins Bold"/>
                <a:sym typeface="Poppins Bold"/>
              </a:rPr>
              <a:t>$23,141,511.83 Lifetime Revenue</a:t>
            </a:r>
          </a:p>
        </p:txBody>
      </p:sp>
      <p:sp>
        <p:nvSpPr>
          <p:cNvPr name="TextBox 12" id="12"/>
          <p:cNvSpPr txBox="true"/>
          <p:nvPr/>
        </p:nvSpPr>
        <p:spPr>
          <a:xfrm rot="0">
            <a:off x="7154647" y="6399875"/>
            <a:ext cx="2888211" cy="349283"/>
          </a:xfrm>
          <a:prstGeom prst="rect">
            <a:avLst/>
          </a:prstGeom>
        </p:spPr>
        <p:txBody>
          <a:bodyPr anchor="t" rtlCol="false" tIns="0" lIns="0" bIns="0" rIns="0">
            <a:spAutoFit/>
          </a:bodyPr>
          <a:lstStyle/>
          <a:p>
            <a:pPr algn="ctr">
              <a:lnSpc>
                <a:spcPts val="2830"/>
              </a:lnSpc>
              <a:spcBef>
                <a:spcPct val="0"/>
              </a:spcBef>
            </a:pPr>
            <a:r>
              <a:rPr lang="en-US" b="true" sz="2021">
                <a:solidFill>
                  <a:srgbClr val="1F2020"/>
                </a:solidFill>
                <a:latin typeface="Open Sans Bold"/>
                <a:ea typeface="Open Sans Bold"/>
                <a:cs typeface="Open Sans Bold"/>
                <a:sym typeface="Open Sans Bold"/>
              </a:rPr>
              <a:t>STANDARD PAPER</a:t>
            </a:r>
          </a:p>
        </p:txBody>
      </p:sp>
      <p:sp>
        <p:nvSpPr>
          <p:cNvPr name="TextBox 13" id="13"/>
          <p:cNvSpPr txBox="true"/>
          <p:nvPr/>
        </p:nvSpPr>
        <p:spPr>
          <a:xfrm rot="0">
            <a:off x="10712748" y="6399875"/>
            <a:ext cx="2888211" cy="349283"/>
          </a:xfrm>
          <a:prstGeom prst="rect">
            <a:avLst/>
          </a:prstGeom>
        </p:spPr>
        <p:txBody>
          <a:bodyPr anchor="t" rtlCol="false" tIns="0" lIns="0" bIns="0" rIns="0">
            <a:spAutoFit/>
          </a:bodyPr>
          <a:lstStyle/>
          <a:p>
            <a:pPr algn="ctr">
              <a:lnSpc>
                <a:spcPts val="2830"/>
              </a:lnSpc>
              <a:spcBef>
                <a:spcPct val="0"/>
              </a:spcBef>
            </a:pPr>
            <a:r>
              <a:rPr lang="en-US" b="true" sz="2021">
                <a:solidFill>
                  <a:srgbClr val="1F2020"/>
                </a:solidFill>
                <a:latin typeface="Open Sans Bold"/>
                <a:ea typeface="Open Sans Bold"/>
                <a:cs typeface="Open Sans Bold"/>
                <a:sym typeface="Open Sans Bold"/>
              </a:rPr>
              <a:t>GLOSS PAPER</a:t>
            </a:r>
          </a:p>
        </p:txBody>
      </p:sp>
      <p:sp>
        <p:nvSpPr>
          <p:cNvPr name="TextBox 14" id="14"/>
          <p:cNvSpPr txBox="true"/>
          <p:nvPr/>
        </p:nvSpPr>
        <p:spPr>
          <a:xfrm rot="0">
            <a:off x="14271548" y="6399875"/>
            <a:ext cx="2888211" cy="349283"/>
          </a:xfrm>
          <a:prstGeom prst="rect">
            <a:avLst/>
          </a:prstGeom>
        </p:spPr>
        <p:txBody>
          <a:bodyPr anchor="t" rtlCol="false" tIns="0" lIns="0" bIns="0" rIns="0">
            <a:spAutoFit/>
          </a:bodyPr>
          <a:lstStyle/>
          <a:p>
            <a:pPr algn="ctr">
              <a:lnSpc>
                <a:spcPts val="2830"/>
              </a:lnSpc>
              <a:spcBef>
                <a:spcPct val="0"/>
              </a:spcBef>
            </a:pPr>
            <a:r>
              <a:rPr lang="en-US" b="true" sz="2021">
                <a:solidFill>
                  <a:srgbClr val="1F2020"/>
                </a:solidFill>
                <a:latin typeface="Open Sans Bold"/>
                <a:ea typeface="Open Sans Bold"/>
                <a:cs typeface="Open Sans Bold"/>
                <a:sym typeface="Open Sans Bold"/>
              </a:rPr>
              <a:t>POSTER PAPER </a:t>
            </a:r>
          </a:p>
        </p:txBody>
      </p:sp>
      <p:grpSp>
        <p:nvGrpSpPr>
          <p:cNvPr name="Group 15" id="15"/>
          <p:cNvGrpSpPr/>
          <p:nvPr/>
        </p:nvGrpSpPr>
        <p:grpSpPr>
          <a:xfrm rot="0">
            <a:off x="1028700" y="1028700"/>
            <a:ext cx="7297261" cy="782680"/>
            <a:chOff x="0" y="0"/>
            <a:chExt cx="9729682" cy="1043573"/>
          </a:xfrm>
        </p:grpSpPr>
        <p:grpSp>
          <p:nvGrpSpPr>
            <p:cNvPr name="Group 16" id="16"/>
            <p:cNvGrpSpPr/>
            <p:nvPr/>
          </p:nvGrpSpPr>
          <p:grpSpPr>
            <a:xfrm rot="0">
              <a:off x="0" y="927311"/>
              <a:ext cx="6403663" cy="116262"/>
              <a:chOff x="0" y="0"/>
              <a:chExt cx="1264921" cy="22965"/>
            </a:xfrm>
          </p:grpSpPr>
          <p:sp>
            <p:nvSpPr>
              <p:cNvPr name="Freeform 17" id="17"/>
              <p:cNvSpPr/>
              <p:nvPr/>
            </p:nvSpPr>
            <p:spPr>
              <a:xfrm flipH="false" flipV="false" rot="0">
                <a:off x="0" y="0"/>
                <a:ext cx="1264921" cy="22965"/>
              </a:xfrm>
              <a:custGeom>
                <a:avLst/>
                <a:gdLst/>
                <a:ahLst/>
                <a:cxnLst/>
                <a:rect r="r" b="b" t="t" l="l"/>
                <a:pathLst>
                  <a:path h="22965" w="1264921">
                    <a:moveTo>
                      <a:pt x="11483" y="0"/>
                    </a:moveTo>
                    <a:lnTo>
                      <a:pt x="1253438" y="0"/>
                    </a:lnTo>
                    <a:cubicBezTo>
                      <a:pt x="1256484" y="0"/>
                      <a:pt x="1259405" y="1210"/>
                      <a:pt x="1261558" y="3363"/>
                    </a:cubicBezTo>
                    <a:cubicBezTo>
                      <a:pt x="1263711" y="5517"/>
                      <a:pt x="1264921" y="8437"/>
                      <a:pt x="1264921" y="11483"/>
                    </a:cubicBezTo>
                    <a:lnTo>
                      <a:pt x="1264921" y="11483"/>
                    </a:lnTo>
                    <a:cubicBezTo>
                      <a:pt x="1264921" y="14528"/>
                      <a:pt x="1263711" y="17449"/>
                      <a:pt x="1261558" y="19602"/>
                    </a:cubicBezTo>
                    <a:cubicBezTo>
                      <a:pt x="1259405" y="21756"/>
                      <a:pt x="1256484" y="22965"/>
                      <a:pt x="1253438"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sp>
          <p:sp>
            <p:nvSpPr>
              <p:cNvPr name="TextBox 18" id="18"/>
              <p:cNvSpPr txBox="true"/>
              <p:nvPr/>
            </p:nvSpPr>
            <p:spPr>
              <a:xfrm>
                <a:off x="0" y="-38100"/>
                <a:ext cx="1264921" cy="61065"/>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0" y="-19050"/>
              <a:ext cx="9729682" cy="735705"/>
            </a:xfrm>
            <a:prstGeom prst="rect">
              <a:avLst/>
            </a:prstGeom>
          </p:spPr>
          <p:txBody>
            <a:bodyPr anchor="t" rtlCol="false" tIns="0" lIns="0" bIns="0" rIns="0">
              <a:spAutoFit/>
            </a:bodyPr>
            <a:lstStyle/>
            <a:p>
              <a:pPr algn="l">
                <a:lnSpc>
                  <a:spcPts val="4181"/>
                </a:lnSpc>
              </a:pPr>
              <a:r>
                <a:rPr lang="en-US" sz="3573" b="true">
                  <a:solidFill>
                    <a:srgbClr val="1F2020"/>
                  </a:solidFill>
                  <a:latin typeface="Poppins Bold"/>
                  <a:ea typeface="Poppins Bold"/>
                  <a:cs typeface="Poppins Bold"/>
                  <a:sym typeface="Poppins Bold"/>
                </a:rPr>
                <a:t>Current State of the Company</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0287" y="2116386"/>
            <a:ext cx="14887427" cy="6608426"/>
            <a:chOff x="0" y="0"/>
            <a:chExt cx="19849902" cy="8811235"/>
          </a:xfrm>
        </p:grpSpPr>
        <p:sp>
          <p:nvSpPr>
            <p:cNvPr name="Freeform 3" id="3"/>
            <p:cNvSpPr/>
            <p:nvPr/>
          </p:nvSpPr>
          <p:spPr>
            <a:xfrm flipH="false" flipV="false" rot="0">
              <a:off x="2190425" y="5675695"/>
              <a:ext cx="3308529" cy="1406125"/>
            </a:xfrm>
            <a:custGeom>
              <a:avLst/>
              <a:gdLst/>
              <a:ahLst/>
              <a:cxnLst/>
              <a:rect r="r" b="b" t="t" l="l"/>
              <a:pathLst>
                <a:path h="1406125" w="3308529">
                  <a:moveTo>
                    <a:pt x="0" y="0"/>
                  </a:moveTo>
                  <a:lnTo>
                    <a:pt x="3308528" y="0"/>
                  </a:lnTo>
                  <a:lnTo>
                    <a:pt x="3308528" y="1406125"/>
                  </a:lnTo>
                  <a:lnTo>
                    <a:pt x="0" y="1406125"/>
                  </a:lnTo>
                  <a:lnTo>
                    <a:pt x="0" y="0"/>
                  </a:lnTo>
                  <a:close/>
                </a:path>
              </a:pathLst>
            </a:custGeom>
            <a:blipFill>
              <a:blip r:embed="rId3"/>
              <a:stretch>
                <a:fillRect l="0" t="0" r="0" b="0"/>
              </a:stretch>
            </a:blipFill>
          </p:spPr>
        </p:sp>
        <p:sp>
          <p:nvSpPr>
            <p:cNvPr name="Freeform 4" id="4"/>
            <p:cNvSpPr/>
            <p:nvPr/>
          </p:nvSpPr>
          <p:spPr>
            <a:xfrm flipH="false" flipV="false" rot="0">
              <a:off x="7853832" y="2919923"/>
              <a:ext cx="2478525" cy="1651317"/>
            </a:xfrm>
            <a:custGeom>
              <a:avLst/>
              <a:gdLst/>
              <a:ahLst/>
              <a:cxnLst/>
              <a:rect r="r" b="b" t="t" l="l"/>
              <a:pathLst>
                <a:path h="1651317" w="2478525">
                  <a:moveTo>
                    <a:pt x="0" y="0"/>
                  </a:moveTo>
                  <a:lnTo>
                    <a:pt x="2478525" y="0"/>
                  </a:lnTo>
                  <a:lnTo>
                    <a:pt x="2478525" y="1651317"/>
                  </a:lnTo>
                  <a:lnTo>
                    <a:pt x="0" y="1651317"/>
                  </a:lnTo>
                  <a:lnTo>
                    <a:pt x="0" y="0"/>
                  </a:lnTo>
                  <a:close/>
                </a:path>
              </a:pathLst>
            </a:custGeom>
            <a:blipFill>
              <a:blip r:embed="rId4"/>
              <a:stretch>
                <a:fillRect l="0" t="0" r="0" b="0"/>
              </a:stretch>
            </a:blipFill>
          </p:spPr>
        </p:sp>
        <p:sp>
          <p:nvSpPr>
            <p:cNvPr name="Freeform 5" id="5"/>
            <p:cNvSpPr/>
            <p:nvPr/>
          </p:nvSpPr>
          <p:spPr>
            <a:xfrm flipH="false" flipV="false" rot="0">
              <a:off x="10211397" y="4798792"/>
              <a:ext cx="2457554" cy="1382374"/>
            </a:xfrm>
            <a:custGeom>
              <a:avLst/>
              <a:gdLst/>
              <a:ahLst/>
              <a:cxnLst/>
              <a:rect r="r" b="b" t="t" l="l"/>
              <a:pathLst>
                <a:path h="1382374" w="2457554">
                  <a:moveTo>
                    <a:pt x="0" y="0"/>
                  </a:moveTo>
                  <a:lnTo>
                    <a:pt x="2457554" y="0"/>
                  </a:lnTo>
                  <a:lnTo>
                    <a:pt x="2457554" y="1382375"/>
                  </a:lnTo>
                  <a:lnTo>
                    <a:pt x="0" y="1382375"/>
                  </a:lnTo>
                  <a:lnTo>
                    <a:pt x="0" y="0"/>
                  </a:lnTo>
                  <a:close/>
                </a:path>
              </a:pathLst>
            </a:custGeom>
            <a:blipFill>
              <a:blip r:embed="rId5"/>
              <a:stretch>
                <a:fillRect l="0" t="0" r="0" b="0"/>
              </a:stretch>
            </a:blipFill>
          </p:spPr>
        </p:sp>
        <p:sp>
          <p:nvSpPr>
            <p:cNvPr name="Freeform 6" id="6"/>
            <p:cNvSpPr/>
            <p:nvPr/>
          </p:nvSpPr>
          <p:spPr>
            <a:xfrm flipH="false" flipV="false" rot="0">
              <a:off x="8015433" y="369298"/>
              <a:ext cx="3726622" cy="1299659"/>
            </a:xfrm>
            <a:custGeom>
              <a:avLst/>
              <a:gdLst/>
              <a:ahLst/>
              <a:cxnLst/>
              <a:rect r="r" b="b" t="t" l="l"/>
              <a:pathLst>
                <a:path h="1299659" w="3726622">
                  <a:moveTo>
                    <a:pt x="0" y="0"/>
                  </a:moveTo>
                  <a:lnTo>
                    <a:pt x="3726622" y="0"/>
                  </a:lnTo>
                  <a:lnTo>
                    <a:pt x="3726622" y="1299660"/>
                  </a:lnTo>
                  <a:lnTo>
                    <a:pt x="0" y="1299660"/>
                  </a:lnTo>
                  <a:lnTo>
                    <a:pt x="0" y="0"/>
                  </a:lnTo>
                  <a:close/>
                </a:path>
              </a:pathLst>
            </a:custGeom>
            <a:blipFill>
              <a:blip r:embed="rId6"/>
              <a:stretch>
                <a:fillRect l="0" t="0" r="0" b="0"/>
              </a:stretch>
            </a:blipFill>
          </p:spPr>
        </p:sp>
        <p:sp>
          <p:nvSpPr>
            <p:cNvPr name="Freeform 7" id="7"/>
            <p:cNvSpPr/>
            <p:nvPr/>
          </p:nvSpPr>
          <p:spPr>
            <a:xfrm flipH="false" flipV="false" rot="0">
              <a:off x="12821697" y="2279335"/>
              <a:ext cx="2942555" cy="750352"/>
            </a:xfrm>
            <a:custGeom>
              <a:avLst/>
              <a:gdLst/>
              <a:ahLst/>
              <a:cxnLst/>
              <a:rect r="r" b="b" t="t" l="l"/>
              <a:pathLst>
                <a:path h="750352" w="2942555">
                  <a:moveTo>
                    <a:pt x="0" y="0"/>
                  </a:moveTo>
                  <a:lnTo>
                    <a:pt x="2942555" y="0"/>
                  </a:lnTo>
                  <a:lnTo>
                    <a:pt x="2942555" y="750352"/>
                  </a:lnTo>
                  <a:lnTo>
                    <a:pt x="0" y="750352"/>
                  </a:lnTo>
                  <a:lnTo>
                    <a:pt x="0" y="0"/>
                  </a:lnTo>
                  <a:close/>
                </a:path>
              </a:pathLst>
            </a:custGeom>
            <a:blipFill>
              <a:blip r:embed="rId7"/>
              <a:stretch>
                <a:fillRect l="0" t="0" r="0" b="0"/>
              </a:stretch>
            </a:blipFill>
          </p:spPr>
        </p:sp>
        <p:sp>
          <p:nvSpPr>
            <p:cNvPr name="Freeform 8" id="8"/>
            <p:cNvSpPr/>
            <p:nvPr/>
          </p:nvSpPr>
          <p:spPr>
            <a:xfrm flipH="false" flipV="false" rot="0">
              <a:off x="3708611" y="1895916"/>
              <a:ext cx="4561194" cy="1221945"/>
            </a:xfrm>
            <a:custGeom>
              <a:avLst/>
              <a:gdLst/>
              <a:ahLst/>
              <a:cxnLst/>
              <a:rect r="r" b="b" t="t" l="l"/>
              <a:pathLst>
                <a:path h="1221945" w="4561194">
                  <a:moveTo>
                    <a:pt x="0" y="0"/>
                  </a:moveTo>
                  <a:lnTo>
                    <a:pt x="4561194" y="0"/>
                  </a:lnTo>
                  <a:lnTo>
                    <a:pt x="4561194" y="1221945"/>
                  </a:lnTo>
                  <a:lnTo>
                    <a:pt x="0" y="1221945"/>
                  </a:lnTo>
                  <a:lnTo>
                    <a:pt x="0" y="0"/>
                  </a:lnTo>
                  <a:close/>
                </a:path>
              </a:pathLst>
            </a:custGeom>
            <a:blipFill>
              <a:blip r:embed="rId8"/>
              <a:stretch>
                <a:fillRect l="0" t="-60161" r="0" b="-49804"/>
              </a:stretch>
            </a:blipFill>
          </p:spPr>
        </p:sp>
        <p:sp>
          <p:nvSpPr>
            <p:cNvPr name="Freeform 9" id="9"/>
            <p:cNvSpPr/>
            <p:nvPr/>
          </p:nvSpPr>
          <p:spPr>
            <a:xfrm flipH="false" flipV="false" rot="0">
              <a:off x="16608885" y="1691347"/>
              <a:ext cx="2629540" cy="1700436"/>
            </a:xfrm>
            <a:custGeom>
              <a:avLst/>
              <a:gdLst/>
              <a:ahLst/>
              <a:cxnLst/>
              <a:rect r="r" b="b" t="t" l="l"/>
              <a:pathLst>
                <a:path h="1700436" w="2629540">
                  <a:moveTo>
                    <a:pt x="0" y="0"/>
                  </a:moveTo>
                  <a:lnTo>
                    <a:pt x="2629541" y="0"/>
                  </a:lnTo>
                  <a:lnTo>
                    <a:pt x="2629541" y="1700437"/>
                  </a:lnTo>
                  <a:lnTo>
                    <a:pt x="0" y="1700437"/>
                  </a:lnTo>
                  <a:lnTo>
                    <a:pt x="0" y="0"/>
                  </a:lnTo>
                  <a:close/>
                </a:path>
              </a:pathLst>
            </a:custGeom>
            <a:blipFill>
              <a:blip r:embed="rId9"/>
              <a:stretch>
                <a:fillRect l="0" t="0" r="0" b="0"/>
              </a:stretch>
            </a:blipFill>
          </p:spPr>
        </p:sp>
        <p:sp>
          <p:nvSpPr>
            <p:cNvPr name="Freeform 10" id="10"/>
            <p:cNvSpPr/>
            <p:nvPr/>
          </p:nvSpPr>
          <p:spPr>
            <a:xfrm flipH="false" flipV="false" rot="0">
              <a:off x="803672" y="0"/>
              <a:ext cx="6403337" cy="1766305"/>
            </a:xfrm>
            <a:custGeom>
              <a:avLst/>
              <a:gdLst/>
              <a:ahLst/>
              <a:cxnLst/>
              <a:rect r="r" b="b" t="t" l="l"/>
              <a:pathLst>
                <a:path h="1766305" w="6403337">
                  <a:moveTo>
                    <a:pt x="0" y="0"/>
                  </a:moveTo>
                  <a:lnTo>
                    <a:pt x="6403337" y="0"/>
                  </a:lnTo>
                  <a:lnTo>
                    <a:pt x="6403337" y="1766305"/>
                  </a:lnTo>
                  <a:lnTo>
                    <a:pt x="0" y="1766305"/>
                  </a:lnTo>
                  <a:lnTo>
                    <a:pt x="0" y="0"/>
                  </a:lnTo>
                  <a:close/>
                </a:path>
              </a:pathLst>
            </a:custGeom>
            <a:blipFill>
              <a:blip r:embed="rId10"/>
              <a:stretch>
                <a:fillRect l="0" t="-8026" r="-584" b="0"/>
              </a:stretch>
            </a:blipFill>
          </p:spPr>
        </p:sp>
        <p:sp>
          <p:nvSpPr>
            <p:cNvPr name="Freeform 11" id="11"/>
            <p:cNvSpPr/>
            <p:nvPr/>
          </p:nvSpPr>
          <p:spPr>
            <a:xfrm flipH="false" flipV="false" rot="0">
              <a:off x="218814" y="2603417"/>
              <a:ext cx="2783801" cy="852539"/>
            </a:xfrm>
            <a:custGeom>
              <a:avLst/>
              <a:gdLst/>
              <a:ahLst/>
              <a:cxnLst/>
              <a:rect r="r" b="b" t="t" l="l"/>
              <a:pathLst>
                <a:path h="852539" w="2783801">
                  <a:moveTo>
                    <a:pt x="0" y="0"/>
                  </a:moveTo>
                  <a:lnTo>
                    <a:pt x="2783801" y="0"/>
                  </a:lnTo>
                  <a:lnTo>
                    <a:pt x="2783801" y="852539"/>
                  </a:lnTo>
                  <a:lnTo>
                    <a:pt x="0" y="852539"/>
                  </a:lnTo>
                  <a:lnTo>
                    <a:pt x="0" y="0"/>
                  </a:lnTo>
                  <a:close/>
                </a:path>
              </a:pathLst>
            </a:custGeom>
            <a:blipFill>
              <a:blip r:embed="rId11"/>
              <a:stretch>
                <a:fillRect l="0" t="0" r="0" b="0"/>
              </a:stretch>
            </a:blipFill>
          </p:spPr>
        </p:sp>
        <p:sp>
          <p:nvSpPr>
            <p:cNvPr name="Freeform 12" id="12"/>
            <p:cNvSpPr/>
            <p:nvPr/>
          </p:nvSpPr>
          <p:spPr>
            <a:xfrm flipH="false" flipV="false" rot="0">
              <a:off x="14011161" y="5986422"/>
              <a:ext cx="2204420" cy="784670"/>
            </a:xfrm>
            <a:custGeom>
              <a:avLst/>
              <a:gdLst/>
              <a:ahLst/>
              <a:cxnLst/>
              <a:rect r="r" b="b" t="t" l="l"/>
              <a:pathLst>
                <a:path h="784670" w="2204420">
                  <a:moveTo>
                    <a:pt x="0" y="0"/>
                  </a:moveTo>
                  <a:lnTo>
                    <a:pt x="2204420" y="0"/>
                  </a:lnTo>
                  <a:lnTo>
                    <a:pt x="2204420" y="784671"/>
                  </a:lnTo>
                  <a:lnTo>
                    <a:pt x="0" y="784671"/>
                  </a:lnTo>
                  <a:lnTo>
                    <a:pt x="0" y="0"/>
                  </a:lnTo>
                  <a:close/>
                </a:path>
              </a:pathLst>
            </a:custGeom>
            <a:blipFill>
              <a:blip r:embed="rId12"/>
              <a:stretch>
                <a:fillRect l="0" t="0" r="0" b="-4297"/>
              </a:stretch>
            </a:blipFill>
          </p:spPr>
        </p:sp>
        <p:sp>
          <p:nvSpPr>
            <p:cNvPr name="Freeform 13" id="13"/>
            <p:cNvSpPr/>
            <p:nvPr/>
          </p:nvSpPr>
          <p:spPr>
            <a:xfrm flipH="false" flipV="false" rot="0">
              <a:off x="16215581" y="4386613"/>
              <a:ext cx="3398119" cy="824358"/>
            </a:xfrm>
            <a:custGeom>
              <a:avLst/>
              <a:gdLst/>
              <a:ahLst/>
              <a:cxnLst/>
              <a:rect r="r" b="b" t="t" l="l"/>
              <a:pathLst>
                <a:path h="824358" w="3398119">
                  <a:moveTo>
                    <a:pt x="0" y="0"/>
                  </a:moveTo>
                  <a:lnTo>
                    <a:pt x="3398119" y="0"/>
                  </a:lnTo>
                  <a:lnTo>
                    <a:pt x="3398119" y="824359"/>
                  </a:lnTo>
                  <a:lnTo>
                    <a:pt x="0" y="824359"/>
                  </a:lnTo>
                  <a:lnTo>
                    <a:pt x="0" y="0"/>
                  </a:lnTo>
                  <a:close/>
                </a:path>
              </a:pathLst>
            </a:custGeom>
            <a:blipFill>
              <a:blip r:embed="rId13"/>
              <a:stretch>
                <a:fillRect l="0" t="0" r="0" b="0"/>
              </a:stretch>
            </a:blipFill>
          </p:spPr>
        </p:sp>
        <p:sp>
          <p:nvSpPr>
            <p:cNvPr name="Freeform 14" id="14"/>
            <p:cNvSpPr/>
            <p:nvPr/>
          </p:nvSpPr>
          <p:spPr>
            <a:xfrm flipH="false" flipV="false" rot="0">
              <a:off x="16457916" y="6181167"/>
              <a:ext cx="3391986" cy="1984312"/>
            </a:xfrm>
            <a:custGeom>
              <a:avLst/>
              <a:gdLst/>
              <a:ahLst/>
              <a:cxnLst/>
              <a:rect r="r" b="b" t="t" l="l"/>
              <a:pathLst>
                <a:path h="1984312" w="3391986">
                  <a:moveTo>
                    <a:pt x="0" y="0"/>
                  </a:moveTo>
                  <a:lnTo>
                    <a:pt x="3391986" y="0"/>
                  </a:lnTo>
                  <a:lnTo>
                    <a:pt x="3391986" y="1984311"/>
                  </a:lnTo>
                  <a:lnTo>
                    <a:pt x="0" y="1984311"/>
                  </a:lnTo>
                  <a:lnTo>
                    <a:pt x="0" y="0"/>
                  </a:lnTo>
                  <a:close/>
                </a:path>
              </a:pathLst>
            </a:custGeom>
            <a:blipFill>
              <a:blip r:embed="rId14"/>
              <a:stretch>
                <a:fillRect l="0" t="0" r="0" b="0"/>
              </a:stretch>
            </a:blipFill>
          </p:spPr>
        </p:sp>
        <p:sp>
          <p:nvSpPr>
            <p:cNvPr name="Freeform 15" id="15"/>
            <p:cNvSpPr/>
            <p:nvPr/>
          </p:nvSpPr>
          <p:spPr>
            <a:xfrm flipH="false" flipV="false" rot="0">
              <a:off x="13600390" y="4107999"/>
              <a:ext cx="1683753" cy="1381588"/>
            </a:xfrm>
            <a:custGeom>
              <a:avLst/>
              <a:gdLst/>
              <a:ahLst/>
              <a:cxnLst/>
              <a:rect r="r" b="b" t="t" l="l"/>
              <a:pathLst>
                <a:path h="1381588" w="1683753">
                  <a:moveTo>
                    <a:pt x="0" y="0"/>
                  </a:moveTo>
                  <a:lnTo>
                    <a:pt x="1683753" y="0"/>
                  </a:lnTo>
                  <a:lnTo>
                    <a:pt x="1683753" y="1381587"/>
                  </a:lnTo>
                  <a:lnTo>
                    <a:pt x="0" y="1381587"/>
                  </a:lnTo>
                  <a:lnTo>
                    <a:pt x="0" y="0"/>
                  </a:lnTo>
                  <a:close/>
                </a:path>
              </a:pathLst>
            </a:custGeom>
            <a:blipFill>
              <a:blip r:embed="rId15"/>
              <a:stretch>
                <a:fillRect l="-53289" t="-5643" r="-40567" b="-5986"/>
              </a:stretch>
            </a:blipFill>
          </p:spPr>
        </p:sp>
        <p:sp>
          <p:nvSpPr>
            <p:cNvPr name="Freeform 16" id="16"/>
            <p:cNvSpPr/>
            <p:nvPr/>
          </p:nvSpPr>
          <p:spPr>
            <a:xfrm flipH="false" flipV="false" rot="0">
              <a:off x="10761141" y="1914917"/>
              <a:ext cx="1358066" cy="1377000"/>
            </a:xfrm>
            <a:custGeom>
              <a:avLst/>
              <a:gdLst/>
              <a:ahLst/>
              <a:cxnLst/>
              <a:rect r="r" b="b" t="t" l="l"/>
              <a:pathLst>
                <a:path h="1377000" w="1358066">
                  <a:moveTo>
                    <a:pt x="0" y="0"/>
                  </a:moveTo>
                  <a:lnTo>
                    <a:pt x="1358067" y="0"/>
                  </a:lnTo>
                  <a:lnTo>
                    <a:pt x="1358067" y="1377000"/>
                  </a:lnTo>
                  <a:lnTo>
                    <a:pt x="0" y="1377000"/>
                  </a:lnTo>
                  <a:lnTo>
                    <a:pt x="0" y="0"/>
                  </a:lnTo>
                  <a:close/>
                </a:path>
              </a:pathLst>
            </a:custGeom>
            <a:blipFill>
              <a:blip r:embed="rId16"/>
              <a:stretch>
                <a:fillRect l="0" t="0" r="0" b="0"/>
              </a:stretch>
            </a:blipFill>
          </p:spPr>
        </p:sp>
        <p:sp>
          <p:nvSpPr>
            <p:cNvPr name="Freeform 17" id="17"/>
            <p:cNvSpPr/>
            <p:nvPr/>
          </p:nvSpPr>
          <p:spPr>
            <a:xfrm flipH="false" flipV="false" rot="0">
              <a:off x="6535058" y="5104898"/>
              <a:ext cx="2960750" cy="1665422"/>
            </a:xfrm>
            <a:custGeom>
              <a:avLst/>
              <a:gdLst/>
              <a:ahLst/>
              <a:cxnLst/>
              <a:rect r="r" b="b" t="t" l="l"/>
              <a:pathLst>
                <a:path h="1665422" w="2960750">
                  <a:moveTo>
                    <a:pt x="0" y="0"/>
                  </a:moveTo>
                  <a:lnTo>
                    <a:pt x="2960750" y="0"/>
                  </a:lnTo>
                  <a:lnTo>
                    <a:pt x="2960750" y="1665422"/>
                  </a:lnTo>
                  <a:lnTo>
                    <a:pt x="0" y="1665422"/>
                  </a:lnTo>
                  <a:lnTo>
                    <a:pt x="0" y="0"/>
                  </a:lnTo>
                  <a:close/>
                </a:path>
              </a:pathLst>
            </a:custGeom>
            <a:blipFill>
              <a:blip r:embed="rId17"/>
              <a:stretch>
                <a:fillRect l="0" t="0" r="0" b="0"/>
              </a:stretch>
            </a:blipFill>
          </p:spPr>
        </p:sp>
        <p:sp>
          <p:nvSpPr>
            <p:cNvPr name="Freeform 18" id="18"/>
            <p:cNvSpPr/>
            <p:nvPr/>
          </p:nvSpPr>
          <p:spPr>
            <a:xfrm flipH="false" flipV="false" rot="0">
              <a:off x="0" y="4107999"/>
              <a:ext cx="2073168" cy="2073168"/>
            </a:xfrm>
            <a:custGeom>
              <a:avLst/>
              <a:gdLst/>
              <a:ahLst/>
              <a:cxnLst/>
              <a:rect r="r" b="b" t="t" l="l"/>
              <a:pathLst>
                <a:path h="2073168" w="2073168">
                  <a:moveTo>
                    <a:pt x="0" y="0"/>
                  </a:moveTo>
                  <a:lnTo>
                    <a:pt x="2073168" y="0"/>
                  </a:lnTo>
                  <a:lnTo>
                    <a:pt x="2073168" y="2073168"/>
                  </a:lnTo>
                  <a:lnTo>
                    <a:pt x="0" y="2073168"/>
                  </a:lnTo>
                  <a:lnTo>
                    <a:pt x="0" y="0"/>
                  </a:lnTo>
                  <a:close/>
                </a:path>
              </a:pathLst>
            </a:custGeom>
            <a:blipFill>
              <a:blip r:embed="rId18"/>
              <a:stretch>
                <a:fillRect l="0" t="0" r="0" b="0"/>
              </a:stretch>
            </a:blipFill>
          </p:spPr>
        </p:sp>
        <p:sp>
          <p:nvSpPr>
            <p:cNvPr name="Freeform 19" id="19"/>
            <p:cNvSpPr/>
            <p:nvPr/>
          </p:nvSpPr>
          <p:spPr>
            <a:xfrm flipH="false" flipV="false" rot="0">
              <a:off x="3002615" y="3964805"/>
              <a:ext cx="3983263" cy="833987"/>
            </a:xfrm>
            <a:custGeom>
              <a:avLst/>
              <a:gdLst/>
              <a:ahLst/>
              <a:cxnLst/>
              <a:rect r="r" b="b" t="t" l="l"/>
              <a:pathLst>
                <a:path h="833987" w="3983263">
                  <a:moveTo>
                    <a:pt x="0" y="0"/>
                  </a:moveTo>
                  <a:lnTo>
                    <a:pt x="3983264" y="0"/>
                  </a:lnTo>
                  <a:lnTo>
                    <a:pt x="3983264" y="833987"/>
                  </a:lnTo>
                  <a:lnTo>
                    <a:pt x="0" y="833987"/>
                  </a:lnTo>
                  <a:lnTo>
                    <a:pt x="0" y="0"/>
                  </a:lnTo>
                  <a:close/>
                </a:path>
              </a:pathLst>
            </a:custGeom>
            <a:blipFill>
              <a:blip r:embed="rId19"/>
              <a:stretch>
                <a:fillRect l="0" t="0" r="0" b="-13434"/>
              </a:stretch>
            </a:blipFill>
          </p:spPr>
        </p:sp>
        <p:sp>
          <p:nvSpPr>
            <p:cNvPr name="Freeform 20" id="20"/>
            <p:cNvSpPr/>
            <p:nvPr/>
          </p:nvSpPr>
          <p:spPr>
            <a:xfrm flipH="false" flipV="false" rot="0">
              <a:off x="12644630" y="72856"/>
              <a:ext cx="5279025" cy="1055805"/>
            </a:xfrm>
            <a:custGeom>
              <a:avLst/>
              <a:gdLst/>
              <a:ahLst/>
              <a:cxnLst/>
              <a:rect r="r" b="b" t="t" l="l"/>
              <a:pathLst>
                <a:path h="1055805" w="5279025">
                  <a:moveTo>
                    <a:pt x="0" y="0"/>
                  </a:moveTo>
                  <a:lnTo>
                    <a:pt x="5279025" y="0"/>
                  </a:lnTo>
                  <a:lnTo>
                    <a:pt x="5279025" y="1055805"/>
                  </a:lnTo>
                  <a:lnTo>
                    <a:pt x="0" y="1055805"/>
                  </a:lnTo>
                  <a:lnTo>
                    <a:pt x="0" y="0"/>
                  </a:lnTo>
                  <a:close/>
                </a:path>
              </a:pathLst>
            </a:custGeom>
            <a:blipFill>
              <a:blip r:embed="rId20"/>
              <a:stretch>
                <a:fillRect l="0" t="0" r="0" b="0"/>
              </a:stretch>
            </a:blipFill>
          </p:spPr>
        </p:sp>
        <p:sp>
          <p:nvSpPr>
            <p:cNvPr name="Freeform 21" id="21"/>
            <p:cNvSpPr/>
            <p:nvPr/>
          </p:nvSpPr>
          <p:spPr>
            <a:xfrm flipH="false" flipV="false" rot="0">
              <a:off x="9878744" y="6770320"/>
              <a:ext cx="3325889" cy="997767"/>
            </a:xfrm>
            <a:custGeom>
              <a:avLst/>
              <a:gdLst/>
              <a:ahLst/>
              <a:cxnLst/>
              <a:rect r="r" b="b" t="t" l="l"/>
              <a:pathLst>
                <a:path h="997767" w="3325889">
                  <a:moveTo>
                    <a:pt x="0" y="0"/>
                  </a:moveTo>
                  <a:lnTo>
                    <a:pt x="3325889" y="0"/>
                  </a:lnTo>
                  <a:lnTo>
                    <a:pt x="3325889" y="997766"/>
                  </a:lnTo>
                  <a:lnTo>
                    <a:pt x="0" y="997766"/>
                  </a:lnTo>
                  <a:lnTo>
                    <a:pt x="0" y="0"/>
                  </a:lnTo>
                  <a:close/>
                </a:path>
              </a:pathLst>
            </a:custGeom>
            <a:blipFill>
              <a:blip r:embed="rId21"/>
              <a:stretch>
                <a:fillRect l="0" t="0" r="0" b="0"/>
              </a:stretch>
            </a:blipFill>
          </p:spPr>
        </p:sp>
        <p:sp>
          <p:nvSpPr>
            <p:cNvPr name="Freeform 22" id="22"/>
            <p:cNvSpPr/>
            <p:nvPr/>
          </p:nvSpPr>
          <p:spPr>
            <a:xfrm flipH="false" flipV="false" rot="0">
              <a:off x="5428063" y="7081820"/>
              <a:ext cx="1729415" cy="1729415"/>
            </a:xfrm>
            <a:custGeom>
              <a:avLst/>
              <a:gdLst/>
              <a:ahLst/>
              <a:cxnLst/>
              <a:rect r="r" b="b" t="t" l="l"/>
              <a:pathLst>
                <a:path h="1729415" w="1729415">
                  <a:moveTo>
                    <a:pt x="0" y="0"/>
                  </a:moveTo>
                  <a:lnTo>
                    <a:pt x="1729416" y="0"/>
                  </a:lnTo>
                  <a:lnTo>
                    <a:pt x="1729416" y="1729415"/>
                  </a:lnTo>
                  <a:lnTo>
                    <a:pt x="0" y="1729415"/>
                  </a:lnTo>
                  <a:lnTo>
                    <a:pt x="0" y="0"/>
                  </a:lnTo>
                  <a:close/>
                </a:path>
              </a:pathLst>
            </a:custGeom>
            <a:blipFill>
              <a:blip r:embed="rId22"/>
              <a:stretch>
                <a:fillRect l="0" t="0" r="0" b="0"/>
              </a:stretch>
            </a:blipFill>
          </p:spPr>
        </p:sp>
        <p:sp>
          <p:nvSpPr>
            <p:cNvPr name="Freeform 23" id="23"/>
            <p:cNvSpPr/>
            <p:nvPr/>
          </p:nvSpPr>
          <p:spPr>
            <a:xfrm flipH="false" flipV="false" rot="0">
              <a:off x="457087" y="6818698"/>
              <a:ext cx="1889281" cy="1584635"/>
            </a:xfrm>
            <a:custGeom>
              <a:avLst/>
              <a:gdLst/>
              <a:ahLst/>
              <a:cxnLst/>
              <a:rect r="r" b="b" t="t" l="l"/>
              <a:pathLst>
                <a:path h="1584635" w="1889281">
                  <a:moveTo>
                    <a:pt x="0" y="0"/>
                  </a:moveTo>
                  <a:lnTo>
                    <a:pt x="1889281" y="0"/>
                  </a:lnTo>
                  <a:lnTo>
                    <a:pt x="1889281" y="1584635"/>
                  </a:lnTo>
                  <a:lnTo>
                    <a:pt x="0" y="1584635"/>
                  </a:lnTo>
                  <a:lnTo>
                    <a:pt x="0" y="0"/>
                  </a:lnTo>
                  <a:close/>
                </a:path>
              </a:pathLst>
            </a:custGeom>
            <a:blipFill>
              <a:blip r:embed="rId23"/>
              <a:stretch>
                <a:fillRect l="0" t="0" r="0" b="0"/>
              </a:stretch>
            </a:blipFill>
          </p:spPr>
        </p:sp>
      </p:grpSp>
      <p:sp>
        <p:nvSpPr>
          <p:cNvPr name="Freeform 24" id="24"/>
          <p:cNvSpPr/>
          <p:nvPr/>
        </p:nvSpPr>
        <p:spPr>
          <a:xfrm flipH="false" flipV="false" rot="0">
            <a:off x="11446499" y="9699564"/>
            <a:ext cx="7315200" cy="795528"/>
          </a:xfrm>
          <a:custGeom>
            <a:avLst/>
            <a:gdLst/>
            <a:ahLst/>
            <a:cxnLst/>
            <a:rect r="r" b="b" t="t" l="l"/>
            <a:pathLst>
              <a:path h="795528" w="7315200">
                <a:moveTo>
                  <a:pt x="0" y="0"/>
                </a:moveTo>
                <a:lnTo>
                  <a:pt x="7315200" y="0"/>
                </a:lnTo>
                <a:lnTo>
                  <a:pt x="7315200" y="795528"/>
                </a:lnTo>
                <a:lnTo>
                  <a:pt x="0" y="795528"/>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5" id="25"/>
          <p:cNvSpPr/>
          <p:nvPr/>
        </p:nvSpPr>
        <p:spPr>
          <a:xfrm flipH="false" flipV="false" rot="0">
            <a:off x="4635722" y="9699564"/>
            <a:ext cx="7315200" cy="795528"/>
          </a:xfrm>
          <a:custGeom>
            <a:avLst/>
            <a:gdLst/>
            <a:ahLst/>
            <a:cxnLst/>
            <a:rect r="r" b="b" t="t" l="l"/>
            <a:pathLst>
              <a:path h="795528" w="7315200">
                <a:moveTo>
                  <a:pt x="0" y="0"/>
                </a:moveTo>
                <a:lnTo>
                  <a:pt x="7315200" y="0"/>
                </a:lnTo>
                <a:lnTo>
                  <a:pt x="7315200" y="795528"/>
                </a:lnTo>
                <a:lnTo>
                  <a:pt x="0" y="795528"/>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6" id="26"/>
          <p:cNvSpPr/>
          <p:nvPr/>
        </p:nvSpPr>
        <p:spPr>
          <a:xfrm flipH="false" flipV="false" rot="0">
            <a:off x="-703048" y="9699564"/>
            <a:ext cx="7315200" cy="795528"/>
          </a:xfrm>
          <a:custGeom>
            <a:avLst/>
            <a:gdLst/>
            <a:ahLst/>
            <a:cxnLst/>
            <a:rect r="r" b="b" t="t" l="l"/>
            <a:pathLst>
              <a:path h="795528" w="7315200">
                <a:moveTo>
                  <a:pt x="0" y="0"/>
                </a:moveTo>
                <a:lnTo>
                  <a:pt x="7315200" y="0"/>
                </a:lnTo>
                <a:lnTo>
                  <a:pt x="7315200" y="795528"/>
                </a:lnTo>
                <a:lnTo>
                  <a:pt x="0" y="795528"/>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grpSp>
        <p:nvGrpSpPr>
          <p:cNvPr name="Group 27" id="27"/>
          <p:cNvGrpSpPr/>
          <p:nvPr/>
        </p:nvGrpSpPr>
        <p:grpSpPr>
          <a:xfrm rot="0">
            <a:off x="1028700" y="1028700"/>
            <a:ext cx="6647108" cy="773361"/>
            <a:chOff x="0" y="0"/>
            <a:chExt cx="8862811" cy="1031148"/>
          </a:xfrm>
        </p:grpSpPr>
        <p:grpSp>
          <p:nvGrpSpPr>
            <p:cNvPr name="Group 28" id="28"/>
            <p:cNvGrpSpPr/>
            <p:nvPr/>
          </p:nvGrpSpPr>
          <p:grpSpPr>
            <a:xfrm rot="0">
              <a:off x="0" y="914885"/>
              <a:ext cx="4523701" cy="116262"/>
              <a:chOff x="0" y="0"/>
              <a:chExt cx="893571" cy="22965"/>
            </a:xfrm>
          </p:grpSpPr>
          <p:sp>
            <p:nvSpPr>
              <p:cNvPr name="Freeform 29" id="29"/>
              <p:cNvSpPr/>
              <p:nvPr/>
            </p:nvSpPr>
            <p:spPr>
              <a:xfrm flipH="false" flipV="false" rot="0">
                <a:off x="0" y="0"/>
                <a:ext cx="893571" cy="22965"/>
              </a:xfrm>
              <a:custGeom>
                <a:avLst/>
                <a:gdLst/>
                <a:ahLst/>
                <a:cxnLst/>
                <a:rect r="r" b="b" t="t" l="l"/>
                <a:pathLst>
                  <a:path h="22965" w="893571">
                    <a:moveTo>
                      <a:pt x="11483" y="0"/>
                    </a:moveTo>
                    <a:lnTo>
                      <a:pt x="882088" y="0"/>
                    </a:lnTo>
                    <a:cubicBezTo>
                      <a:pt x="885133" y="0"/>
                      <a:pt x="888054" y="1210"/>
                      <a:pt x="890207" y="3363"/>
                    </a:cubicBezTo>
                    <a:cubicBezTo>
                      <a:pt x="892361" y="5517"/>
                      <a:pt x="893571" y="8437"/>
                      <a:pt x="893571" y="11483"/>
                    </a:cubicBezTo>
                    <a:lnTo>
                      <a:pt x="893571" y="11483"/>
                    </a:lnTo>
                    <a:cubicBezTo>
                      <a:pt x="893571" y="14528"/>
                      <a:pt x="892361" y="17449"/>
                      <a:pt x="890207" y="19602"/>
                    </a:cubicBezTo>
                    <a:cubicBezTo>
                      <a:pt x="888054" y="21756"/>
                      <a:pt x="885133" y="22965"/>
                      <a:pt x="882088"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sp>
          <p:sp>
            <p:nvSpPr>
              <p:cNvPr name="TextBox 30" id="30"/>
              <p:cNvSpPr txBox="true"/>
              <p:nvPr/>
            </p:nvSpPr>
            <p:spPr>
              <a:xfrm>
                <a:off x="0" y="-38100"/>
                <a:ext cx="893571" cy="61065"/>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0">
              <a:off x="0" y="-19050"/>
              <a:ext cx="8862811" cy="735705"/>
            </a:xfrm>
            <a:prstGeom prst="rect">
              <a:avLst/>
            </a:prstGeom>
          </p:spPr>
          <p:txBody>
            <a:bodyPr anchor="t" rtlCol="false" tIns="0" lIns="0" bIns="0" rIns="0">
              <a:spAutoFit/>
            </a:bodyPr>
            <a:lstStyle/>
            <a:p>
              <a:pPr algn="l">
                <a:lnSpc>
                  <a:spcPts val="4181"/>
                </a:lnSpc>
              </a:pPr>
              <a:r>
                <a:rPr lang="en-US" sz="3573" b="true">
                  <a:solidFill>
                    <a:srgbClr val="1F2020"/>
                  </a:solidFill>
                  <a:latin typeface="Poppins Bold"/>
                  <a:ea typeface="Poppins Bold"/>
                  <a:cs typeface="Poppins Bold"/>
                  <a:sym typeface="Poppins Bold"/>
                </a:rPr>
                <a:t>Global Customer Network</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10643" y="2562438"/>
            <a:ext cx="3496759" cy="87197"/>
            <a:chOff x="0" y="0"/>
            <a:chExt cx="920957" cy="22965"/>
          </a:xfrm>
        </p:grpSpPr>
        <p:sp>
          <p:nvSpPr>
            <p:cNvPr name="Freeform 3" id="3"/>
            <p:cNvSpPr/>
            <p:nvPr/>
          </p:nvSpPr>
          <p:spPr>
            <a:xfrm flipH="false" flipV="false" rot="0">
              <a:off x="0" y="0"/>
              <a:ext cx="920957" cy="22965"/>
            </a:xfrm>
            <a:custGeom>
              <a:avLst/>
              <a:gdLst/>
              <a:ahLst/>
              <a:cxnLst/>
              <a:rect r="r" b="b" t="t" l="l"/>
              <a:pathLst>
                <a:path h="22965" w="920957">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sp>
        <p:sp>
          <p:nvSpPr>
            <p:cNvPr name="TextBox 4" id="4"/>
            <p:cNvSpPr txBox="true"/>
            <p:nvPr/>
          </p:nvSpPr>
          <p:spPr>
            <a:xfrm>
              <a:off x="0" y="-38100"/>
              <a:ext cx="920957" cy="6106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10643" y="2949949"/>
            <a:ext cx="677751" cy="67775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73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8" id="8"/>
          <p:cNvSpPr txBox="true"/>
          <p:nvPr/>
        </p:nvSpPr>
        <p:spPr>
          <a:xfrm rot="0">
            <a:off x="901463" y="5279003"/>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graphicFrame>
        <p:nvGraphicFramePr>
          <p:cNvPr name="Table 9" id="9"/>
          <p:cNvGraphicFramePr>
            <a:graphicFrameLocks noGrp="true"/>
          </p:cNvGraphicFramePr>
          <p:nvPr/>
        </p:nvGraphicFramePr>
        <p:xfrm>
          <a:off x="901463" y="5695317"/>
          <a:ext cx="6360334" cy="2902435"/>
        </p:xfrm>
        <a:graphic>
          <a:graphicData uri="http://schemas.openxmlformats.org/drawingml/2006/table">
            <a:tbl>
              <a:tblPr/>
              <a:tblGrid>
                <a:gridCol w="2860257"/>
                <a:gridCol w="3500077"/>
              </a:tblGrid>
              <a:tr h="1386622">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Product Type</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c>
                  <a:txBody>
                    <a:bodyPr anchor="t" rtlCol="false"/>
                    <a:lstStyle/>
                    <a:p>
                      <a:pPr algn="ctr">
                        <a:lnSpc>
                          <a:spcPts val="2659"/>
                        </a:lnSpc>
                        <a:defRPr/>
                      </a:pPr>
                      <a:endParaRPr lang="en-US" sz="1100"/>
                    </a:p>
                    <a:p>
                      <a:pPr algn="ctr">
                        <a:lnSpc>
                          <a:spcPts val="2659"/>
                        </a:lnSpc>
                      </a:pPr>
                      <a:r>
                        <a:rPr lang="en-US" sz="1899" b="true">
                          <a:solidFill>
                            <a:srgbClr val="FFFFFF"/>
                          </a:solidFill>
                          <a:latin typeface="Canva Sans Bold"/>
                          <a:ea typeface="Canva Sans Bold"/>
                          <a:cs typeface="Canva Sans Bold"/>
                          <a:sym typeface="Canva Sans Bold"/>
                        </a:rPr>
                        <a:t>Order Count</a:t>
                      </a:r>
                    </a:p>
                    <a:p>
                      <a:pPr algn="ctr">
                        <a:lnSpc>
                          <a:spcPts val="2659"/>
                        </a:lnSpc>
                      </a:pPr>
                      <a:r>
                        <a:rPr lang="en-US" sz="1899" b="true">
                          <a:solidFill>
                            <a:srgbClr val="FFFFFF"/>
                          </a:solidFill>
                          <a:latin typeface="Canva Sans Bold"/>
                          <a:ea typeface="Canva Sans Bold"/>
                          <a:cs typeface="Canva Sans Bold"/>
                          <a:sym typeface="Canva Sans Bold"/>
                        </a:rPr>
                        <a:t>  </a:t>
                      </a:r>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r>
              <a:tr h="495969">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Standard</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1,938,346</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09922">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Gloss</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1,013,773</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09922">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Poster</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723,646</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Freeform 10" id="10"/>
          <p:cNvSpPr/>
          <p:nvPr/>
        </p:nvSpPr>
        <p:spPr>
          <a:xfrm flipH="false" flipV="false" rot="0">
            <a:off x="9009770" y="2177458"/>
            <a:ext cx="8465214" cy="6667504"/>
          </a:xfrm>
          <a:custGeom>
            <a:avLst/>
            <a:gdLst/>
            <a:ahLst/>
            <a:cxnLst/>
            <a:rect r="r" b="b" t="t" l="l"/>
            <a:pathLst>
              <a:path h="6667504" w="8465214">
                <a:moveTo>
                  <a:pt x="0" y="0"/>
                </a:moveTo>
                <a:lnTo>
                  <a:pt x="8465214" y="0"/>
                </a:lnTo>
                <a:lnTo>
                  <a:pt x="8465214" y="6667504"/>
                </a:lnTo>
                <a:lnTo>
                  <a:pt x="0" y="6667504"/>
                </a:lnTo>
                <a:lnTo>
                  <a:pt x="0" y="0"/>
                </a:lnTo>
                <a:close/>
              </a:path>
            </a:pathLst>
          </a:custGeom>
          <a:blipFill>
            <a:blip r:embed="rId3"/>
            <a:stretch>
              <a:fillRect l="0" t="-11029" r="0" b="-10695"/>
            </a:stretch>
          </a:blipFill>
        </p:spPr>
      </p:sp>
      <p:sp>
        <p:nvSpPr>
          <p:cNvPr name="TextBox 11" id="11"/>
          <p:cNvSpPr txBox="true"/>
          <p:nvPr/>
        </p:nvSpPr>
        <p:spPr>
          <a:xfrm rot="0">
            <a:off x="810643" y="1260365"/>
            <a:ext cx="5312952" cy="1080416"/>
          </a:xfrm>
          <a:prstGeom prst="rect">
            <a:avLst/>
          </a:prstGeom>
        </p:spPr>
        <p:txBody>
          <a:bodyPr anchor="t" rtlCol="false" tIns="0" lIns="0" bIns="0" rIns="0">
            <a:spAutoFit/>
          </a:bodyPr>
          <a:lstStyle/>
          <a:p>
            <a:pPr algn="l">
              <a:lnSpc>
                <a:spcPts val="4181"/>
              </a:lnSpc>
            </a:pPr>
            <a:r>
              <a:rPr lang="en-US" sz="3573" b="true">
                <a:solidFill>
                  <a:srgbClr val="1F2020"/>
                </a:solidFill>
                <a:latin typeface="Poppins Bold"/>
                <a:ea typeface="Poppins Bold"/>
                <a:cs typeface="Poppins Bold"/>
                <a:sym typeface="Poppins Bold"/>
              </a:rPr>
              <a:t>Product Popularity by Order Count</a:t>
            </a:r>
          </a:p>
        </p:txBody>
      </p:sp>
      <p:sp>
        <p:nvSpPr>
          <p:cNvPr name="TextBox 12" id="12"/>
          <p:cNvSpPr txBox="true"/>
          <p:nvPr/>
        </p:nvSpPr>
        <p:spPr>
          <a:xfrm rot="0">
            <a:off x="1693010" y="2993052"/>
            <a:ext cx="5838485" cy="2446046"/>
          </a:xfrm>
          <a:prstGeom prst="rect">
            <a:avLst/>
          </a:prstGeom>
        </p:spPr>
        <p:txBody>
          <a:bodyPr anchor="t" rtlCol="false" tIns="0" lIns="0" bIns="0" rIns="0">
            <a:spAutoFit/>
          </a:bodyPr>
          <a:lstStyle/>
          <a:p>
            <a:pPr algn="l">
              <a:lnSpc>
                <a:spcPts val="3253"/>
              </a:lnSpc>
            </a:pPr>
            <a:r>
              <a:rPr lang="en-US" sz="2323" i="true">
                <a:solidFill>
                  <a:srgbClr val="1F2020"/>
                </a:solidFill>
                <a:latin typeface="Open Sans Italics"/>
                <a:ea typeface="Open Sans Italics"/>
                <a:cs typeface="Open Sans Italics"/>
                <a:sym typeface="Open Sans Italics"/>
              </a:rPr>
              <a:t>To determine product popularity, count the number of unique orders where the product quantity is greater than zero. This reveals how often each product is ordered, helping to identify high-demand items.</a:t>
            </a:r>
          </a:p>
          <a:p>
            <a:pPr algn="l">
              <a:lnSpc>
                <a:spcPts val="3253"/>
              </a:lnSpc>
              <a:spcBef>
                <a:spcPct val="0"/>
              </a:spcBef>
            </a:pPr>
          </a:p>
        </p:txBody>
      </p:sp>
      <p:sp>
        <p:nvSpPr>
          <p:cNvPr name="TextBox 13" id="13"/>
          <p:cNvSpPr txBox="true"/>
          <p:nvPr/>
        </p:nvSpPr>
        <p:spPr>
          <a:xfrm rot="0">
            <a:off x="901463" y="312594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177932" y="8597752"/>
            <a:ext cx="110068" cy="660548"/>
            <a:chOff x="0" y="0"/>
            <a:chExt cx="28989" cy="173972"/>
          </a:xfrm>
        </p:grpSpPr>
        <p:sp>
          <p:nvSpPr>
            <p:cNvPr name="Freeform 3" id="3"/>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FF7300"/>
            </a:solidFill>
          </p:spPr>
        </p:sp>
        <p:sp>
          <p:nvSpPr>
            <p:cNvPr name="TextBox 4" id="4"/>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10643" y="2562438"/>
            <a:ext cx="3496759" cy="87197"/>
            <a:chOff x="0" y="0"/>
            <a:chExt cx="920957" cy="22965"/>
          </a:xfrm>
        </p:grpSpPr>
        <p:sp>
          <p:nvSpPr>
            <p:cNvPr name="Freeform 6" id="6"/>
            <p:cNvSpPr/>
            <p:nvPr/>
          </p:nvSpPr>
          <p:spPr>
            <a:xfrm flipH="false" flipV="false" rot="0">
              <a:off x="0" y="0"/>
              <a:ext cx="920957" cy="22965"/>
            </a:xfrm>
            <a:custGeom>
              <a:avLst/>
              <a:gdLst/>
              <a:ahLst/>
              <a:cxnLst/>
              <a:rect r="r" b="b" t="t" l="l"/>
              <a:pathLst>
                <a:path h="22965" w="920957">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sp>
        <p:sp>
          <p:nvSpPr>
            <p:cNvPr name="TextBox 7" id="7"/>
            <p:cNvSpPr txBox="true"/>
            <p:nvPr/>
          </p:nvSpPr>
          <p:spPr>
            <a:xfrm>
              <a:off x="0" y="-38100"/>
              <a:ext cx="920957" cy="6106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810643" y="2949949"/>
            <a:ext cx="677751" cy="67775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7300"/>
            </a:solidFill>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11" id="11"/>
          <p:cNvSpPr txBox="true"/>
          <p:nvPr/>
        </p:nvSpPr>
        <p:spPr>
          <a:xfrm rot="0">
            <a:off x="901463" y="5279003"/>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graphicFrame>
        <p:nvGraphicFramePr>
          <p:cNvPr name="Table 12" id="12"/>
          <p:cNvGraphicFramePr>
            <a:graphicFrameLocks noGrp="true"/>
          </p:cNvGraphicFramePr>
          <p:nvPr/>
        </p:nvGraphicFramePr>
        <p:xfrm>
          <a:off x="1028700" y="5695317"/>
          <a:ext cx="6360334" cy="2902435"/>
        </p:xfrm>
        <a:graphic>
          <a:graphicData uri="http://schemas.openxmlformats.org/drawingml/2006/table">
            <a:tbl>
              <a:tblPr/>
              <a:tblGrid>
                <a:gridCol w="2860257"/>
                <a:gridCol w="3500077"/>
              </a:tblGrid>
              <a:tr h="1386622">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Product Type</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c>
                  <a:txBody>
                    <a:bodyPr anchor="t" rtlCol="false"/>
                    <a:lstStyle/>
                    <a:p>
                      <a:pPr algn="ctr">
                        <a:lnSpc>
                          <a:spcPts val="2659"/>
                        </a:lnSpc>
                        <a:defRPr/>
                      </a:pPr>
                      <a:endParaRPr lang="en-US" sz="1100"/>
                    </a:p>
                    <a:p>
                      <a:pPr algn="ctr">
                        <a:lnSpc>
                          <a:spcPts val="2659"/>
                        </a:lnSpc>
                      </a:pPr>
                      <a:r>
                        <a:rPr lang="en-US" sz="1899" b="true">
                          <a:solidFill>
                            <a:srgbClr val="FFFFFF"/>
                          </a:solidFill>
                          <a:latin typeface="Canva Sans Bold"/>
                          <a:ea typeface="Canva Sans Bold"/>
                          <a:cs typeface="Canva Sans Bold"/>
                          <a:sym typeface="Canva Sans Bold"/>
                        </a:rPr>
                        <a:t>Total Revenue</a:t>
                      </a:r>
                    </a:p>
                    <a:p>
                      <a:pPr algn="ctr">
                        <a:lnSpc>
                          <a:spcPts val="2659"/>
                        </a:lnSpc>
                      </a:pPr>
                      <a:r>
                        <a:rPr lang="en-US" sz="1899" b="true">
                          <a:solidFill>
                            <a:srgbClr val="FFFFFF"/>
                          </a:solidFill>
                          <a:latin typeface="Canva Sans Bold"/>
                          <a:ea typeface="Canva Sans Bold"/>
                          <a:cs typeface="Canva Sans Bold"/>
                          <a:sym typeface="Canva Sans Bold"/>
                        </a:rPr>
                        <a:t>  </a:t>
                      </a:r>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r>
              <a:tr h="495969">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Standard</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9,672,346.54</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09922">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Gloss</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7,593,159.77</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09922">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Poster</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5,876,005.52</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Freeform 13" id="13"/>
          <p:cNvSpPr/>
          <p:nvPr/>
        </p:nvSpPr>
        <p:spPr>
          <a:xfrm flipH="false" flipV="false" rot="0">
            <a:off x="8999563" y="2177458"/>
            <a:ext cx="8137231" cy="6606241"/>
          </a:xfrm>
          <a:custGeom>
            <a:avLst/>
            <a:gdLst/>
            <a:ahLst/>
            <a:cxnLst/>
            <a:rect r="r" b="b" t="t" l="l"/>
            <a:pathLst>
              <a:path h="6606241" w="8137231">
                <a:moveTo>
                  <a:pt x="0" y="0"/>
                </a:moveTo>
                <a:lnTo>
                  <a:pt x="8137230" y="0"/>
                </a:lnTo>
                <a:lnTo>
                  <a:pt x="8137230" y="6606241"/>
                </a:lnTo>
                <a:lnTo>
                  <a:pt x="0" y="6606241"/>
                </a:lnTo>
                <a:lnTo>
                  <a:pt x="0" y="0"/>
                </a:lnTo>
                <a:close/>
              </a:path>
            </a:pathLst>
          </a:custGeom>
          <a:blipFill>
            <a:blip r:embed="rId3"/>
            <a:stretch>
              <a:fillRect l="-966" t="-13655" r="-1505" b="-4202"/>
            </a:stretch>
          </a:blipFill>
        </p:spPr>
      </p:sp>
      <p:sp>
        <p:nvSpPr>
          <p:cNvPr name="TextBox 14" id="14"/>
          <p:cNvSpPr txBox="true"/>
          <p:nvPr/>
        </p:nvSpPr>
        <p:spPr>
          <a:xfrm rot="0">
            <a:off x="810643" y="1260365"/>
            <a:ext cx="5312952" cy="1080416"/>
          </a:xfrm>
          <a:prstGeom prst="rect">
            <a:avLst/>
          </a:prstGeom>
        </p:spPr>
        <p:txBody>
          <a:bodyPr anchor="t" rtlCol="false" tIns="0" lIns="0" bIns="0" rIns="0">
            <a:spAutoFit/>
          </a:bodyPr>
          <a:lstStyle/>
          <a:p>
            <a:pPr algn="l">
              <a:lnSpc>
                <a:spcPts val="4181"/>
              </a:lnSpc>
            </a:pPr>
            <a:r>
              <a:rPr lang="en-US" sz="3573" b="true">
                <a:solidFill>
                  <a:srgbClr val="1F2020"/>
                </a:solidFill>
                <a:latin typeface="Poppins Bold"/>
                <a:ea typeface="Poppins Bold"/>
                <a:cs typeface="Poppins Bold"/>
                <a:sym typeface="Poppins Bold"/>
              </a:rPr>
              <a:t>Revenue Contribution  by Product Type</a:t>
            </a:r>
          </a:p>
        </p:txBody>
      </p:sp>
      <p:sp>
        <p:nvSpPr>
          <p:cNvPr name="TextBox 15" id="15"/>
          <p:cNvSpPr txBox="true"/>
          <p:nvPr/>
        </p:nvSpPr>
        <p:spPr>
          <a:xfrm rot="0">
            <a:off x="2026327" y="2993052"/>
            <a:ext cx="5838485" cy="2036471"/>
          </a:xfrm>
          <a:prstGeom prst="rect">
            <a:avLst/>
          </a:prstGeom>
        </p:spPr>
        <p:txBody>
          <a:bodyPr anchor="t" rtlCol="false" tIns="0" lIns="0" bIns="0" rIns="0">
            <a:spAutoFit/>
          </a:bodyPr>
          <a:lstStyle/>
          <a:p>
            <a:pPr algn="l">
              <a:lnSpc>
                <a:spcPts val="3253"/>
              </a:lnSpc>
            </a:pPr>
            <a:r>
              <a:rPr lang="en-US" sz="2323" i="true">
                <a:solidFill>
                  <a:srgbClr val="1F2020"/>
                </a:solidFill>
                <a:latin typeface="Open Sans Italics"/>
                <a:ea typeface="Open Sans Italics"/>
                <a:cs typeface="Open Sans Italics"/>
                <a:sym typeface="Open Sans Italics"/>
              </a:rPr>
              <a:t>The pie chart shows the revenue share of each product type.</a:t>
            </a:r>
          </a:p>
          <a:p>
            <a:pPr algn="l">
              <a:lnSpc>
                <a:spcPts val="3253"/>
              </a:lnSpc>
            </a:pPr>
            <a:r>
              <a:rPr lang="en-US" sz="2323" i="true">
                <a:solidFill>
                  <a:srgbClr val="1F2020"/>
                </a:solidFill>
                <a:latin typeface="Open Sans Italics"/>
                <a:ea typeface="Open Sans Italics"/>
                <a:cs typeface="Open Sans Italics"/>
                <a:sym typeface="Open Sans Italics"/>
              </a:rPr>
              <a:t>This highlights which products are the primary contributors to total revenue.</a:t>
            </a:r>
          </a:p>
          <a:p>
            <a:pPr algn="l">
              <a:lnSpc>
                <a:spcPts val="3253"/>
              </a:lnSpc>
              <a:spcBef>
                <a:spcPct val="0"/>
              </a:spcBef>
            </a:pPr>
          </a:p>
        </p:txBody>
      </p:sp>
      <p:sp>
        <p:nvSpPr>
          <p:cNvPr name="TextBox 16" id="16"/>
          <p:cNvSpPr txBox="true"/>
          <p:nvPr/>
        </p:nvSpPr>
        <p:spPr>
          <a:xfrm rot="0">
            <a:off x="901463" y="312594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177932" y="8597752"/>
            <a:ext cx="110068" cy="660548"/>
            <a:chOff x="0" y="0"/>
            <a:chExt cx="28989" cy="173972"/>
          </a:xfrm>
        </p:grpSpPr>
        <p:sp>
          <p:nvSpPr>
            <p:cNvPr name="Freeform 3" id="3"/>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FF7300"/>
            </a:solidFill>
          </p:spPr>
        </p:sp>
        <p:sp>
          <p:nvSpPr>
            <p:cNvPr name="TextBox 4" id="4"/>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10643" y="2562438"/>
            <a:ext cx="3496759" cy="87197"/>
            <a:chOff x="0" y="0"/>
            <a:chExt cx="920957" cy="22965"/>
          </a:xfrm>
        </p:grpSpPr>
        <p:sp>
          <p:nvSpPr>
            <p:cNvPr name="Freeform 6" id="6"/>
            <p:cNvSpPr/>
            <p:nvPr/>
          </p:nvSpPr>
          <p:spPr>
            <a:xfrm flipH="false" flipV="false" rot="0">
              <a:off x="0" y="0"/>
              <a:ext cx="920957" cy="22965"/>
            </a:xfrm>
            <a:custGeom>
              <a:avLst/>
              <a:gdLst/>
              <a:ahLst/>
              <a:cxnLst/>
              <a:rect r="r" b="b" t="t" l="l"/>
              <a:pathLst>
                <a:path h="22965" w="920957">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sp>
        <p:sp>
          <p:nvSpPr>
            <p:cNvPr name="TextBox 7" id="7"/>
            <p:cNvSpPr txBox="true"/>
            <p:nvPr/>
          </p:nvSpPr>
          <p:spPr>
            <a:xfrm>
              <a:off x="0" y="-38100"/>
              <a:ext cx="920957" cy="6106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810643" y="2949949"/>
            <a:ext cx="677751" cy="67775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7300"/>
            </a:solidFill>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1" id="11"/>
          <p:cNvSpPr/>
          <p:nvPr/>
        </p:nvSpPr>
        <p:spPr>
          <a:xfrm flipH="false" flipV="false" rot="0">
            <a:off x="7403671" y="2970006"/>
            <a:ext cx="10041789" cy="5627746"/>
          </a:xfrm>
          <a:custGeom>
            <a:avLst/>
            <a:gdLst/>
            <a:ahLst/>
            <a:cxnLst/>
            <a:rect r="r" b="b" t="t" l="l"/>
            <a:pathLst>
              <a:path h="5627746" w="10041789">
                <a:moveTo>
                  <a:pt x="0" y="0"/>
                </a:moveTo>
                <a:lnTo>
                  <a:pt x="10041789" y="0"/>
                </a:lnTo>
                <a:lnTo>
                  <a:pt x="10041789" y="5627746"/>
                </a:lnTo>
                <a:lnTo>
                  <a:pt x="0" y="5627746"/>
                </a:lnTo>
                <a:lnTo>
                  <a:pt x="0" y="0"/>
                </a:lnTo>
                <a:close/>
              </a:path>
            </a:pathLst>
          </a:custGeom>
          <a:blipFill>
            <a:blip r:embed="rId3"/>
            <a:stretch>
              <a:fillRect l="0" t="-10131" r="0" b="0"/>
            </a:stretch>
          </a:blipFill>
        </p:spPr>
      </p:sp>
      <p:sp>
        <p:nvSpPr>
          <p:cNvPr name="TextBox 12" id="12"/>
          <p:cNvSpPr txBox="true"/>
          <p:nvPr/>
        </p:nvSpPr>
        <p:spPr>
          <a:xfrm rot="0">
            <a:off x="901463" y="5279003"/>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13" id="13"/>
          <p:cNvSpPr txBox="true"/>
          <p:nvPr/>
        </p:nvSpPr>
        <p:spPr>
          <a:xfrm rot="0">
            <a:off x="810643" y="1260365"/>
            <a:ext cx="7576725" cy="1080416"/>
          </a:xfrm>
          <a:prstGeom prst="rect">
            <a:avLst/>
          </a:prstGeom>
        </p:spPr>
        <p:txBody>
          <a:bodyPr anchor="t" rtlCol="false" tIns="0" lIns="0" bIns="0" rIns="0">
            <a:spAutoFit/>
          </a:bodyPr>
          <a:lstStyle/>
          <a:p>
            <a:pPr algn="l">
              <a:lnSpc>
                <a:spcPts val="4181"/>
              </a:lnSpc>
            </a:pPr>
            <a:r>
              <a:rPr lang="en-US" sz="3573" b="true">
                <a:solidFill>
                  <a:srgbClr val="1F2020"/>
                </a:solidFill>
                <a:latin typeface="Poppins Bold"/>
                <a:ea typeface="Poppins Bold"/>
                <a:cs typeface="Poppins Bold"/>
                <a:sym typeface="Poppins Bold"/>
              </a:rPr>
              <a:t>Revenue Contribution by Product Type for Sample Orders</a:t>
            </a:r>
          </a:p>
        </p:txBody>
      </p:sp>
      <p:sp>
        <p:nvSpPr>
          <p:cNvPr name="TextBox 14" id="14"/>
          <p:cNvSpPr txBox="true"/>
          <p:nvPr/>
        </p:nvSpPr>
        <p:spPr>
          <a:xfrm rot="0">
            <a:off x="1693010" y="2993052"/>
            <a:ext cx="5838485" cy="2446046"/>
          </a:xfrm>
          <a:prstGeom prst="rect">
            <a:avLst/>
          </a:prstGeom>
        </p:spPr>
        <p:txBody>
          <a:bodyPr anchor="t" rtlCol="false" tIns="0" lIns="0" bIns="0" rIns="0">
            <a:spAutoFit/>
          </a:bodyPr>
          <a:lstStyle/>
          <a:p>
            <a:pPr algn="l">
              <a:lnSpc>
                <a:spcPts val="3253"/>
              </a:lnSpc>
              <a:spcBef>
                <a:spcPct val="0"/>
              </a:spcBef>
            </a:pPr>
            <a:r>
              <a:rPr lang="en-US" sz="2323" i="true">
                <a:solidFill>
                  <a:srgbClr val="1F2020"/>
                </a:solidFill>
                <a:latin typeface="Open Sans Italics"/>
                <a:ea typeface="Open Sans Italics"/>
                <a:cs typeface="Open Sans Italics"/>
                <a:sym typeface="Open Sans Italics"/>
              </a:rPr>
              <a:t>This stacked bar chart shows how each product (Standard, Gloss, Poster) contributes to the revenue of individual orders. It highlights the varying revenue contributions, illustrating that some orders are more focused on certain products.</a:t>
            </a:r>
          </a:p>
        </p:txBody>
      </p:sp>
      <p:sp>
        <p:nvSpPr>
          <p:cNvPr name="TextBox 15" id="15"/>
          <p:cNvSpPr txBox="true"/>
          <p:nvPr/>
        </p:nvSpPr>
        <p:spPr>
          <a:xfrm rot="0">
            <a:off x="901463" y="312594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177932" y="8872565"/>
            <a:ext cx="110068" cy="660548"/>
            <a:chOff x="0" y="0"/>
            <a:chExt cx="28989" cy="173972"/>
          </a:xfrm>
        </p:grpSpPr>
        <p:sp>
          <p:nvSpPr>
            <p:cNvPr name="Freeform 3" id="3"/>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FF7300"/>
            </a:solidFill>
          </p:spPr>
        </p:sp>
        <p:sp>
          <p:nvSpPr>
            <p:cNvPr name="TextBox 4" id="4"/>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1696840" y="3214837"/>
            <a:ext cx="677751" cy="67775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73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8" id="8"/>
          <p:cNvGrpSpPr/>
          <p:nvPr/>
        </p:nvGrpSpPr>
        <p:grpSpPr>
          <a:xfrm rot="0">
            <a:off x="11696840" y="5842155"/>
            <a:ext cx="677751" cy="67775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7300"/>
            </a:solidFill>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1" id="11"/>
          <p:cNvGrpSpPr/>
          <p:nvPr/>
        </p:nvGrpSpPr>
        <p:grpSpPr>
          <a:xfrm rot="0">
            <a:off x="11696840" y="7542372"/>
            <a:ext cx="677751" cy="67775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7300"/>
            </a:solidFill>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4" id="14"/>
          <p:cNvGrpSpPr/>
          <p:nvPr/>
        </p:nvGrpSpPr>
        <p:grpSpPr>
          <a:xfrm rot="0">
            <a:off x="11519487" y="2732177"/>
            <a:ext cx="3496759" cy="87197"/>
            <a:chOff x="0" y="0"/>
            <a:chExt cx="920957" cy="22965"/>
          </a:xfrm>
        </p:grpSpPr>
        <p:sp>
          <p:nvSpPr>
            <p:cNvPr name="Freeform 15" id="15"/>
            <p:cNvSpPr/>
            <p:nvPr/>
          </p:nvSpPr>
          <p:spPr>
            <a:xfrm flipH="false" flipV="false" rot="0">
              <a:off x="0" y="0"/>
              <a:ext cx="920957" cy="22965"/>
            </a:xfrm>
            <a:custGeom>
              <a:avLst/>
              <a:gdLst/>
              <a:ahLst/>
              <a:cxnLst/>
              <a:rect r="r" b="b" t="t" l="l"/>
              <a:pathLst>
                <a:path h="22965" w="920957">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sp>
        <p:sp>
          <p:nvSpPr>
            <p:cNvPr name="TextBox 16" id="16"/>
            <p:cNvSpPr txBox="true"/>
            <p:nvPr/>
          </p:nvSpPr>
          <p:spPr>
            <a:xfrm>
              <a:off x="0" y="-38100"/>
              <a:ext cx="920957" cy="61065"/>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286229" y="2323417"/>
            <a:ext cx="9960557" cy="5623591"/>
          </a:xfrm>
          <a:custGeom>
            <a:avLst/>
            <a:gdLst/>
            <a:ahLst/>
            <a:cxnLst/>
            <a:rect r="r" b="b" t="t" l="l"/>
            <a:pathLst>
              <a:path h="5623591" w="9960557">
                <a:moveTo>
                  <a:pt x="0" y="0"/>
                </a:moveTo>
                <a:lnTo>
                  <a:pt x="9960558" y="0"/>
                </a:lnTo>
                <a:lnTo>
                  <a:pt x="9960558" y="5623592"/>
                </a:lnTo>
                <a:lnTo>
                  <a:pt x="0" y="5623592"/>
                </a:lnTo>
                <a:lnTo>
                  <a:pt x="0" y="0"/>
                </a:lnTo>
                <a:close/>
              </a:path>
            </a:pathLst>
          </a:custGeom>
          <a:blipFill>
            <a:blip r:embed="rId2"/>
            <a:stretch>
              <a:fillRect l="0" t="0" r="0" b="-294"/>
            </a:stretch>
          </a:blipFill>
        </p:spPr>
      </p:sp>
      <p:sp>
        <p:nvSpPr>
          <p:cNvPr name="Freeform 18" id="18"/>
          <p:cNvSpPr/>
          <p:nvPr/>
        </p:nvSpPr>
        <p:spPr>
          <a:xfrm flipH="false" flipV="false" rot="0">
            <a:off x="12526140" y="4006888"/>
            <a:ext cx="4136220" cy="1363503"/>
          </a:xfrm>
          <a:custGeom>
            <a:avLst/>
            <a:gdLst/>
            <a:ahLst/>
            <a:cxnLst/>
            <a:rect r="r" b="b" t="t" l="l"/>
            <a:pathLst>
              <a:path h="1363503" w="4136220">
                <a:moveTo>
                  <a:pt x="0" y="0"/>
                </a:moveTo>
                <a:lnTo>
                  <a:pt x="4136220" y="0"/>
                </a:lnTo>
                <a:lnTo>
                  <a:pt x="4136220" y="1363503"/>
                </a:lnTo>
                <a:lnTo>
                  <a:pt x="0" y="1363503"/>
                </a:lnTo>
                <a:lnTo>
                  <a:pt x="0" y="0"/>
                </a:lnTo>
                <a:close/>
              </a:path>
            </a:pathLst>
          </a:custGeom>
          <a:blipFill>
            <a:blip r:embed="rId3"/>
            <a:stretch>
              <a:fillRect l="-4266" t="0" r="0" b="0"/>
            </a:stretch>
          </a:blipFill>
        </p:spPr>
      </p:sp>
      <p:sp>
        <p:nvSpPr>
          <p:cNvPr name="TextBox 19" id="19"/>
          <p:cNvSpPr txBox="true"/>
          <p:nvPr/>
        </p:nvSpPr>
        <p:spPr>
          <a:xfrm rot="0">
            <a:off x="11503962" y="1983866"/>
            <a:ext cx="8073662" cy="546735"/>
          </a:xfrm>
          <a:prstGeom prst="rect">
            <a:avLst/>
          </a:prstGeom>
        </p:spPr>
        <p:txBody>
          <a:bodyPr anchor="t" rtlCol="false" tIns="0" lIns="0" bIns="0" rIns="0">
            <a:spAutoFit/>
          </a:bodyPr>
          <a:lstStyle/>
          <a:p>
            <a:pPr algn="l">
              <a:lnSpc>
                <a:spcPts val="4095"/>
              </a:lnSpc>
            </a:pPr>
            <a:r>
              <a:rPr lang="en-US" sz="3500" b="true">
                <a:solidFill>
                  <a:srgbClr val="1F2020"/>
                </a:solidFill>
                <a:latin typeface="Poppins Bold"/>
                <a:ea typeface="Poppins Bold"/>
                <a:cs typeface="Poppins Bold"/>
                <a:sym typeface="Poppins Bold"/>
              </a:rPr>
              <a:t>Parch &amp; Posey is growing</a:t>
            </a:r>
          </a:p>
        </p:txBody>
      </p:sp>
      <p:sp>
        <p:nvSpPr>
          <p:cNvPr name="TextBox 20" id="20"/>
          <p:cNvSpPr txBox="true"/>
          <p:nvPr/>
        </p:nvSpPr>
        <p:spPr>
          <a:xfrm rot="0">
            <a:off x="12739378" y="5819930"/>
            <a:ext cx="3709745" cy="1406525"/>
          </a:xfrm>
          <a:prstGeom prst="rect">
            <a:avLst/>
          </a:prstGeom>
        </p:spPr>
        <p:txBody>
          <a:bodyPr anchor="t" rtlCol="false" tIns="0" lIns="0" bIns="0" rIns="0">
            <a:spAutoFit/>
          </a:bodyPr>
          <a:lstStyle/>
          <a:p>
            <a:pPr algn="l">
              <a:lnSpc>
                <a:spcPts val="2800"/>
              </a:lnSpc>
            </a:pPr>
            <a:r>
              <a:rPr lang="en-US" sz="2000">
                <a:solidFill>
                  <a:srgbClr val="1F2020"/>
                </a:solidFill>
                <a:latin typeface="Open Sans"/>
                <a:ea typeface="Open Sans"/>
                <a:cs typeface="Open Sans"/>
                <a:sym typeface="Open Sans"/>
              </a:rPr>
              <a:t>Yearly growth(USD) rate :</a:t>
            </a:r>
          </a:p>
          <a:p>
            <a:pPr algn="l" marL="431801" indent="-215900" lvl="1">
              <a:lnSpc>
                <a:spcPts val="2800"/>
              </a:lnSpc>
              <a:buFont typeface="Arial"/>
              <a:buChar char="•"/>
            </a:pPr>
            <a:r>
              <a:rPr lang="en-US" sz="2000">
                <a:solidFill>
                  <a:srgbClr val="1F2020"/>
                </a:solidFill>
                <a:latin typeface="Open Sans"/>
                <a:ea typeface="Open Sans"/>
                <a:cs typeface="Open Sans"/>
                <a:sym typeface="Open Sans"/>
              </a:rPr>
              <a:t>2014 - 2015 : 41.4%</a:t>
            </a:r>
          </a:p>
          <a:p>
            <a:pPr algn="l" marL="431801" indent="-215900" lvl="1">
              <a:lnSpc>
                <a:spcPts val="2800"/>
              </a:lnSpc>
              <a:buFont typeface="Arial"/>
              <a:buChar char="•"/>
            </a:pPr>
            <a:r>
              <a:rPr lang="en-US" sz="2000">
                <a:solidFill>
                  <a:srgbClr val="1F2020"/>
                </a:solidFill>
                <a:latin typeface="Open Sans"/>
                <a:ea typeface="Open Sans"/>
                <a:cs typeface="Open Sans"/>
                <a:sym typeface="Open Sans"/>
              </a:rPr>
              <a:t>2015 - 2016 : 123.7%</a:t>
            </a:r>
          </a:p>
          <a:p>
            <a:pPr algn="l">
              <a:lnSpc>
                <a:spcPts val="2800"/>
              </a:lnSpc>
              <a:spcBef>
                <a:spcPct val="0"/>
              </a:spcBef>
            </a:pPr>
          </a:p>
        </p:txBody>
      </p:sp>
      <p:sp>
        <p:nvSpPr>
          <p:cNvPr name="TextBox 21" id="21"/>
          <p:cNvSpPr txBox="true"/>
          <p:nvPr/>
        </p:nvSpPr>
        <p:spPr>
          <a:xfrm rot="0">
            <a:off x="11787660" y="3390835"/>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2" id="22"/>
          <p:cNvSpPr txBox="true"/>
          <p:nvPr/>
        </p:nvSpPr>
        <p:spPr>
          <a:xfrm rot="0">
            <a:off x="12739378" y="7520147"/>
            <a:ext cx="4519922" cy="701675"/>
          </a:xfrm>
          <a:prstGeom prst="rect">
            <a:avLst/>
          </a:prstGeom>
        </p:spPr>
        <p:txBody>
          <a:bodyPr anchor="t" rtlCol="false" tIns="0" lIns="0" bIns="0" rIns="0">
            <a:spAutoFit/>
          </a:bodyPr>
          <a:lstStyle/>
          <a:p>
            <a:pPr algn="l">
              <a:lnSpc>
                <a:spcPts val="2800"/>
              </a:lnSpc>
            </a:pPr>
            <a:r>
              <a:rPr lang="en-US" sz="2000">
                <a:solidFill>
                  <a:srgbClr val="1F2020"/>
                </a:solidFill>
                <a:latin typeface="Open Sans"/>
                <a:ea typeface="Open Sans"/>
                <a:cs typeface="Open Sans"/>
                <a:sym typeface="Open Sans"/>
              </a:rPr>
              <a:t>Total growth rate from</a:t>
            </a:r>
          </a:p>
          <a:p>
            <a:pPr algn="l">
              <a:lnSpc>
                <a:spcPts val="2800"/>
              </a:lnSpc>
              <a:spcBef>
                <a:spcPct val="0"/>
              </a:spcBef>
            </a:pPr>
            <a:r>
              <a:rPr lang="en-US" sz="2000">
                <a:solidFill>
                  <a:srgbClr val="1F2020"/>
                </a:solidFill>
                <a:latin typeface="Open Sans"/>
                <a:ea typeface="Open Sans"/>
                <a:cs typeface="Open Sans"/>
                <a:sym typeface="Open Sans"/>
              </a:rPr>
              <a:t>2014 - 2016 : </a:t>
            </a:r>
            <a:r>
              <a:rPr lang="en-US" b="true" sz="2000">
                <a:solidFill>
                  <a:srgbClr val="1F2020"/>
                </a:solidFill>
                <a:latin typeface="Open Sans Bold"/>
                <a:ea typeface="Open Sans Bold"/>
                <a:cs typeface="Open Sans Bold"/>
                <a:sym typeface="Open Sans Bold"/>
              </a:rPr>
              <a:t>216%</a:t>
            </a:r>
            <a:r>
              <a:rPr lang="en-US" sz="2000">
                <a:solidFill>
                  <a:srgbClr val="1F2020"/>
                </a:solidFill>
                <a:latin typeface="Open Sans"/>
                <a:ea typeface="Open Sans"/>
                <a:cs typeface="Open Sans"/>
                <a:sym typeface="Open Sans"/>
              </a:rPr>
              <a:t> </a:t>
            </a:r>
          </a:p>
        </p:txBody>
      </p:sp>
      <p:sp>
        <p:nvSpPr>
          <p:cNvPr name="TextBox 23" id="23"/>
          <p:cNvSpPr txBox="true"/>
          <p:nvPr/>
        </p:nvSpPr>
        <p:spPr>
          <a:xfrm rot="0">
            <a:off x="11787660" y="601815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24" id="24"/>
          <p:cNvSpPr txBox="true"/>
          <p:nvPr/>
        </p:nvSpPr>
        <p:spPr>
          <a:xfrm rot="0">
            <a:off x="12705562" y="3167212"/>
            <a:ext cx="4553738" cy="1054100"/>
          </a:xfrm>
          <a:prstGeom prst="rect">
            <a:avLst/>
          </a:prstGeom>
        </p:spPr>
        <p:txBody>
          <a:bodyPr anchor="t" rtlCol="false" tIns="0" lIns="0" bIns="0" rIns="0">
            <a:spAutoFit/>
          </a:bodyPr>
          <a:lstStyle/>
          <a:p>
            <a:pPr algn="l">
              <a:lnSpc>
                <a:spcPts val="2800"/>
              </a:lnSpc>
            </a:pPr>
            <a:r>
              <a:rPr lang="en-US" sz="2000">
                <a:solidFill>
                  <a:srgbClr val="1F2020"/>
                </a:solidFill>
                <a:latin typeface="Open Sans"/>
                <a:ea typeface="Open Sans"/>
                <a:cs typeface="Open Sans"/>
                <a:sym typeface="Open Sans"/>
              </a:rPr>
              <a:t>Yearly Revenue &amp; Sales QTY</a:t>
            </a:r>
          </a:p>
          <a:p>
            <a:pPr algn="l">
              <a:lnSpc>
                <a:spcPts val="2800"/>
              </a:lnSpc>
            </a:pPr>
            <a:r>
              <a:rPr lang="en-US" sz="2000">
                <a:solidFill>
                  <a:srgbClr val="1F2020"/>
                </a:solidFill>
                <a:latin typeface="Open Sans"/>
                <a:ea typeface="Open Sans"/>
                <a:cs typeface="Open Sans"/>
                <a:sym typeface="Open Sans"/>
              </a:rPr>
              <a:t>(2014 - 2016)</a:t>
            </a:r>
          </a:p>
          <a:p>
            <a:pPr algn="l">
              <a:lnSpc>
                <a:spcPts val="2800"/>
              </a:lnSpc>
              <a:spcBef>
                <a:spcPct val="0"/>
              </a:spcBef>
            </a:pPr>
          </a:p>
        </p:txBody>
      </p:sp>
      <p:sp>
        <p:nvSpPr>
          <p:cNvPr name="TextBox 25" id="25"/>
          <p:cNvSpPr txBox="true"/>
          <p:nvPr/>
        </p:nvSpPr>
        <p:spPr>
          <a:xfrm rot="0">
            <a:off x="11787660" y="7718370"/>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810643" y="3491179"/>
          <a:ext cx="7136552" cy="4705350"/>
        </p:xfrm>
        <a:graphic>
          <a:graphicData uri="http://schemas.openxmlformats.org/drawingml/2006/table">
            <a:tbl>
              <a:tblPr/>
              <a:tblGrid>
                <a:gridCol w="1656358"/>
                <a:gridCol w="1826731"/>
                <a:gridCol w="1826731"/>
                <a:gridCol w="1826731"/>
              </a:tblGrid>
              <a:tr h="1478824">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Region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7300"/>
                    </a:solidFill>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Num of</a:t>
                      </a:r>
                      <a:endParaRPr lang="en-US" sz="1100"/>
                    </a:p>
                    <a:p>
                      <a:pPr algn="ctr">
                        <a:lnSpc>
                          <a:spcPts val="2659"/>
                        </a:lnSpc>
                      </a:pPr>
                      <a:r>
                        <a:rPr lang="en-US" sz="1899" b="true">
                          <a:solidFill>
                            <a:srgbClr val="FFFFFF"/>
                          </a:solidFill>
                          <a:latin typeface="Canva Sans Bold"/>
                          <a:ea typeface="Canva Sans Bold"/>
                          <a:cs typeface="Canva Sans Bold"/>
                          <a:sym typeface="Canva Sans Bold"/>
                        </a:rPr>
                        <a:t>Accounts</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7300"/>
                    </a:solidFill>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Sales Representative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7300"/>
                    </a:solidFill>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Avg of  accounts per  person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7300"/>
                    </a:solidFill>
                  </a:tcPr>
                </a:tc>
              </a:tr>
              <a:tr h="806631">
                <a:tc>
                  <a:txBody>
                    <a:bodyPr anchor="t" rtlCol="false"/>
                    <a:lstStyle/>
                    <a:p>
                      <a:pPr algn="ctr">
                        <a:lnSpc>
                          <a:spcPts val="2659"/>
                        </a:lnSpc>
                        <a:defRPr/>
                      </a:pPr>
                      <a:r>
                        <a:rPr lang="en-US" b="true" sz="1899" i="true">
                          <a:solidFill>
                            <a:srgbClr val="000000"/>
                          </a:solidFill>
                          <a:latin typeface="Canva Sans Bold Italics"/>
                          <a:ea typeface="Canva Sans Bold Italics"/>
                          <a:cs typeface="Canva Sans Bold Italics"/>
                          <a:sym typeface="Canva Sans Bold Italics"/>
                        </a:rPr>
                        <a:t>Northeast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107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21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E7191F"/>
                          </a:solidFill>
                          <a:latin typeface="Canva Sans Bold"/>
                          <a:ea typeface="Canva Sans Bold"/>
                          <a:cs typeface="Canva Sans Bold"/>
                          <a:sym typeface="Canva Sans Bold"/>
                        </a:rPr>
                        <a:t>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06631">
                <a:tc>
                  <a:txBody>
                    <a:bodyPr anchor="t" rtlCol="false"/>
                    <a:lstStyle/>
                    <a:p>
                      <a:pPr algn="ctr">
                        <a:lnSpc>
                          <a:spcPts val="2659"/>
                        </a:lnSpc>
                        <a:defRPr/>
                      </a:pPr>
                      <a:r>
                        <a:rPr lang="en-US" b="true" sz="1899" i="true">
                          <a:solidFill>
                            <a:srgbClr val="000000"/>
                          </a:solidFill>
                          <a:latin typeface="Canva Sans Bold Italics"/>
                          <a:ea typeface="Canva Sans Bold Italics"/>
                          <a:cs typeface="Canva Sans Bold Italics"/>
                          <a:sym typeface="Canva Sans Bold Italics"/>
                        </a:rPr>
                        <a:t>Midwest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48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E7191F"/>
                          </a:solidFill>
                          <a:latin typeface="Canva Sans Bold"/>
                          <a:ea typeface="Canva Sans Bold"/>
                          <a:cs typeface="Canva Sans Bold"/>
                          <a:sym typeface="Canva Sans Bold"/>
                        </a:rPr>
                        <a:t>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06631">
                <a:tc>
                  <a:txBody>
                    <a:bodyPr anchor="t" rtlCol="false"/>
                    <a:lstStyle/>
                    <a:p>
                      <a:pPr algn="ctr">
                        <a:lnSpc>
                          <a:spcPts val="2659"/>
                        </a:lnSpc>
                        <a:defRPr/>
                      </a:pPr>
                      <a:r>
                        <a:rPr lang="en-US" b="true" sz="1899" i="true">
                          <a:solidFill>
                            <a:srgbClr val="000000"/>
                          </a:solidFill>
                          <a:latin typeface="Canva Sans Bold Italics"/>
                          <a:ea typeface="Canva Sans Bold Italics"/>
                          <a:cs typeface="Canva Sans Bold Italics"/>
                          <a:sym typeface="Canva Sans Bold Italics"/>
                        </a:rPr>
                        <a:t>Southeast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96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E7191F"/>
                          </a:solidFill>
                          <a:latin typeface="Canva Sans Bold"/>
                          <a:ea typeface="Canva Sans Bold"/>
                          <a:cs typeface="Canva Sans Bold"/>
                          <a:sym typeface="Canva Sans Bold"/>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06631">
                <a:tc>
                  <a:txBody>
                    <a:bodyPr anchor="t" rtlCol="false"/>
                    <a:lstStyle/>
                    <a:p>
                      <a:pPr algn="ctr">
                        <a:lnSpc>
                          <a:spcPts val="2659"/>
                        </a:lnSpc>
                        <a:defRPr/>
                      </a:pPr>
                      <a:r>
                        <a:rPr lang="en-US" b="true" sz="1899" i="true">
                          <a:solidFill>
                            <a:srgbClr val="000000"/>
                          </a:solidFill>
                          <a:latin typeface="Canva Sans Bold Italics"/>
                          <a:ea typeface="Canva Sans Bold Italics"/>
                          <a:cs typeface="Canva Sans Bold Italics"/>
                          <a:sym typeface="Canva Sans Bold Italics"/>
                        </a:rPr>
                        <a:t>West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E7191F"/>
                          </a:solidFill>
                          <a:latin typeface="Canva Sans Bold"/>
                          <a:ea typeface="Canva Sans Bold"/>
                          <a:cs typeface="Canva Sans Bold"/>
                          <a:sym typeface="Canva Sans Bold"/>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pic>
        <p:nvPicPr>
          <p:cNvPr name="Picture 3" id="3"/>
          <p:cNvPicPr>
            <a:picLocks noChangeAspect="true"/>
          </p:cNvPicPr>
          <p:nvPr/>
        </p:nvPicPr>
        <p:blipFill>
          <a:blip r:embed="rId2"/>
          <a:stretch>
            <a:fillRect/>
          </a:stretch>
        </p:blipFill>
        <p:spPr>
          <a:xfrm rot="0">
            <a:off x="8606956" y="-22999"/>
            <a:ext cx="8608820" cy="9443668"/>
          </a:xfrm>
          <a:prstGeom prst="rect">
            <a:avLst/>
          </a:prstGeom>
        </p:spPr>
      </p:pic>
      <p:grpSp>
        <p:nvGrpSpPr>
          <p:cNvPr name="Group 4" id="4"/>
          <p:cNvGrpSpPr/>
          <p:nvPr/>
        </p:nvGrpSpPr>
        <p:grpSpPr>
          <a:xfrm rot="0">
            <a:off x="947856" y="2541939"/>
            <a:ext cx="3496759" cy="87197"/>
            <a:chOff x="0" y="0"/>
            <a:chExt cx="920957" cy="22965"/>
          </a:xfrm>
        </p:grpSpPr>
        <p:sp>
          <p:nvSpPr>
            <p:cNvPr name="Freeform 5" id="5"/>
            <p:cNvSpPr/>
            <p:nvPr/>
          </p:nvSpPr>
          <p:spPr>
            <a:xfrm flipH="false" flipV="false" rot="0">
              <a:off x="0" y="0"/>
              <a:ext cx="920957" cy="22965"/>
            </a:xfrm>
            <a:custGeom>
              <a:avLst/>
              <a:gdLst/>
              <a:ahLst/>
              <a:cxnLst/>
              <a:rect r="r" b="b" t="t" l="l"/>
              <a:pathLst>
                <a:path h="22965" w="920957">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sp>
        <p:sp>
          <p:nvSpPr>
            <p:cNvPr name="TextBox 6" id="6"/>
            <p:cNvSpPr txBox="true"/>
            <p:nvPr/>
          </p:nvSpPr>
          <p:spPr>
            <a:xfrm>
              <a:off x="0" y="-38100"/>
              <a:ext cx="920957" cy="6106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947856" y="1288155"/>
            <a:ext cx="5774738" cy="1080416"/>
          </a:xfrm>
          <a:prstGeom prst="rect">
            <a:avLst/>
          </a:prstGeom>
        </p:spPr>
        <p:txBody>
          <a:bodyPr anchor="t" rtlCol="false" tIns="0" lIns="0" bIns="0" rIns="0">
            <a:spAutoFit/>
          </a:bodyPr>
          <a:lstStyle/>
          <a:p>
            <a:pPr algn="l">
              <a:lnSpc>
                <a:spcPts val="4181"/>
              </a:lnSpc>
            </a:pPr>
            <a:r>
              <a:rPr lang="en-US" sz="3573" b="true">
                <a:solidFill>
                  <a:srgbClr val="1F2020"/>
                </a:solidFill>
                <a:latin typeface="Poppins Bold"/>
                <a:ea typeface="Poppins Bold"/>
                <a:cs typeface="Poppins Bold"/>
                <a:sym typeface="Poppins Bold"/>
              </a:rPr>
              <a:t>Sales Representatives Allocation By Accounts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177932" y="8597752"/>
            <a:ext cx="110068" cy="660548"/>
            <a:chOff x="0" y="0"/>
            <a:chExt cx="28989" cy="173972"/>
          </a:xfrm>
        </p:grpSpPr>
        <p:sp>
          <p:nvSpPr>
            <p:cNvPr name="Freeform 3" id="3"/>
            <p:cNvSpPr/>
            <p:nvPr/>
          </p:nvSpPr>
          <p:spPr>
            <a:xfrm flipH="false" flipV="false" rot="0">
              <a:off x="0" y="0"/>
              <a:ext cx="28989" cy="173972"/>
            </a:xfrm>
            <a:custGeom>
              <a:avLst/>
              <a:gdLst/>
              <a:ahLst/>
              <a:cxnLst/>
              <a:rect r="r" b="b" t="t" l="l"/>
              <a:pathLst>
                <a:path h="173972" w="28989">
                  <a:moveTo>
                    <a:pt x="0" y="0"/>
                  </a:moveTo>
                  <a:lnTo>
                    <a:pt x="28989" y="0"/>
                  </a:lnTo>
                  <a:lnTo>
                    <a:pt x="28989" y="173972"/>
                  </a:lnTo>
                  <a:lnTo>
                    <a:pt x="0" y="173972"/>
                  </a:lnTo>
                  <a:close/>
                </a:path>
              </a:pathLst>
            </a:custGeom>
            <a:solidFill>
              <a:srgbClr val="FF7300"/>
            </a:solidFill>
          </p:spPr>
        </p:sp>
        <p:sp>
          <p:nvSpPr>
            <p:cNvPr name="TextBox 4" id="4"/>
            <p:cNvSpPr txBox="true"/>
            <p:nvPr/>
          </p:nvSpPr>
          <p:spPr>
            <a:xfrm>
              <a:off x="0" y="-38100"/>
              <a:ext cx="28989" cy="21207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10643" y="2562438"/>
            <a:ext cx="3496759" cy="87197"/>
            <a:chOff x="0" y="0"/>
            <a:chExt cx="920957" cy="22965"/>
          </a:xfrm>
        </p:grpSpPr>
        <p:sp>
          <p:nvSpPr>
            <p:cNvPr name="Freeform 6" id="6"/>
            <p:cNvSpPr/>
            <p:nvPr/>
          </p:nvSpPr>
          <p:spPr>
            <a:xfrm flipH="false" flipV="false" rot="0">
              <a:off x="0" y="0"/>
              <a:ext cx="920957" cy="22965"/>
            </a:xfrm>
            <a:custGeom>
              <a:avLst/>
              <a:gdLst/>
              <a:ahLst/>
              <a:cxnLst/>
              <a:rect r="r" b="b" t="t" l="l"/>
              <a:pathLst>
                <a:path h="22965" w="920957">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sp>
        <p:sp>
          <p:nvSpPr>
            <p:cNvPr name="TextBox 7" id="7"/>
            <p:cNvSpPr txBox="true"/>
            <p:nvPr/>
          </p:nvSpPr>
          <p:spPr>
            <a:xfrm>
              <a:off x="0" y="-38100"/>
              <a:ext cx="920957" cy="6106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810643" y="1260365"/>
            <a:ext cx="5312952" cy="1080416"/>
          </a:xfrm>
          <a:prstGeom prst="rect">
            <a:avLst/>
          </a:prstGeom>
        </p:spPr>
        <p:txBody>
          <a:bodyPr anchor="t" rtlCol="false" tIns="0" lIns="0" bIns="0" rIns="0">
            <a:spAutoFit/>
          </a:bodyPr>
          <a:lstStyle/>
          <a:p>
            <a:pPr algn="l">
              <a:lnSpc>
                <a:spcPts val="4181"/>
              </a:lnSpc>
            </a:pPr>
            <a:r>
              <a:rPr lang="en-US" sz="3573" b="true">
                <a:solidFill>
                  <a:srgbClr val="1F2020"/>
                </a:solidFill>
                <a:latin typeface="Poppins Bold"/>
                <a:ea typeface="Poppins Bold"/>
                <a:cs typeface="Poppins Bold"/>
                <a:sym typeface="Poppins Bold"/>
              </a:rPr>
              <a:t>Sales Representatives Allocation By Sales</a:t>
            </a:r>
          </a:p>
        </p:txBody>
      </p:sp>
      <p:grpSp>
        <p:nvGrpSpPr>
          <p:cNvPr name="Group 9" id="9"/>
          <p:cNvGrpSpPr/>
          <p:nvPr/>
        </p:nvGrpSpPr>
        <p:grpSpPr>
          <a:xfrm rot="0">
            <a:off x="810643" y="2949949"/>
            <a:ext cx="677751" cy="67775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7300"/>
            </a:solidFill>
          </p:spPr>
        </p:sp>
        <p:sp>
          <p:nvSpPr>
            <p:cNvPr name="TextBox 11" id="11"/>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12" id="12"/>
          <p:cNvSpPr txBox="true"/>
          <p:nvPr/>
        </p:nvSpPr>
        <p:spPr>
          <a:xfrm rot="0">
            <a:off x="1800808" y="3002577"/>
            <a:ext cx="4931744" cy="692150"/>
          </a:xfrm>
          <a:prstGeom prst="rect">
            <a:avLst/>
          </a:prstGeom>
        </p:spPr>
        <p:txBody>
          <a:bodyPr anchor="t" rtlCol="false" tIns="0" lIns="0" bIns="0" rIns="0">
            <a:spAutoFit/>
          </a:bodyPr>
          <a:lstStyle/>
          <a:p>
            <a:pPr algn="l">
              <a:lnSpc>
                <a:spcPts val="2799"/>
              </a:lnSpc>
              <a:spcBef>
                <a:spcPct val="0"/>
              </a:spcBef>
            </a:pPr>
            <a:r>
              <a:rPr lang="en-US" sz="1999">
                <a:solidFill>
                  <a:srgbClr val="1F2020"/>
                </a:solidFill>
                <a:latin typeface="Open Sans"/>
                <a:ea typeface="Open Sans"/>
                <a:cs typeface="Open Sans"/>
                <a:sym typeface="Open Sans"/>
              </a:rPr>
              <a:t>Over-Allocation of sales representatives in the Northeast</a:t>
            </a:r>
          </a:p>
        </p:txBody>
      </p:sp>
      <p:sp>
        <p:nvSpPr>
          <p:cNvPr name="TextBox 13" id="13"/>
          <p:cNvSpPr txBox="true"/>
          <p:nvPr/>
        </p:nvSpPr>
        <p:spPr>
          <a:xfrm rot="0">
            <a:off x="901463" y="312594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14" id="14"/>
          <p:cNvSpPr txBox="true"/>
          <p:nvPr/>
        </p:nvSpPr>
        <p:spPr>
          <a:xfrm rot="0">
            <a:off x="901463" y="5279003"/>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grpSp>
        <p:nvGrpSpPr>
          <p:cNvPr name="Group 15" id="15"/>
          <p:cNvGrpSpPr/>
          <p:nvPr/>
        </p:nvGrpSpPr>
        <p:grpSpPr>
          <a:xfrm rot="0">
            <a:off x="810643" y="3928013"/>
            <a:ext cx="677751" cy="67775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7300"/>
            </a:solidFill>
          </p:spPr>
        </p:sp>
        <p:sp>
          <p:nvSpPr>
            <p:cNvPr name="TextBox 17" id="17"/>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18" id="18"/>
          <p:cNvSpPr txBox="true"/>
          <p:nvPr/>
        </p:nvSpPr>
        <p:spPr>
          <a:xfrm rot="0">
            <a:off x="1800808" y="4087465"/>
            <a:ext cx="4661117" cy="692150"/>
          </a:xfrm>
          <a:prstGeom prst="rect">
            <a:avLst/>
          </a:prstGeom>
        </p:spPr>
        <p:txBody>
          <a:bodyPr anchor="t" rtlCol="false" tIns="0" lIns="0" bIns="0" rIns="0">
            <a:spAutoFit/>
          </a:bodyPr>
          <a:lstStyle/>
          <a:p>
            <a:pPr algn="l">
              <a:lnSpc>
                <a:spcPts val="2799"/>
              </a:lnSpc>
              <a:spcBef>
                <a:spcPct val="0"/>
              </a:spcBef>
            </a:pPr>
            <a:r>
              <a:rPr lang="en-US" sz="1999">
                <a:solidFill>
                  <a:srgbClr val="1F2020"/>
                </a:solidFill>
                <a:latin typeface="Open Sans"/>
                <a:ea typeface="Open Sans"/>
                <a:cs typeface="Open Sans"/>
                <a:sym typeface="Open Sans"/>
              </a:rPr>
              <a:t>Under-Allocation in the Southeast and West</a:t>
            </a:r>
          </a:p>
        </p:txBody>
      </p:sp>
      <p:sp>
        <p:nvSpPr>
          <p:cNvPr name="Freeform 19" id="19"/>
          <p:cNvSpPr/>
          <p:nvPr/>
        </p:nvSpPr>
        <p:spPr>
          <a:xfrm flipH="false" flipV="false" rot="0">
            <a:off x="7990895" y="1758536"/>
            <a:ext cx="9926745" cy="8226790"/>
          </a:xfrm>
          <a:custGeom>
            <a:avLst/>
            <a:gdLst/>
            <a:ahLst/>
            <a:cxnLst/>
            <a:rect r="r" b="b" t="t" l="l"/>
            <a:pathLst>
              <a:path h="8226790" w="9926745">
                <a:moveTo>
                  <a:pt x="0" y="0"/>
                </a:moveTo>
                <a:lnTo>
                  <a:pt x="9926745" y="0"/>
                </a:lnTo>
                <a:lnTo>
                  <a:pt x="9926745" y="8226790"/>
                </a:lnTo>
                <a:lnTo>
                  <a:pt x="0" y="8226790"/>
                </a:lnTo>
                <a:lnTo>
                  <a:pt x="0" y="0"/>
                </a:lnTo>
                <a:close/>
              </a:path>
            </a:pathLst>
          </a:custGeom>
          <a:blipFill>
            <a:blip r:embed="rId2"/>
            <a:stretch>
              <a:fillRect l="0" t="0" r="0" b="0"/>
            </a:stretch>
          </a:blipFill>
        </p:spPr>
      </p:sp>
      <p:sp>
        <p:nvSpPr>
          <p:cNvPr name="TextBox 20" id="20"/>
          <p:cNvSpPr txBox="true"/>
          <p:nvPr/>
        </p:nvSpPr>
        <p:spPr>
          <a:xfrm rot="0">
            <a:off x="901463" y="4103243"/>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graphicFrame>
        <p:nvGraphicFramePr>
          <p:cNvPr name="Table 21" id="21"/>
          <p:cNvGraphicFramePr>
            <a:graphicFrameLocks noGrp="true"/>
          </p:cNvGraphicFramePr>
          <p:nvPr/>
        </p:nvGraphicFramePr>
        <p:xfrm>
          <a:off x="810643" y="5084415"/>
          <a:ext cx="6360334" cy="4045758"/>
        </p:xfrm>
        <a:graphic>
          <a:graphicData uri="http://schemas.openxmlformats.org/drawingml/2006/table">
            <a:tbl>
              <a:tblPr/>
              <a:tblGrid>
                <a:gridCol w="1438182"/>
                <a:gridCol w="1759893"/>
                <a:gridCol w="1679386"/>
                <a:gridCol w="1482874"/>
              </a:tblGrid>
              <a:tr h="1393932">
                <a:tc>
                  <a:txBody>
                    <a:bodyPr anchor="t" rtlCol="false"/>
                    <a:lstStyle/>
                    <a:p>
                      <a:pPr algn="ctr">
                        <a:lnSpc>
                          <a:spcPts val="2659"/>
                        </a:lnSpc>
                        <a:defRPr/>
                      </a:pPr>
                      <a:endParaRPr lang="en-US" sz="1100"/>
                    </a:p>
                    <a:p>
                      <a:pPr algn="ctr">
                        <a:lnSpc>
                          <a:spcPts val="2659"/>
                        </a:lnSpc>
                      </a:pPr>
                      <a:r>
                        <a:rPr lang="en-US" sz="1899" b="true">
                          <a:solidFill>
                            <a:srgbClr val="FFFFFF"/>
                          </a:solidFill>
                          <a:latin typeface="Canva Sans Bold"/>
                          <a:ea typeface="Canva Sans Bold"/>
                          <a:cs typeface="Canva Sans Bold"/>
                          <a:sym typeface="Canva Sans Bold"/>
                        </a:rPr>
                        <a:t>  Regions</a:t>
                      </a:r>
                    </a:p>
                    <a:p>
                      <a:pPr algn="ctr">
                        <a:lnSpc>
                          <a:spcPts val="2659"/>
                        </a:lnSpc>
                      </a:pPr>
                      <a:r>
                        <a:rPr lang="en-US" sz="1899" b="true">
                          <a:solidFill>
                            <a:srgbClr val="FFFFFF"/>
                          </a:solidFill>
                          <a:latin typeface="Canva Sans Bold"/>
                          <a:ea typeface="Canva Sans Bold"/>
                          <a:cs typeface="Canva Sans Bold"/>
                          <a:sym typeface="Canva Sans Bold"/>
                        </a:rPr>
                        <a:t>  </a:t>
                      </a:r>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c>
                  <a:txBody>
                    <a:bodyPr anchor="t" rtlCol="false"/>
                    <a:lstStyle/>
                    <a:p>
                      <a:pPr algn="ctr">
                        <a:lnSpc>
                          <a:spcPts val="2659"/>
                        </a:lnSpc>
                        <a:defRPr/>
                      </a:pPr>
                      <a:endParaRPr lang="en-US" sz="1100"/>
                    </a:p>
                    <a:p>
                      <a:pPr algn="ctr">
                        <a:lnSpc>
                          <a:spcPts val="2659"/>
                        </a:lnSpc>
                      </a:pPr>
                      <a:r>
                        <a:rPr lang="en-US" sz="1899" b="true">
                          <a:solidFill>
                            <a:srgbClr val="FFFFFF"/>
                          </a:solidFill>
                          <a:latin typeface="Canva Sans Bold"/>
                          <a:ea typeface="Canva Sans Bold"/>
                          <a:cs typeface="Canva Sans Bold"/>
                          <a:sym typeface="Canva Sans Bold"/>
                        </a:rPr>
                        <a:t>  Total</a:t>
                      </a:r>
                    </a:p>
                    <a:p>
                      <a:pPr algn="ctr">
                        <a:lnSpc>
                          <a:spcPts val="2659"/>
                        </a:lnSpc>
                      </a:pPr>
                      <a:r>
                        <a:rPr lang="en-US" sz="1899" b="true">
                          <a:solidFill>
                            <a:srgbClr val="FFFFFF"/>
                          </a:solidFill>
                          <a:latin typeface="Canva Sans Bold"/>
                          <a:ea typeface="Canva Sans Bold"/>
                          <a:cs typeface="Canva Sans Bold"/>
                          <a:sym typeface="Canva Sans Bold"/>
                        </a:rPr>
                        <a:t>   Amount ($)</a:t>
                      </a:r>
                    </a:p>
                    <a:p>
                      <a:pPr algn="ctr">
                        <a:lnSpc>
                          <a:spcPts val="2659"/>
                        </a:lnSpc>
                      </a:pPr>
                      <a:r>
                        <a:rPr lang="en-US" sz="1899" b="true">
                          <a:solidFill>
                            <a:srgbClr val="FFFFFF"/>
                          </a:solidFill>
                          <a:latin typeface="Canva Sans Bold"/>
                          <a:ea typeface="Canva Sans Bold"/>
                          <a:cs typeface="Canva Sans Bold"/>
                          <a:sym typeface="Canva Sans Bold"/>
                        </a:rPr>
                        <a:t>  </a:t>
                      </a:r>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Sales Proportion</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c>
                  <a:txBody>
                    <a:bodyPr anchor="t" rtlCol="false"/>
                    <a:lstStyle/>
                    <a:p>
                      <a:pPr algn="ctr">
                        <a:lnSpc>
                          <a:spcPts val="2659"/>
                        </a:lnSpc>
                        <a:defRPr/>
                      </a:pPr>
                      <a:endParaRPr lang="en-US" sz="1100"/>
                    </a:p>
                    <a:p>
                      <a:pPr algn="ctr">
                        <a:lnSpc>
                          <a:spcPts val="2659"/>
                        </a:lnSpc>
                      </a:pPr>
                      <a:r>
                        <a:rPr lang="en-US" b="true" sz="1899">
                          <a:solidFill>
                            <a:srgbClr val="FFFFFF"/>
                          </a:solidFill>
                          <a:latin typeface="Canva Sans Bold"/>
                          <a:ea typeface="Canva Sans Bold"/>
                          <a:cs typeface="Canva Sans Bold"/>
                          <a:sym typeface="Canva Sans Bold"/>
                        </a:rPr>
                        <a:t>  Revenue per person</a:t>
                      </a:r>
                    </a:p>
                    <a:p>
                      <a:pPr algn="ctr">
                        <a:lnSpc>
                          <a:spcPts val="2659"/>
                        </a:lnSpc>
                      </a:pPr>
                      <a:r>
                        <a:rPr lang="en-US" b="true" sz="1899">
                          <a:solidFill>
                            <a:srgbClr val="FFFFFF"/>
                          </a:solidFill>
                          <a:latin typeface="Canva Sans Bold"/>
                          <a:ea typeface="Canva Sans Bold"/>
                          <a:cs typeface="Canva Sans Bold"/>
                          <a:sym typeface="Canva Sans Bold"/>
                        </a:rPr>
                        <a:t>  </a:t>
                      </a:r>
                    </a:p>
                  </a:txBody>
                  <a:tcPr marL="0" marR="0" marT="0" marB="0" anchor="ctr">
                    <a:lnL cmpd="sng" algn="ctr" cap="flat" w="9525">
                      <a:solidFill>
                        <a:srgbClr val="000000"/>
                      </a:solidFill>
                      <a:prstDash val="solid"/>
                      <a:round/>
                      <a:headEnd type="none" w="med" len="med"/>
                      <a:tailEnd type="none" w="med" len="med"/>
                    </a:lnL>
                    <a:lnR cmpd="sng" algn="ctr" cap="flat" w="9525">
                      <a:solidFill>
                        <a:srgbClr val="8F4101"/>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r>
              <a:tr h="496469">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Northeast</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                                 7,744,405 </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33.47%</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r">
                        <a:lnSpc>
                          <a:spcPts val="949"/>
                        </a:lnSpc>
                        <a:defRPr/>
                      </a:pPr>
                      <a:r>
                        <a:rPr lang="en-US" sz="1899" spc="-41">
                          <a:solidFill>
                            <a:srgbClr val="000000"/>
                          </a:solidFill>
                          <a:latin typeface="Canva Sans"/>
                          <a:ea typeface="Canva Sans"/>
                          <a:cs typeface="Canva Sans"/>
                          <a:sym typeface="Canva Sans"/>
                        </a:rPr>
                        <a:t>          368,781 </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8F4101"/>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09448">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Southeast</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                                 6,458,497 </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27.91%</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r">
                        <a:lnSpc>
                          <a:spcPts val="949"/>
                        </a:lnSpc>
                        <a:defRPr/>
                      </a:pPr>
                      <a:r>
                        <a:rPr lang="en-US" sz="1899" spc="-41">
                          <a:solidFill>
                            <a:srgbClr val="000000"/>
                          </a:solidFill>
                          <a:latin typeface="Canva Sans"/>
                          <a:ea typeface="Canva Sans"/>
                          <a:cs typeface="Canva Sans"/>
                          <a:sym typeface="Canva Sans"/>
                        </a:rPr>
                        <a:t>          645,850 </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8F4101"/>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09448">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West</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                                 5,925,123 </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25.60%</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r">
                        <a:lnSpc>
                          <a:spcPts val="949"/>
                        </a:lnSpc>
                        <a:defRPr/>
                      </a:pPr>
                      <a:r>
                        <a:rPr lang="en-US" sz="1899" spc="-41">
                          <a:solidFill>
                            <a:srgbClr val="000000"/>
                          </a:solidFill>
                          <a:latin typeface="Canva Sans"/>
                          <a:ea typeface="Canva Sans"/>
                          <a:cs typeface="Canva Sans"/>
                          <a:sym typeface="Canva Sans"/>
                        </a:rPr>
                        <a:t>          592,512 </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8F4101"/>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09448">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Midwest</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                                 3,013,487 </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13.02%</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r">
                        <a:lnSpc>
                          <a:spcPts val="949"/>
                        </a:lnSpc>
                        <a:defRPr/>
                      </a:pPr>
                      <a:r>
                        <a:rPr lang="en-US" sz="1899" spc="-41">
                          <a:solidFill>
                            <a:srgbClr val="000000"/>
                          </a:solidFill>
                          <a:latin typeface="Canva Sans"/>
                          <a:ea typeface="Canva Sans"/>
                          <a:cs typeface="Canva Sans"/>
                          <a:sym typeface="Canva Sans"/>
                        </a:rPr>
                        <a:t>          334,832 </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8F4101"/>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627013">
                <a:tc>
                  <a:txBody>
                    <a:bodyPr anchor="t" rtlCol="false"/>
                    <a:lstStyle/>
                    <a:p>
                      <a:pPr algn="ctr">
                        <a:lnSpc>
                          <a:spcPts val="949"/>
                        </a:lnSpc>
                        <a:defRPr/>
                      </a:pPr>
                      <a:r>
                        <a:rPr lang="en-US" b="true" sz="1899" spc="-41">
                          <a:solidFill>
                            <a:srgbClr val="000000"/>
                          </a:solidFill>
                          <a:latin typeface="Canva Sans Bold"/>
                          <a:ea typeface="Canva Sans Bold"/>
                          <a:cs typeface="Canva Sans Bold"/>
                          <a:sym typeface="Canva Sans Bold"/>
                        </a:rPr>
                        <a:t>TOTAL</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8F4101"/>
                      </a:solidFill>
                      <a:prstDash val="solid"/>
                      <a:round/>
                      <a:headEnd type="none" w="med" len="med"/>
                      <a:tailEnd type="none" w="med" len="med"/>
                    </a:lnB>
                  </a:tcPr>
                </a:tc>
                <a:tc>
                  <a:txBody>
                    <a:bodyPr anchor="t" rtlCol="false"/>
                    <a:lstStyle/>
                    <a:p>
                      <a:pPr algn="ctr">
                        <a:lnSpc>
                          <a:spcPts val="949"/>
                        </a:lnSpc>
                        <a:defRPr/>
                      </a:pPr>
                      <a:r>
                        <a:rPr lang="en-US" b="true" sz="1899" spc="-41">
                          <a:solidFill>
                            <a:srgbClr val="000000"/>
                          </a:solidFill>
                          <a:latin typeface="Canva Sans Bold"/>
                          <a:ea typeface="Canva Sans Bold"/>
                          <a:cs typeface="Canva Sans Bold"/>
                          <a:sym typeface="Canva Sans Bold"/>
                        </a:rPr>
                        <a:t>                             </a:t>
                      </a:r>
                      <a:endParaRPr lang="en-US" sz="1100"/>
                    </a:p>
                    <a:p>
                      <a:pPr algn="ctr">
                        <a:lnSpc>
                          <a:spcPts val="949"/>
                        </a:lnSpc>
                      </a:pPr>
                      <a:r>
                        <a:rPr lang="en-US" b="true" sz="1899" spc="-41">
                          <a:solidFill>
                            <a:srgbClr val="000000"/>
                          </a:solidFill>
                          <a:latin typeface="Canva Sans Bold"/>
                          <a:ea typeface="Canva Sans Bold"/>
                          <a:cs typeface="Canva Sans Bold"/>
                          <a:sym typeface="Canva Sans Bold"/>
                        </a:rPr>
                        <a:t>  23,141,512 </a:t>
                      </a:r>
                    </a:p>
                    <a:p>
                      <a:pPr algn="ctr">
                        <a:lnSpc>
                          <a:spcPts val="949"/>
                        </a:lnSpc>
                      </a:pPr>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8F4101"/>
                      </a:solidFill>
                      <a:prstDash val="solid"/>
                      <a:round/>
                      <a:headEnd type="none" w="med" len="med"/>
                      <a:tailEnd type="none" w="med" len="med"/>
                    </a:lnB>
                  </a:tcPr>
                </a:tc>
                <a:tc>
                  <a:txBody>
                    <a:bodyPr anchor="t" rtlCol="false"/>
                    <a:lstStyle/>
                    <a:p>
                      <a:pPr algn="ctr">
                        <a:lnSpc>
                          <a:spcPts val="949"/>
                        </a:lnSpc>
                        <a:defRPr/>
                      </a:pPr>
                      <a:r>
                        <a:rPr lang="en-US" b="true" sz="1899" spc="-41">
                          <a:solidFill>
                            <a:srgbClr val="000000"/>
                          </a:solidFill>
                          <a:latin typeface="Canva Sans Bold"/>
                          <a:ea typeface="Canva Sans Bold"/>
                          <a:cs typeface="Canva Sans Bold"/>
                          <a:sym typeface="Canva Sans Bold"/>
                        </a:rPr>
                        <a:t>100%</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8F4101"/>
                      </a:solidFill>
                      <a:prstDash val="solid"/>
                      <a:round/>
                      <a:headEnd type="none" w="med" len="med"/>
                      <a:tailEnd type="none" w="med" len="med"/>
                    </a:lnB>
                  </a:tcPr>
                </a:tc>
                <a:tc>
                  <a:txBody>
                    <a:bodyPr anchor="t" rtlCol="false"/>
                    <a:lstStyle/>
                    <a:p>
                      <a:pPr algn="ctr">
                        <a:lnSpc>
                          <a:spcPts val="949"/>
                        </a:lnSpc>
                        <a:defRPr/>
                      </a:pP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8F4101"/>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8F4101"/>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479834" y="3851481"/>
            <a:ext cx="8115300" cy="5406819"/>
          </a:xfrm>
          <a:custGeom>
            <a:avLst/>
            <a:gdLst/>
            <a:ahLst/>
            <a:cxnLst/>
            <a:rect r="r" b="b" t="t" l="l"/>
            <a:pathLst>
              <a:path h="5406819" w="8115300">
                <a:moveTo>
                  <a:pt x="0" y="0"/>
                </a:moveTo>
                <a:lnTo>
                  <a:pt x="8115300" y="0"/>
                </a:lnTo>
                <a:lnTo>
                  <a:pt x="8115300" y="5406819"/>
                </a:lnTo>
                <a:lnTo>
                  <a:pt x="0" y="5406819"/>
                </a:lnTo>
                <a:lnTo>
                  <a:pt x="0" y="0"/>
                </a:lnTo>
                <a:close/>
              </a:path>
            </a:pathLst>
          </a:custGeom>
          <a:blipFill>
            <a:blip r:embed="rId2"/>
            <a:stretch>
              <a:fillRect l="0" t="0" r="0" b="0"/>
            </a:stretch>
          </a:blipFill>
        </p:spPr>
      </p:sp>
      <p:sp>
        <p:nvSpPr>
          <p:cNvPr name="TextBox 3" id="3"/>
          <p:cNvSpPr txBox="true"/>
          <p:nvPr/>
        </p:nvSpPr>
        <p:spPr>
          <a:xfrm rot="0">
            <a:off x="1028700" y="2349889"/>
            <a:ext cx="13202894" cy="1018604"/>
          </a:xfrm>
          <a:prstGeom prst="rect">
            <a:avLst/>
          </a:prstGeom>
        </p:spPr>
        <p:txBody>
          <a:bodyPr anchor="t" rtlCol="false" tIns="0" lIns="0" bIns="0" rIns="0">
            <a:spAutoFit/>
          </a:bodyPr>
          <a:lstStyle/>
          <a:p>
            <a:pPr algn="l">
              <a:lnSpc>
                <a:spcPts val="4147"/>
              </a:lnSpc>
            </a:pPr>
            <a:r>
              <a:rPr lang="en-US" b="true" sz="2764">
                <a:solidFill>
                  <a:srgbClr val="000000"/>
                </a:solidFill>
                <a:latin typeface="Canva Sans Bold"/>
                <a:ea typeface="Canva Sans Bold"/>
                <a:cs typeface="Canva Sans Bold"/>
                <a:sym typeface="Canva Sans Bold"/>
              </a:rPr>
              <a:t>Adding North and South regions means redistributing sales representatives</a:t>
            </a:r>
            <a:r>
              <a:rPr lang="en-US" b="true" sz="2764">
                <a:solidFill>
                  <a:srgbClr val="000000"/>
                </a:solidFill>
                <a:latin typeface="Canva Sans Bold"/>
                <a:ea typeface="Canva Sans Bold"/>
                <a:cs typeface="Canva Sans Bold"/>
                <a:sym typeface="Canva Sans Bold"/>
              </a:rPr>
              <a:t>. Population distribution may be the key.</a:t>
            </a:r>
          </a:p>
        </p:txBody>
      </p:sp>
      <p:sp>
        <p:nvSpPr>
          <p:cNvPr name="TextBox 4" id="4"/>
          <p:cNvSpPr txBox="true"/>
          <p:nvPr/>
        </p:nvSpPr>
        <p:spPr>
          <a:xfrm rot="0">
            <a:off x="1028700" y="1028700"/>
            <a:ext cx="7266330" cy="914400"/>
          </a:xfrm>
          <a:prstGeom prst="rect">
            <a:avLst/>
          </a:prstGeom>
        </p:spPr>
        <p:txBody>
          <a:bodyPr anchor="t" rtlCol="false" tIns="0" lIns="0" bIns="0" rIns="0">
            <a:spAutoFit/>
          </a:bodyPr>
          <a:lstStyle/>
          <a:p>
            <a:pPr algn="l" marL="0" indent="0" lvl="0">
              <a:lnSpc>
                <a:spcPts val="7268"/>
              </a:lnSpc>
              <a:spcBef>
                <a:spcPct val="0"/>
              </a:spcBef>
            </a:pPr>
            <a:r>
              <a:rPr lang="en-US" b="true" sz="6056">
                <a:solidFill>
                  <a:srgbClr val="000000"/>
                </a:solidFill>
                <a:latin typeface="Canva Sans Bold"/>
                <a:ea typeface="Canva Sans Bold"/>
                <a:cs typeface="Canva Sans Bold"/>
                <a:sym typeface="Canva Sans Bold"/>
              </a:rPr>
              <a:t>Additional Regions</a:t>
            </a:r>
          </a:p>
        </p:txBody>
      </p:sp>
      <p:graphicFrame>
        <p:nvGraphicFramePr>
          <p:cNvPr name="Table 5" id="5"/>
          <p:cNvGraphicFramePr>
            <a:graphicFrameLocks noGrp="true"/>
          </p:cNvGraphicFramePr>
          <p:nvPr/>
        </p:nvGraphicFramePr>
        <p:xfrm>
          <a:off x="1028700" y="3904864"/>
          <a:ext cx="8197044" cy="5353436"/>
        </p:xfrm>
        <a:graphic>
          <a:graphicData uri="http://schemas.openxmlformats.org/drawingml/2006/table">
            <a:tbl>
              <a:tblPr/>
              <a:tblGrid>
                <a:gridCol w="2732348"/>
                <a:gridCol w="2732348"/>
                <a:gridCol w="2732348"/>
              </a:tblGrid>
              <a:tr h="1059159">
                <a:tc>
                  <a:txBody>
                    <a:bodyPr anchor="t" rtlCol="false"/>
                    <a:lstStyle/>
                    <a:p>
                      <a:pPr algn="ctr">
                        <a:lnSpc>
                          <a:spcPts val="2659"/>
                        </a:lnSpc>
                        <a:defRPr/>
                      </a:pPr>
                      <a:endParaRPr lang="en-US" sz="1100"/>
                    </a:p>
                    <a:p>
                      <a:pPr algn="ctr">
                        <a:lnSpc>
                          <a:spcPts val="2659"/>
                        </a:lnSpc>
                      </a:pPr>
                      <a:r>
                        <a:rPr lang="en-US" sz="1899" b="true">
                          <a:solidFill>
                            <a:srgbClr val="FFFFFF"/>
                          </a:solidFill>
                          <a:latin typeface="Canva Sans Bold"/>
                          <a:ea typeface="Canva Sans Bold"/>
                          <a:cs typeface="Canva Sans Bold"/>
                          <a:sym typeface="Canva Sans Bold"/>
                        </a:rPr>
                        <a:t>  Regions</a:t>
                      </a:r>
                    </a:p>
                    <a:p>
                      <a:pPr algn="ctr">
                        <a:lnSpc>
                          <a:spcPts val="2659"/>
                        </a:lnSpc>
                      </a:pPr>
                      <a:r>
                        <a:rPr lang="en-US" sz="1899" b="true">
                          <a:solidFill>
                            <a:srgbClr val="FFFFFF"/>
                          </a:solidFill>
                          <a:latin typeface="Canva Sans Bold"/>
                          <a:ea typeface="Canva Sans Bold"/>
                          <a:cs typeface="Canva Sans Bold"/>
                          <a:sym typeface="Canva Sans Bold"/>
                        </a:rPr>
                        <a:t>  </a:t>
                      </a:r>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c>
                  <a:txBody>
                    <a:bodyPr anchor="t" rtlCol="false"/>
                    <a:lstStyle/>
                    <a:p>
                      <a:pPr algn="ctr">
                        <a:lnSpc>
                          <a:spcPts val="2659"/>
                        </a:lnSpc>
                        <a:defRPr/>
                      </a:pPr>
                      <a:endParaRPr lang="en-US" sz="1100"/>
                    </a:p>
                    <a:p>
                      <a:pPr algn="ctr">
                        <a:lnSpc>
                          <a:spcPts val="2659"/>
                        </a:lnSpc>
                      </a:pPr>
                      <a:r>
                        <a:rPr lang="en-US" sz="1899" b="true">
                          <a:solidFill>
                            <a:srgbClr val="FFFFFF"/>
                          </a:solidFill>
                          <a:latin typeface="Canva Sans Bold"/>
                          <a:ea typeface="Canva Sans Bold"/>
                          <a:cs typeface="Canva Sans Bold"/>
                          <a:sym typeface="Canva Sans Bold"/>
                        </a:rPr>
                        <a:t>  Current Distribution</a:t>
                      </a:r>
                    </a:p>
                    <a:p>
                      <a:pPr algn="ctr">
                        <a:lnSpc>
                          <a:spcPts val="2659"/>
                        </a:lnSpc>
                      </a:pPr>
                      <a:r>
                        <a:rPr lang="en-US" sz="1899" b="true">
                          <a:solidFill>
                            <a:srgbClr val="FFFFFF"/>
                          </a:solidFill>
                          <a:latin typeface="Canva Sans Bold"/>
                          <a:ea typeface="Canva Sans Bold"/>
                          <a:cs typeface="Canva Sans Bold"/>
                          <a:sym typeface="Canva Sans Bold"/>
                        </a:rPr>
                        <a:t>  </a:t>
                      </a:r>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Proposed Distribution </a:t>
                      </a:r>
                      <a:r>
                        <a:rPr lang="en-US" sz="1899">
                          <a:solidFill>
                            <a:srgbClr val="FFFFFF"/>
                          </a:solidFill>
                          <a:latin typeface="Canva Sans"/>
                          <a:ea typeface="Canva Sans"/>
                          <a:cs typeface="Canva Sans"/>
                          <a:sym typeface="Canva Sans"/>
                        </a:rPr>
                        <a:t>(based on region pop)</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r>
              <a:tr h="522161">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Northeast</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21</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E7191F"/>
                          </a:solidFill>
                          <a:latin typeface="Canva Sans"/>
                          <a:ea typeface="Canva Sans"/>
                          <a:cs typeface="Canva Sans"/>
                          <a:sym typeface="Canva Sans"/>
                        </a:rPr>
                        <a:t>5</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22161">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Southeast</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10</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E7191F"/>
                          </a:solidFill>
                          <a:latin typeface="Canva Sans"/>
                          <a:ea typeface="Canva Sans"/>
                          <a:cs typeface="Canva Sans"/>
                          <a:sym typeface="Canva Sans"/>
                        </a:rPr>
                        <a:t>9</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22161">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West</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10</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E7191F"/>
                          </a:solidFill>
                          <a:latin typeface="Canva Sans"/>
                          <a:ea typeface="Canva Sans"/>
                          <a:cs typeface="Canva Sans"/>
                          <a:sym typeface="Canva Sans"/>
                        </a:rPr>
                        <a:t>7</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22161">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Midwest</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9</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E7191F"/>
                          </a:solidFill>
                          <a:latin typeface="Canva Sans"/>
                          <a:ea typeface="Canva Sans"/>
                          <a:cs typeface="Canva Sans"/>
                          <a:sym typeface="Canva Sans"/>
                        </a:rPr>
                        <a:t>6</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22161">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International</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1</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E7191F"/>
                          </a:solidFill>
                          <a:latin typeface="Canva Sans"/>
                          <a:ea typeface="Canva Sans"/>
                          <a:cs typeface="Canva Sans"/>
                          <a:sym typeface="Canva Sans"/>
                        </a:rPr>
                        <a:t>1</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22161">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North</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E7191F"/>
                          </a:solidFill>
                          <a:latin typeface="Canva Sans"/>
                          <a:ea typeface="Canva Sans"/>
                          <a:cs typeface="Canva Sans"/>
                          <a:sym typeface="Canva Sans"/>
                        </a:rPr>
                        <a:t>11</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22161">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South</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E7191F"/>
                          </a:solidFill>
                          <a:latin typeface="Canva Sans"/>
                          <a:ea typeface="Canva Sans"/>
                          <a:cs typeface="Canva Sans"/>
                          <a:sym typeface="Canva Sans"/>
                        </a:rPr>
                        <a:t>12</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639151">
                <a:tc>
                  <a:txBody>
                    <a:bodyPr anchor="t" rtlCol="false"/>
                    <a:lstStyle/>
                    <a:p>
                      <a:pPr algn="ctr">
                        <a:lnSpc>
                          <a:spcPts val="949"/>
                        </a:lnSpc>
                        <a:defRPr/>
                      </a:pPr>
                      <a:r>
                        <a:rPr lang="en-US" b="true" sz="1899" spc="-41">
                          <a:solidFill>
                            <a:srgbClr val="000000"/>
                          </a:solidFill>
                          <a:latin typeface="Canva Sans Bold"/>
                          <a:ea typeface="Canva Sans Bold"/>
                          <a:cs typeface="Canva Sans Bold"/>
                          <a:sym typeface="Canva Sans Bold"/>
                        </a:rPr>
                        <a:t>TOTAL</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8F4101"/>
                      </a:solidFill>
                      <a:prstDash val="solid"/>
                      <a:round/>
                      <a:headEnd type="none" w="med" len="med"/>
                      <a:tailEnd type="none" w="med" len="med"/>
                    </a:lnB>
                  </a:tcPr>
                </a:tc>
                <a:tc>
                  <a:txBody>
                    <a:bodyPr anchor="t" rtlCol="false"/>
                    <a:lstStyle/>
                    <a:p>
                      <a:pPr algn="ctr">
                        <a:lnSpc>
                          <a:spcPts val="949"/>
                        </a:lnSpc>
                        <a:defRPr/>
                      </a:pPr>
                      <a:r>
                        <a:rPr lang="en-US" b="true" sz="1899" spc="-41">
                          <a:solidFill>
                            <a:srgbClr val="000000"/>
                          </a:solidFill>
                          <a:latin typeface="Canva Sans Bold"/>
                          <a:ea typeface="Canva Sans Bold"/>
                          <a:cs typeface="Canva Sans Bold"/>
                          <a:sym typeface="Canva Sans Bold"/>
                        </a:rPr>
                        <a:t>51</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8F4101"/>
                      </a:solidFill>
                      <a:prstDash val="solid"/>
                      <a:round/>
                      <a:headEnd type="none" w="med" len="med"/>
                      <a:tailEnd type="none" w="med" len="med"/>
                    </a:lnB>
                  </a:tcPr>
                </a:tc>
                <a:tc>
                  <a:txBody>
                    <a:bodyPr anchor="t" rtlCol="false"/>
                    <a:lstStyle/>
                    <a:p>
                      <a:pPr algn="ctr">
                        <a:lnSpc>
                          <a:spcPts val="949"/>
                        </a:lnSpc>
                        <a:defRPr/>
                      </a:pPr>
                      <a:r>
                        <a:rPr lang="en-US" b="true" sz="1899" spc="-41">
                          <a:solidFill>
                            <a:srgbClr val="000000"/>
                          </a:solidFill>
                          <a:latin typeface="Canva Sans Bold"/>
                          <a:ea typeface="Canva Sans Bold"/>
                          <a:cs typeface="Canva Sans Bold"/>
                          <a:sym typeface="Canva Sans Bold"/>
                        </a:rPr>
                        <a:t>51</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8F4101"/>
                      </a:solidFill>
                      <a:prstDash val="solid"/>
                      <a:round/>
                      <a:headEnd type="none" w="med" len="med"/>
                      <a:tailEnd type="none" w="med" len="med"/>
                    </a:lnB>
                  </a:tcPr>
                </a:tc>
              </a:tr>
            </a:tbl>
          </a:graphicData>
        </a:graphic>
      </p:graphicFrame>
      <p:grpSp>
        <p:nvGrpSpPr>
          <p:cNvPr name="Group 6" id="6"/>
          <p:cNvGrpSpPr/>
          <p:nvPr/>
        </p:nvGrpSpPr>
        <p:grpSpPr>
          <a:xfrm rot="0">
            <a:off x="1028700" y="1943100"/>
            <a:ext cx="3496759" cy="108294"/>
            <a:chOff x="0" y="0"/>
            <a:chExt cx="920957" cy="28522"/>
          </a:xfrm>
        </p:grpSpPr>
        <p:sp>
          <p:nvSpPr>
            <p:cNvPr name="Freeform 7" id="7"/>
            <p:cNvSpPr/>
            <p:nvPr/>
          </p:nvSpPr>
          <p:spPr>
            <a:xfrm flipH="false" flipV="false" rot="0">
              <a:off x="0" y="0"/>
              <a:ext cx="920957" cy="28522"/>
            </a:xfrm>
            <a:custGeom>
              <a:avLst/>
              <a:gdLst/>
              <a:ahLst/>
              <a:cxnLst/>
              <a:rect r="r" b="b" t="t" l="l"/>
              <a:pathLst>
                <a:path h="28522" w="920957">
                  <a:moveTo>
                    <a:pt x="14261" y="0"/>
                  </a:moveTo>
                  <a:lnTo>
                    <a:pt x="906696" y="0"/>
                  </a:lnTo>
                  <a:cubicBezTo>
                    <a:pt x="914572" y="0"/>
                    <a:pt x="920957" y="6385"/>
                    <a:pt x="920957" y="14261"/>
                  </a:cubicBezTo>
                  <a:lnTo>
                    <a:pt x="920957" y="14261"/>
                  </a:lnTo>
                  <a:cubicBezTo>
                    <a:pt x="920957" y="18043"/>
                    <a:pt x="919455" y="21670"/>
                    <a:pt x="916780" y="24345"/>
                  </a:cubicBezTo>
                  <a:cubicBezTo>
                    <a:pt x="914106" y="27019"/>
                    <a:pt x="910479" y="28522"/>
                    <a:pt x="906696" y="28522"/>
                  </a:cubicBezTo>
                  <a:lnTo>
                    <a:pt x="14261" y="28522"/>
                  </a:lnTo>
                  <a:cubicBezTo>
                    <a:pt x="10479" y="28522"/>
                    <a:pt x="6851" y="27019"/>
                    <a:pt x="4177" y="24345"/>
                  </a:cubicBezTo>
                  <a:cubicBezTo>
                    <a:pt x="1502" y="21670"/>
                    <a:pt x="0" y="18043"/>
                    <a:pt x="0" y="14261"/>
                  </a:cubicBezTo>
                  <a:lnTo>
                    <a:pt x="0" y="14261"/>
                  </a:lnTo>
                  <a:cubicBezTo>
                    <a:pt x="0" y="10479"/>
                    <a:pt x="1502" y="6851"/>
                    <a:pt x="4177" y="4177"/>
                  </a:cubicBezTo>
                  <a:cubicBezTo>
                    <a:pt x="6851" y="1502"/>
                    <a:pt x="10479" y="0"/>
                    <a:pt x="14261" y="0"/>
                  </a:cubicBezTo>
                  <a:close/>
                </a:path>
              </a:pathLst>
            </a:custGeom>
            <a:solidFill>
              <a:srgbClr val="FF7300"/>
            </a:solidFill>
          </p:spPr>
        </p:sp>
        <p:sp>
          <p:nvSpPr>
            <p:cNvPr name="TextBox 8" id="8"/>
            <p:cNvSpPr txBox="true"/>
            <p:nvPr/>
          </p:nvSpPr>
          <p:spPr>
            <a:xfrm>
              <a:off x="0" y="-38100"/>
              <a:ext cx="920957" cy="6662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3286125"/>
          <a:ext cx="7702504" cy="5972175"/>
        </p:xfrm>
        <a:graphic>
          <a:graphicData uri="http://schemas.openxmlformats.org/drawingml/2006/table">
            <a:tbl>
              <a:tblPr/>
              <a:tblGrid>
                <a:gridCol w="3011858"/>
                <a:gridCol w="2046846"/>
                <a:gridCol w="2643800"/>
              </a:tblGrid>
              <a:tr h="1140753">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Industry</a:t>
                      </a:r>
                      <a:endParaRPr lang="en-US" sz="1100"/>
                    </a:p>
                    <a:p>
                      <a:pPr algn="ctr">
                        <a:lnSpc>
                          <a:spcPts val="2659"/>
                        </a:lnSpc>
                      </a:pPr>
                      <a:r>
                        <a:rPr lang="en-US" sz="1899" b="true">
                          <a:solidFill>
                            <a:srgbClr val="FFFFFF"/>
                          </a:solidFill>
                          <a:latin typeface="Canva Sans Bold"/>
                          <a:ea typeface="Canva Sans Bold"/>
                          <a:cs typeface="Canva Sans Bold"/>
                          <a:sym typeface="Canva Sans Bold"/>
                        </a:rPr>
                        <a:t>Category</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7300"/>
                    </a:solidFill>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Customer</a:t>
                      </a:r>
                      <a:endParaRPr lang="en-US" sz="1100"/>
                    </a:p>
                    <a:p>
                      <a:pPr algn="ctr">
                        <a:lnSpc>
                          <a:spcPts val="2659"/>
                        </a:lnSpc>
                      </a:pPr>
                      <a:r>
                        <a:rPr lang="en-US" sz="1899" b="true">
                          <a:solidFill>
                            <a:srgbClr val="FFFFFF"/>
                          </a:solidFill>
                          <a:latin typeface="Canva Sans Bold"/>
                          <a:ea typeface="Canva Sans Bold"/>
                          <a:cs typeface="Canva Sans Bold"/>
                          <a:sym typeface="Canva Sans Bold"/>
                        </a:rPr>
                        <a:t>Count</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7300"/>
                    </a:solidFill>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Orders</a:t>
                      </a:r>
                      <a:endParaRPr lang="en-US" sz="1100"/>
                    </a:p>
                    <a:p>
                      <a:pPr algn="ctr">
                        <a:lnSpc>
                          <a:spcPts val="2659"/>
                        </a:lnSpc>
                      </a:pPr>
                      <a:r>
                        <a:rPr lang="en-US" sz="1899" b="true">
                          <a:solidFill>
                            <a:srgbClr val="FFFFFF"/>
                          </a:solidFill>
                          <a:latin typeface="Canva Sans Bold"/>
                          <a:ea typeface="Canva Sans Bold"/>
                          <a:cs typeface="Canva Sans Bold"/>
                          <a:sym typeface="Canva Sans Bold"/>
                        </a:rPr>
                        <a:t>Associated</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7300"/>
                    </a:solidFill>
                  </a:tcPr>
                </a:tc>
              </a:tr>
              <a:tr h="805237">
                <a:tc>
                  <a:txBody>
                    <a:bodyPr anchor="t" rtlCol="false"/>
                    <a:lstStyle/>
                    <a:p>
                      <a:pPr algn="ctr">
                        <a:lnSpc>
                          <a:spcPts val="2659"/>
                        </a:lnSpc>
                        <a:defRPr/>
                      </a:pPr>
                      <a:r>
                        <a:rPr lang="en-US" b="true" sz="1899" i="true" u="sng">
                          <a:solidFill>
                            <a:srgbClr val="000000"/>
                          </a:solidFill>
                          <a:latin typeface="Canva Sans Bold Italics"/>
                          <a:ea typeface="Canva Sans Bold Italics"/>
                          <a:cs typeface="Canva Sans Bold Italics"/>
                          <a:sym typeface="Canva Sans Bold Italics"/>
                        </a:rPr>
                        <a:t>Finance &amp; Insurance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471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05237">
                <a:tc>
                  <a:txBody>
                    <a:bodyPr anchor="t" rtlCol="false"/>
                    <a:lstStyle/>
                    <a:p>
                      <a:pPr algn="ctr">
                        <a:lnSpc>
                          <a:spcPts val="2659"/>
                        </a:lnSpc>
                        <a:defRPr/>
                      </a:pPr>
                      <a:r>
                        <a:rPr lang="en-US" b="true" sz="1899" i="true" u="sng">
                          <a:solidFill>
                            <a:srgbClr val="000000"/>
                          </a:solidFill>
                          <a:latin typeface="Canva Sans Bold Italics"/>
                          <a:ea typeface="Canva Sans Bold Italics"/>
                          <a:cs typeface="Canva Sans Bold Italics"/>
                          <a:sym typeface="Canva Sans Bold Italics"/>
                        </a:rPr>
                        <a:t>Energy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23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417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05237">
                <a:tc>
                  <a:txBody>
                    <a:bodyPr anchor="t" rtlCol="false"/>
                    <a:lstStyle/>
                    <a:p>
                      <a:pPr algn="ctr">
                        <a:lnSpc>
                          <a:spcPts val="2659"/>
                        </a:lnSpc>
                        <a:defRPr/>
                      </a:pPr>
                      <a:r>
                        <a:rPr lang="en-US" b="true" sz="1899" i="true">
                          <a:solidFill>
                            <a:srgbClr val="000000"/>
                          </a:solidFill>
                          <a:latin typeface="Canva Sans Bold Italics"/>
                          <a:ea typeface="Canva Sans Bold Italics"/>
                          <a:cs typeface="Canva Sans Bold Italics"/>
                          <a:sym typeface="Canva Sans Bold Italics"/>
                        </a:rPr>
                        <a:t>Tech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291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05237">
                <a:tc>
                  <a:txBody>
                    <a:bodyPr anchor="t" rtlCol="false"/>
                    <a:lstStyle/>
                    <a:p>
                      <a:pPr algn="ctr">
                        <a:lnSpc>
                          <a:spcPts val="2659"/>
                        </a:lnSpc>
                        <a:defRPr/>
                      </a:pPr>
                      <a:r>
                        <a:rPr lang="en-US" b="true" sz="1899" i="true">
                          <a:solidFill>
                            <a:srgbClr val="000000"/>
                          </a:solidFill>
                          <a:latin typeface="Canva Sans Bold Italics"/>
                          <a:ea typeface="Canva Sans Bold Italics"/>
                          <a:cs typeface="Canva Sans Bold Italics"/>
                          <a:sym typeface="Canva Sans Bold Italics"/>
                        </a:rPr>
                        <a:t>Automobile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180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05237">
                <a:tc>
                  <a:txBody>
                    <a:bodyPr anchor="t" rtlCol="false"/>
                    <a:lstStyle/>
                    <a:p>
                      <a:pPr algn="ctr">
                        <a:lnSpc>
                          <a:spcPts val="2659"/>
                        </a:lnSpc>
                        <a:defRPr/>
                      </a:pPr>
                      <a:r>
                        <a:rPr lang="en-US" b="true" sz="1899" i="true">
                          <a:solidFill>
                            <a:srgbClr val="000000"/>
                          </a:solidFill>
                          <a:latin typeface="Canva Sans Bold Italics"/>
                          <a:ea typeface="Canva Sans Bold Italics"/>
                          <a:cs typeface="Canva Sans Bold Italics"/>
                          <a:sym typeface="Canva Sans Bold Italics"/>
                        </a:rPr>
                        <a:t>Food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149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05237">
                <a:tc>
                  <a:txBody>
                    <a:bodyPr anchor="t" rtlCol="false"/>
                    <a:lstStyle/>
                    <a:p>
                      <a:pPr algn="ctr">
                        <a:lnSpc>
                          <a:spcPts val="2659"/>
                        </a:lnSpc>
                        <a:defRPr/>
                      </a:pPr>
                      <a:r>
                        <a:rPr lang="en-US" b="true" sz="1899" i="true">
                          <a:solidFill>
                            <a:srgbClr val="000000"/>
                          </a:solidFill>
                          <a:latin typeface="Canva Sans Bold Italics"/>
                          <a:ea typeface="Canva Sans Bold Italics"/>
                          <a:cs typeface="Canva Sans Bold Italics"/>
                          <a:sym typeface="Canva Sans Bold Italics"/>
                        </a:rPr>
                        <a:t>Health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90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pic>
        <p:nvPicPr>
          <p:cNvPr name="Picture 3" id="3"/>
          <p:cNvPicPr>
            <a:picLocks noChangeAspect="true"/>
          </p:cNvPicPr>
          <p:nvPr/>
        </p:nvPicPr>
        <p:blipFill>
          <a:blip r:embed="rId2"/>
          <a:stretch>
            <a:fillRect/>
          </a:stretch>
        </p:blipFill>
        <p:spPr>
          <a:xfrm rot="0">
            <a:off x="8907103" y="134359"/>
            <a:ext cx="8917998" cy="10732086"/>
          </a:xfrm>
          <a:prstGeom prst="rect">
            <a:avLst/>
          </a:prstGeom>
        </p:spPr>
      </p:pic>
      <p:grpSp>
        <p:nvGrpSpPr>
          <p:cNvPr name="Group 4" id="4"/>
          <p:cNvGrpSpPr/>
          <p:nvPr/>
        </p:nvGrpSpPr>
        <p:grpSpPr>
          <a:xfrm rot="0">
            <a:off x="966906" y="2541939"/>
            <a:ext cx="3496759" cy="87197"/>
            <a:chOff x="0" y="0"/>
            <a:chExt cx="920957" cy="22965"/>
          </a:xfrm>
        </p:grpSpPr>
        <p:sp>
          <p:nvSpPr>
            <p:cNvPr name="Freeform 5" id="5"/>
            <p:cNvSpPr/>
            <p:nvPr/>
          </p:nvSpPr>
          <p:spPr>
            <a:xfrm flipH="false" flipV="false" rot="0">
              <a:off x="0" y="0"/>
              <a:ext cx="920957" cy="22965"/>
            </a:xfrm>
            <a:custGeom>
              <a:avLst/>
              <a:gdLst/>
              <a:ahLst/>
              <a:cxnLst/>
              <a:rect r="r" b="b" t="t" l="l"/>
              <a:pathLst>
                <a:path h="22965" w="920957">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sp>
        <p:sp>
          <p:nvSpPr>
            <p:cNvPr name="TextBox 6" id="6"/>
            <p:cNvSpPr txBox="true"/>
            <p:nvPr/>
          </p:nvSpPr>
          <p:spPr>
            <a:xfrm>
              <a:off x="0" y="-38100"/>
              <a:ext cx="920957" cy="6106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947856" y="1288155"/>
            <a:ext cx="5774738" cy="1080416"/>
          </a:xfrm>
          <a:prstGeom prst="rect">
            <a:avLst/>
          </a:prstGeom>
        </p:spPr>
        <p:txBody>
          <a:bodyPr anchor="t" rtlCol="false" tIns="0" lIns="0" bIns="0" rIns="0">
            <a:spAutoFit/>
          </a:bodyPr>
          <a:lstStyle/>
          <a:p>
            <a:pPr algn="l">
              <a:lnSpc>
                <a:spcPts val="4181"/>
              </a:lnSpc>
            </a:pPr>
            <a:r>
              <a:rPr lang="en-US" sz="3573" b="true">
                <a:solidFill>
                  <a:srgbClr val="1F2020"/>
                </a:solidFill>
                <a:latin typeface="Poppins Bold"/>
                <a:ea typeface="Poppins Bold"/>
                <a:cs typeface="Poppins Bold"/>
                <a:sym typeface="Poppins Bold"/>
              </a:rPr>
              <a:t>Industries Most Famous Among Customers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611826"/>
            <a:ext cx="13202894" cy="494729"/>
          </a:xfrm>
          <a:prstGeom prst="rect">
            <a:avLst/>
          </a:prstGeom>
        </p:spPr>
        <p:txBody>
          <a:bodyPr anchor="t" rtlCol="false" tIns="0" lIns="0" bIns="0" rIns="0">
            <a:spAutoFit/>
          </a:bodyPr>
          <a:lstStyle/>
          <a:p>
            <a:pPr algn="l">
              <a:lnSpc>
                <a:spcPts val="4147"/>
              </a:lnSpc>
            </a:pPr>
            <a:r>
              <a:rPr lang="en-US" b="true" sz="2764">
                <a:solidFill>
                  <a:srgbClr val="000000"/>
                </a:solidFill>
                <a:latin typeface="Canva Sans Bold"/>
                <a:ea typeface="Canva Sans Bold"/>
                <a:cs typeface="Canva Sans Bold"/>
                <a:sym typeface="Canva Sans Bold"/>
              </a:rPr>
              <a:t>The marketing team aims to invest on popular web channels in new regions </a:t>
            </a:r>
          </a:p>
        </p:txBody>
      </p:sp>
      <p:sp>
        <p:nvSpPr>
          <p:cNvPr name="TextBox 3" id="3"/>
          <p:cNvSpPr txBox="true"/>
          <p:nvPr/>
        </p:nvSpPr>
        <p:spPr>
          <a:xfrm rot="0">
            <a:off x="1028700" y="1028700"/>
            <a:ext cx="13018458" cy="914400"/>
          </a:xfrm>
          <a:prstGeom prst="rect">
            <a:avLst/>
          </a:prstGeom>
        </p:spPr>
        <p:txBody>
          <a:bodyPr anchor="t" rtlCol="false" tIns="0" lIns="0" bIns="0" rIns="0">
            <a:spAutoFit/>
          </a:bodyPr>
          <a:lstStyle/>
          <a:p>
            <a:pPr algn="l" marL="0" indent="0" lvl="0">
              <a:lnSpc>
                <a:spcPts val="7268"/>
              </a:lnSpc>
              <a:spcBef>
                <a:spcPct val="0"/>
              </a:spcBef>
            </a:pPr>
            <a:r>
              <a:rPr lang="en-US" b="true" sz="6056">
                <a:solidFill>
                  <a:srgbClr val="000000"/>
                </a:solidFill>
                <a:latin typeface="Canva Sans Bold"/>
                <a:ea typeface="Canva Sans Bold"/>
                <a:cs typeface="Canva Sans Bold"/>
                <a:sym typeface="Canva Sans Bold"/>
              </a:rPr>
              <a:t>Least Used Channels</a:t>
            </a:r>
          </a:p>
        </p:txBody>
      </p:sp>
      <p:graphicFrame>
        <p:nvGraphicFramePr>
          <p:cNvPr name="Table 4" id="4"/>
          <p:cNvGraphicFramePr>
            <a:graphicFrameLocks noGrp="true"/>
          </p:cNvGraphicFramePr>
          <p:nvPr/>
        </p:nvGraphicFramePr>
        <p:xfrm>
          <a:off x="1028700" y="3904864"/>
          <a:ext cx="8767261" cy="5366583"/>
        </p:xfrm>
        <a:graphic>
          <a:graphicData uri="http://schemas.openxmlformats.org/drawingml/2006/table">
            <a:tbl>
              <a:tblPr/>
              <a:tblGrid>
                <a:gridCol w="2922420"/>
                <a:gridCol w="2922420"/>
                <a:gridCol w="2922420"/>
              </a:tblGrid>
              <a:tr h="1401218">
                <a:tc>
                  <a:txBody>
                    <a:bodyPr anchor="t" rtlCol="false"/>
                    <a:lstStyle/>
                    <a:p>
                      <a:pPr algn="ctr">
                        <a:lnSpc>
                          <a:spcPts val="2659"/>
                        </a:lnSpc>
                        <a:defRPr/>
                      </a:pPr>
                      <a:endParaRPr lang="en-US" sz="1100"/>
                    </a:p>
                    <a:p>
                      <a:pPr algn="ctr">
                        <a:lnSpc>
                          <a:spcPts val="2659"/>
                        </a:lnSpc>
                      </a:pPr>
                      <a:r>
                        <a:rPr lang="en-US" sz="1899" b="true">
                          <a:solidFill>
                            <a:srgbClr val="FFFFFF"/>
                          </a:solidFill>
                          <a:latin typeface="Canva Sans Bold"/>
                          <a:ea typeface="Canva Sans Bold"/>
                          <a:cs typeface="Canva Sans Bold"/>
                          <a:sym typeface="Canva Sans Bold"/>
                        </a:rPr>
                        <a:t>  Regions</a:t>
                      </a:r>
                    </a:p>
                    <a:p>
                      <a:pPr algn="ctr">
                        <a:lnSpc>
                          <a:spcPts val="2659"/>
                        </a:lnSpc>
                      </a:pPr>
                      <a:r>
                        <a:rPr lang="en-US" sz="1899" b="true">
                          <a:solidFill>
                            <a:srgbClr val="FFFFFF"/>
                          </a:solidFill>
                          <a:latin typeface="Canva Sans Bold"/>
                          <a:ea typeface="Canva Sans Bold"/>
                          <a:cs typeface="Canva Sans Bold"/>
                          <a:sym typeface="Canva Sans Bold"/>
                        </a:rPr>
                        <a:t>  </a:t>
                      </a:r>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Channel Name  </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Least Usage count</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8F4101"/>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9741"/>
                    </a:solidFill>
                  </a:tcPr>
                </a:tc>
              </a:tr>
              <a:tr h="991341">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Northeast</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Twitter</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E7191F"/>
                          </a:solidFill>
                          <a:latin typeface="Canva Sans"/>
                          <a:ea typeface="Canva Sans"/>
                          <a:cs typeface="Canva Sans"/>
                          <a:sym typeface="Canva Sans"/>
                        </a:rPr>
                        <a:t>154</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91341">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Southeast</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Banner</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E7191F"/>
                          </a:solidFill>
                          <a:latin typeface="Canva Sans"/>
                          <a:ea typeface="Canva Sans"/>
                          <a:cs typeface="Canva Sans"/>
                          <a:sym typeface="Canva Sans"/>
                        </a:rPr>
                        <a:t>59</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91341">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West</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Twitter</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E7191F"/>
                          </a:solidFill>
                          <a:latin typeface="Canva Sans"/>
                          <a:ea typeface="Canva Sans"/>
                          <a:cs typeface="Canva Sans"/>
                          <a:sym typeface="Canva Sans"/>
                        </a:rPr>
                        <a:t>127</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91341">
                <a:tc>
                  <a:txBody>
                    <a:bodyPr anchor="t" rtlCol="false"/>
                    <a:lstStyle/>
                    <a:p>
                      <a:pPr algn="ctr">
                        <a:lnSpc>
                          <a:spcPts val="949"/>
                        </a:lnSpc>
                        <a:defRPr/>
                      </a:pPr>
                      <a:r>
                        <a:rPr lang="en-US" b="true" sz="1899" i="true" spc="-41">
                          <a:solidFill>
                            <a:srgbClr val="000000"/>
                          </a:solidFill>
                          <a:latin typeface="Canva Sans Bold Italics"/>
                          <a:ea typeface="Canva Sans Bold Italics"/>
                          <a:cs typeface="Canva Sans Bold Italics"/>
                          <a:sym typeface="Canva Sans Bold Italics"/>
                        </a:rPr>
                        <a:t>Midwest</a:t>
                      </a:r>
                      <a:endParaRPr lang="en-US" sz="1100"/>
                    </a:p>
                  </a:txBody>
                  <a:tcPr marL="0" marR="0" marT="0" marB="0" anchor="ctr">
                    <a:lnL cmpd="sng" algn="ctr" cap="flat" w="9525">
                      <a:solidFill>
                        <a:srgbClr val="8F4101"/>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000000"/>
                          </a:solidFill>
                          <a:latin typeface="Canva Sans"/>
                          <a:ea typeface="Canva Sans"/>
                          <a:cs typeface="Canva Sans"/>
                          <a:sym typeface="Canva Sans"/>
                        </a:rPr>
                        <a:t>Banner</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949"/>
                        </a:lnSpc>
                        <a:defRPr/>
                      </a:pPr>
                      <a:r>
                        <a:rPr lang="en-US" sz="1899" spc="-41">
                          <a:solidFill>
                            <a:srgbClr val="E7191F"/>
                          </a:solidFill>
                          <a:latin typeface="Canva Sans"/>
                          <a:ea typeface="Canva Sans"/>
                          <a:cs typeface="Canva Sans"/>
                          <a:sym typeface="Canva Sans"/>
                        </a:rPr>
                        <a:t>116</a:t>
                      </a:r>
                      <a:endParaRPr lang="en-US" sz="1100"/>
                    </a:p>
                  </a:txBody>
                  <a:tcPr marL="0" marR="0" marT="0" marB="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pic>
        <p:nvPicPr>
          <p:cNvPr name="Picture 5" id="5"/>
          <p:cNvPicPr>
            <a:picLocks noChangeAspect="true"/>
          </p:cNvPicPr>
          <p:nvPr/>
        </p:nvPicPr>
        <p:blipFill>
          <a:blip r:embed="rId2"/>
          <a:stretch>
            <a:fillRect/>
          </a:stretch>
        </p:blipFill>
        <p:spPr>
          <a:xfrm rot="0">
            <a:off x="10586595" y="3394878"/>
            <a:ext cx="2807749" cy="2807749"/>
          </a:xfrm>
          <a:prstGeom prst="rect">
            <a:avLst/>
          </a:prstGeom>
        </p:spPr>
      </p:pic>
      <p:sp>
        <p:nvSpPr>
          <p:cNvPr name="TextBox 6" id="6"/>
          <p:cNvSpPr txBox="true"/>
          <p:nvPr/>
        </p:nvSpPr>
        <p:spPr>
          <a:xfrm rot="0">
            <a:off x="10886928" y="6178575"/>
            <a:ext cx="2507966" cy="290518"/>
          </a:xfrm>
          <a:prstGeom prst="rect">
            <a:avLst/>
          </a:prstGeom>
        </p:spPr>
        <p:txBody>
          <a:bodyPr anchor="t" rtlCol="false" tIns="0" lIns="0" bIns="0" rIns="0">
            <a:spAutoFit/>
          </a:bodyPr>
          <a:lstStyle/>
          <a:p>
            <a:pPr algn="ctr">
              <a:lnSpc>
                <a:spcPts val="2457"/>
              </a:lnSpc>
              <a:spcBef>
                <a:spcPct val="0"/>
              </a:spcBef>
            </a:pPr>
            <a:r>
              <a:rPr lang="en-US" b="true" sz="1755">
                <a:solidFill>
                  <a:srgbClr val="1F2020"/>
                </a:solidFill>
                <a:latin typeface="Open Sans Bold"/>
                <a:ea typeface="Open Sans Bold"/>
                <a:cs typeface="Open Sans Bold"/>
                <a:sym typeface="Open Sans Bold"/>
              </a:rPr>
              <a:t>NORTHEAST</a:t>
            </a:r>
          </a:p>
        </p:txBody>
      </p:sp>
      <p:pic>
        <p:nvPicPr>
          <p:cNvPr name="Picture 7" id="7"/>
          <p:cNvPicPr>
            <a:picLocks noChangeAspect="true"/>
          </p:cNvPicPr>
          <p:nvPr/>
        </p:nvPicPr>
        <p:blipFill>
          <a:blip r:embed="rId3"/>
          <a:stretch>
            <a:fillRect/>
          </a:stretch>
        </p:blipFill>
        <p:spPr>
          <a:xfrm rot="0">
            <a:off x="13824562" y="3394878"/>
            <a:ext cx="2807749" cy="2807749"/>
          </a:xfrm>
          <a:prstGeom prst="rect">
            <a:avLst/>
          </a:prstGeom>
        </p:spPr>
      </p:pic>
      <p:sp>
        <p:nvSpPr>
          <p:cNvPr name="TextBox 8" id="8"/>
          <p:cNvSpPr txBox="true"/>
          <p:nvPr/>
        </p:nvSpPr>
        <p:spPr>
          <a:xfrm rot="0">
            <a:off x="14124895" y="6178575"/>
            <a:ext cx="2507966" cy="290518"/>
          </a:xfrm>
          <a:prstGeom prst="rect">
            <a:avLst/>
          </a:prstGeom>
        </p:spPr>
        <p:txBody>
          <a:bodyPr anchor="t" rtlCol="false" tIns="0" lIns="0" bIns="0" rIns="0">
            <a:spAutoFit/>
          </a:bodyPr>
          <a:lstStyle/>
          <a:p>
            <a:pPr algn="ctr">
              <a:lnSpc>
                <a:spcPts val="2457"/>
              </a:lnSpc>
              <a:spcBef>
                <a:spcPct val="0"/>
              </a:spcBef>
            </a:pPr>
            <a:r>
              <a:rPr lang="en-US" b="true" sz="1755">
                <a:solidFill>
                  <a:srgbClr val="1F2020"/>
                </a:solidFill>
                <a:latin typeface="Open Sans Bold"/>
                <a:ea typeface="Open Sans Bold"/>
                <a:cs typeface="Open Sans Bold"/>
                <a:sym typeface="Open Sans Bold"/>
              </a:rPr>
              <a:t>SOUTHEAST</a:t>
            </a:r>
          </a:p>
        </p:txBody>
      </p:sp>
      <p:pic>
        <p:nvPicPr>
          <p:cNvPr name="Picture 9" id="9"/>
          <p:cNvPicPr>
            <a:picLocks noChangeAspect="true"/>
          </p:cNvPicPr>
          <p:nvPr/>
        </p:nvPicPr>
        <p:blipFill>
          <a:blip r:embed="rId4"/>
          <a:stretch>
            <a:fillRect/>
          </a:stretch>
        </p:blipFill>
        <p:spPr>
          <a:xfrm rot="0">
            <a:off x="10652949" y="6473239"/>
            <a:ext cx="2807749" cy="2807749"/>
          </a:xfrm>
          <a:prstGeom prst="rect">
            <a:avLst/>
          </a:prstGeom>
        </p:spPr>
      </p:pic>
      <p:sp>
        <p:nvSpPr>
          <p:cNvPr name="TextBox 10" id="10"/>
          <p:cNvSpPr txBox="true"/>
          <p:nvPr/>
        </p:nvSpPr>
        <p:spPr>
          <a:xfrm rot="0">
            <a:off x="10820574" y="9256936"/>
            <a:ext cx="2507966" cy="290518"/>
          </a:xfrm>
          <a:prstGeom prst="rect">
            <a:avLst/>
          </a:prstGeom>
        </p:spPr>
        <p:txBody>
          <a:bodyPr anchor="t" rtlCol="false" tIns="0" lIns="0" bIns="0" rIns="0">
            <a:spAutoFit/>
          </a:bodyPr>
          <a:lstStyle/>
          <a:p>
            <a:pPr algn="ctr">
              <a:lnSpc>
                <a:spcPts val="2457"/>
              </a:lnSpc>
              <a:spcBef>
                <a:spcPct val="0"/>
              </a:spcBef>
            </a:pPr>
            <a:r>
              <a:rPr lang="en-US" b="true" sz="1755">
                <a:solidFill>
                  <a:srgbClr val="1F2020"/>
                </a:solidFill>
                <a:latin typeface="Open Sans Bold"/>
                <a:ea typeface="Open Sans Bold"/>
                <a:cs typeface="Open Sans Bold"/>
                <a:sym typeface="Open Sans Bold"/>
              </a:rPr>
              <a:t>WEST</a:t>
            </a:r>
          </a:p>
        </p:txBody>
      </p:sp>
      <p:pic>
        <p:nvPicPr>
          <p:cNvPr name="Picture 11" id="11"/>
          <p:cNvPicPr>
            <a:picLocks noChangeAspect="true"/>
          </p:cNvPicPr>
          <p:nvPr/>
        </p:nvPicPr>
        <p:blipFill>
          <a:blip r:embed="rId5"/>
          <a:stretch>
            <a:fillRect/>
          </a:stretch>
        </p:blipFill>
        <p:spPr>
          <a:xfrm rot="0">
            <a:off x="13890916" y="6473239"/>
            <a:ext cx="2807749" cy="2807749"/>
          </a:xfrm>
          <a:prstGeom prst="rect">
            <a:avLst/>
          </a:prstGeom>
        </p:spPr>
      </p:pic>
      <p:sp>
        <p:nvSpPr>
          <p:cNvPr name="TextBox 12" id="12"/>
          <p:cNvSpPr txBox="true"/>
          <p:nvPr/>
        </p:nvSpPr>
        <p:spPr>
          <a:xfrm rot="0">
            <a:off x="14058541" y="9229725"/>
            <a:ext cx="2507966" cy="290518"/>
          </a:xfrm>
          <a:prstGeom prst="rect">
            <a:avLst/>
          </a:prstGeom>
        </p:spPr>
        <p:txBody>
          <a:bodyPr anchor="t" rtlCol="false" tIns="0" lIns="0" bIns="0" rIns="0">
            <a:spAutoFit/>
          </a:bodyPr>
          <a:lstStyle/>
          <a:p>
            <a:pPr algn="ctr">
              <a:lnSpc>
                <a:spcPts val="2457"/>
              </a:lnSpc>
              <a:spcBef>
                <a:spcPct val="0"/>
              </a:spcBef>
            </a:pPr>
            <a:r>
              <a:rPr lang="en-US" b="true" sz="1755">
                <a:solidFill>
                  <a:srgbClr val="1F2020"/>
                </a:solidFill>
                <a:latin typeface="Open Sans Bold"/>
                <a:ea typeface="Open Sans Bold"/>
                <a:cs typeface="Open Sans Bold"/>
                <a:sym typeface="Open Sans Bold"/>
              </a:rPr>
              <a:t>MIDWEST</a:t>
            </a:r>
          </a:p>
        </p:txBody>
      </p:sp>
      <p:grpSp>
        <p:nvGrpSpPr>
          <p:cNvPr name="Group 13" id="13"/>
          <p:cNvGrpSpPr/>
          <p:nvPr/>
        </p:nvGrpSpPr>
        <p:grpSpPr>
          <a:xfrm rot="0">
            <a:off x="1028700" y="1943100"/>
            <a:ext cx="3496759" cy="108294"/>
            <a:chOff x="0" y="0"/>
            <a:chExt cx="920957" cy="28522"/>
          </a:xfrm>
        </p:grpSpPr>
        <p:sp>
          <p:nvSpPr>
            <p:cNvPr name="Freeform 14" id="14"/>
            <p:cNvSpPr/>
            <p:nvPr/>
          </p:nvSpPr>
          <p:spPr>
            <a:xfrm flipH="false" flipV="false" rot="0">
              <a:off x="0" y="0"/>
              <a:ext cx="920957" cy="28522"/>
            </a:xfrm>
            <a:custGeom>
              <a:avLst/>
              <a:gdLst/>
              <a:ahLst/>
              <a:cxnLst/>
              <a:rect r="r" b="b" t="t" l="l"/>
              <a:pathLst>
                <a:path h="28522" w="920957">
                  <a:moveTo>
                    <a:pt x="14261" y="0"/>
                  </a:moveTo>
                  <a:lnTo>
                    <a:pt x="906696" y="0"/>
                  </a:lnTo>
                  <a:cubicBezTo>
                    <a:pt x="914572" y="0"/>
                    <a:pt x="920957" y="6385"/>
                    <a:pt x="920957" y="14261"/>
                  </a:cubicBezTo>
                  <a:lnTo>
                    <a:pt x="920957" y="14261"/>
                  </a:lnTo>
                  <a:cubicBezTo>
                    <a:pt x="920957" y="18043"/>
                    <a:pt x="919455" y="21670"/>
                    <a:pt x="916780" y="24345"/>
                  </a:cubicBezTo>
                  <a:cubicBezTo>
                    <a:pt x="914106" y="27019"/>
                    <a:pt x="910479" y="28522"/>
                    <a:pt x="906696" y="28522"/>
                  </a:cubicBezTo>
                  <a:lnTo>
                    <a:pt x="14261" y="28522"/>
                  </a:lnTo>
                  <a:cubicBezTo>
                    <a:pt x="10479" y="28522"/>
                    <a:pt x="6851" y="27019"/>
                    <a:pt x="4177" y="24345"/>
                  </a:cubicBezTo>
                  <a:cubicBezTo>
                    <a:pt x="1502" y="21670"/>
                    <a:pt x="0" y="18043"/>
                    <a:pt x="0" y="14261"/>
                  </a:cubicBezTo>
                  <a:lnTo>
                    <a:pt x="0" y="14261"/>
                  </a:lnTo>
                  <a:cubicBezTo>
                    <a:pt x="0" y="10479"/>
                    <a:pt x="1502" y="6851"/>
                    <a:pt x="4177" y="4177"/>
                  </a:cubicBezTo>
                  <a:cubicBezTo>
                    <a:pt x="6851" y="1502"/>
                    <a:pt x="10479" y="0"/>
                    <a:pt x="14261" y="0"/>
                  </a:cubicBezTo>
                  <a:close/>
                </a:path>
              </a:pathLst>
            </a:custGeom>
            <a:solidFill>
              <a:srgbClr val="FF7300"/>
            </a:solidFill>
          </p:spPr>
        </p:sp>
        <p:sp>
          <p:nvSpPr>
            <p:cNvPr name="TextBox 15" id="15"/>
            <p:cNvSpPr txBox="true"/>
            <p:nvPr/>
          </p:nvSpPr>
          <p:spPr>
            <a:xfrm>
              <a:off x="0" y="-38100"/>
              <a:ext cx="920957" cy="6662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2031964"/>
            <a:ext cx="3496759" cy="87197"/>
            <a:chOff x="0" y="0"/>
            <a:chExt cx="920957" cy="22965"/>
          </a:xfrm>
        </p:grpSpPr>
        <p:sp>
          <p:nvSpPr>
            <p:cNvPr name="Freeform 3" id="3"/>
            <p:cNvSpPr/>
            <p:nvPr/>
          </p:nvSpPr>
          <p:spPr>
            <a:xfrm flipH="false" flipV="false" rot="0">
              <a:off x="0" y="0"/>
              <a:ext cx="920957" cy="22965"/>
            </a:xfrm>
            <a:custGeom>
              <a:avLst/>
              <a:gdLst/>
              <a:ahLst/>
              <a:cxnLst/>
              <a:rect r="r" b="b" t="t" l="l"/>
              <a:pathLst>
                <a:path h="22965" w="920957">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sp>
        <p:sp>
          <p:nvSpPr>
            <p:cNvPr name="TextBox 4" id="4"/>
            <p:cNvSpPr txBox="true"/>
            <p:nvPr/>
          </p:nvSpPr>
          <p:spPr>
            <a:xfrm>
              <a:off x="0" y="-38100"/>
              <a:ext cx="920957" cy="6106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3157386"/>
            <a:ext cx="677751" cy="67775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7300"/>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8" id="8"/>
          <p:cNvGrpSpPr/>
          <p:nvPr/>
        </p:nvGrpSpPr>
        <p:grpSpPr>
          <a:xfrm rot="0">
            <a:off x="1028700" y="4465749"/>
            <a:ext cx="677751" cy="67775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7300"/>
            </a:solidFill>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1" id="11"/>
          <p:cNvSpPr/>
          <p:nvPr/>
        </p:nvSpPr>
        <p:spPr>
          <a:xfrm flipH="false" flipV="false" rot="0">
            <a:off x="1198182" y="7366285"/>
            <a:ext cx="3157795" cy="1642054"/>
          </a:xfrm>
          <a:custGeom>
            <a:avLst/>
            <a:gdLst/>
            <a:ahLst/>
            <a:cxnLst/>
            <a:rect r="r" b="b" t="t" l="l"/>
            <a:pathLst>
              <a:path h="1642054" w="3157795">
                <a:moveTo>
                  <a:pt x="0" y="0"/>
                </a:moveTo>
                <a:lnTo>
                  <a:pt x="3157795" y="0"/>
                </a:lnTo>
                <a:lnTo>
                  <a:pt x="3157795" y="1642054"/>
                </a:lnTo>
                <a:lnTo>
                  <a:pt x="0" y="16420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5845901" y="6957109"/>
            <a:ext cx="2518403" cy="2301191"/>
          </a:xfrm>
          <a:custGeom>
            <a:avLst/>
            <a:gdLst/>
            <a:ahLst/>
            <a:cxnLst/>
            <a:rect r="r" b="b" t="t" l="l"/>
            <a:pathLst>
              <a:path h="2301191" w="2518403">
                <a:moveTo>
                  <a:pt x="0" y="0"/>
                </a:moveTo>
                <a:lnTo>
                  <a:pt x="2518403" y="0"/>
                </a:lnTo>
                <a:lnTo>
                  <a:pt x="2518403" y="2301191"/>
                </a:lnTo>
                <a:lnTo>
                  <a:pt x="0" y="23011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2018866" y="3221727"/>
            <a:ext cx="7854411" cy="613410"/>
          </a:xfrm>
          <a:prstGeom prst="rect">
            <a:avLst/>
          </a:prstGeom>
        </p:spPr>
        <p:txBody>
          <a:bodyPr anchor="t" rtlCol="false" tIns="0" lIns="0" bIns="0" rIns="0">
            <a:spAutoFit/>
          </a:bodyPr>
          <a:lstStyle/>
          <a:p>
            <a:pPr algn="l">
              <a:lnSpc>
                <a:spcPts val="5040"/>
              </a:lnSpc>
              <a:spcBef>
                <a:spcPct val="0"/>
              </a:spcBef>
            </a:pPr>
            <a:r>
              <a:rPr lang="en-US" sz="3600">
                <a:solidFill>
                  <a:srgbClr val="1F2020"/>
                </a:solidFill>
                <a:latin typeface="Open Sans"/>
                <a:ea typeface="Open Sans"/>
                <a:cs typeface="Open Sans"/>
                <a:sym typeface="Open Sans"/>
              </a:rPr>
              <a:t>Internal &amp; external competitors</a:t>
            </a:r>
          </a:p>
        </p:txBody>
      </p:sp>
      <p:sp>
        <p:nvSpPr>
          <p:cNvPr name="AutoShape 14" id="14"/>
          <p:cNvSpPr/>
          <p:nvPr/>
        </p:nvSpPr>
        <p:spPr>
          <a:xfrm flipV="true">
            <a:off x="9873277" y="1652453"/>
            <a:ext cx="0" cy="7229998"/>
          </a:xfrm>
          <a:prstGeom prst="line">
            <a:avLst/>
          </a:prstGeom>
          <a:ln cap="flat" w="38100">
            <a:solidFill>
              <a:srgbClr val="000000"/>
            </a:solidFill>
            <a:prstDash val="sysDot"/>
            <a:headEnd type="none" len="sm" w="sm"/>
            <a:tailEnd type="none" len="sm" w="sm"/>
          </a:ln>
        </p:spPr>
      </p:sp>
      <p:grpSp>
        <p:nvGrpSpPr>
          <p:cNvPr name="Group 15" id="15"/>
          <p:cNvGrpSpPr/>
          <p:nvPr/>
        </p:nvGrpSpPr>
        <p:grpSpPr>
          <a:xfrm rot="0">
            <a:off x="10641312" y="2075563"/>
            <a:ext cx="3496759" cy="87197"/>
            <a:chOff x="0" y="0"/>
            <a:chExt cx="920957" cy="22965"/>
          </a:xfrm>
        </p:grpSpPr>
        <p:sp>
          <p:nvSpPr>
            <p:cNvPr name="Freeform 16" id="16"/>
            <p:cNvSpPr/>
            <p:nvPr/>
          </p:nvSpPr>
          <p:spPr>
            <a:xfrm flipH="false" flipV="false" rot="0">
              <a:off x="0" y="0"/>
              <a:ext cx="920957" cy="22965"/>
            </a:xfrm>
            <a:custGeom>
              <a:avLst/>
              <a:gdLst/>
              <a:ahLst/>
              <a:cxnLst/>
              <a:rect r="r" b="b" t="t" l="l"/>
              <a:pathLst>
                <a:path h="22965" w="920957">
                  <a:moveTo>
                    <a:pt x="11483" y="0"/>
                  </a:moveTo>
                  <a:lnTo>
                    <a:pt x="909475" y="0"/>
                  </a:lnTo>
                  <a:cubicBezTo>
                    <a:pt x="915816" y="0"/>
                    <a:pt x="920957" y="5141"/>
                    <a:pt x="920957" y="11483"/>
                  </a:cubicBezTo>
                  <a:lnTo>
                    <a:pt x="920957" y="11483"/>
                  </a:lnTo>
                  <a:cubicBezTo>
                    <a:pt x="920957" y="14528"/>
                    <a:pt x="919747" y="17449"/>
                    <a:pt x="917594" y="19602"/>
                  </a:cubicBezTo>
                  <a:cubicBezTo>
                    <a:pt x="915441" y="21756"/>
                    <a:pt x="912520" y="22965"/>
                    <a:pt x="909475" y="22965"/>
                  </a:cubicBezTo>
                  <a:lnTo>
                    <a:pt x="11483" y="22965"/>
                  </a:lnTo>
                  <a:cubicBezTo>
                    <a:pt x="8437" y="22965"/>
                    <a:pt x="5517" y="21756"/>
                    <a:pt x="3363" y="19602"/>
                  </a:cubicBezTo>
                  <a:cubicBezTo>
                    <a:pt x="1210" y="17449"/>
                    <a:pt x="0" y="14528"/>
                    <a:pt x="0" y="11483"/>
                  </a:cubicBezTo>
                  <a:lnTo>
                    <a:pt x="0" y="11483"/>
                  </a:lnTo>
                  <a:cubicBezTo>
                    <a:pt x="0" y="8437"/>
                    <a:pt x="1210" y="5517"/>
                    <a:pt x="3363" y="3363"/>
                  </a:cubicBezTo>
                  <a:cubicBezTo>
                    <a:pt x="5517" y="1210"/>
                    <a:pt x="8437" y="0"/>
                    <a:pt x="11483" y="0"/>
                  </a:cubicBezTo>
                  <a:close/>
                </a:path>
              </a:pathLst>
            </a:custGeom>
            <a:solidFill>
              <a:srgbClr val="FF7300"/>
            </a:solidFill>
          </p:spPr>
        </p:sp>
        <p:sp>
          <p:nvSpPr>
            <p:cNvPr name="TextBox 17" id="17"/>
            <p:cNvSpPr txBox="true"/>
            <p:nvPr/>
          </p:nvSpPr>
          <p:spPr>
            <a:xfrm>
              <a:off x="0" y="-38100"/>
              <a:ext cx="920957" cy="6106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028700" y="1364657"/>
            <a:ext cx="5312952" cy="556541"/>
          </a:xfrm>
          <a:prstGeom prst="rect">
            <a:avLst/>
          </a:prstGeom>
        </p:spPr>
        <p:txBody>
          <a:bodyPr anchor="t" rtlCol="false" tIns="0" lIns="0" bIns="0" rIns="0">
            <a:spAutoFit/>
          </a:bodyPr>
          <a:lstStyle/>
          <a:p>
            <a:pPr algn="l">
              <a:lnSpc>
                <a:spcPts val="4181"/>
              </a:lnSpc>
            </a:pPr>
            <a:r>
              <a:rPr lang="en-US" sz="3573" b="true">
                <a:solidFill>
                  <a:srgbClr val="1F2020"/>
                </a:solidFill>
                <a:latin typeface="Poppins Bold"/>
                <a:ea typeface="Poppins Bold"/>
                <a:cs typeface="Poppins Bold"/>
                <a:sym typeface="Poppins Bold"/>
              </a:rPr>
              <a:t>More Areas to Explore</a:t>
            </a:r>
          </a:p>
        </p:txBody>
      </p:sp>
      <p:sp>
        <p:nvSpPr>
          <p:cNvPr name="TextBox 19" id="19"/>
          <p:cNvSpPr txBox="true"/>
          <p:nvPr/>
        </p:nvSpPr>
        <p:spPr>
          <a:xfrm rot="0">
            <a:off x="1119520" y="3333384"/>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20" id="20"/>
          <p:cNvSpPr txBox="true"/>
          <p:nvPr/>
        </p:nvSpPr>
        <p:spPr>
          <a:xfrm rot="0">
            <a:off x="2018866" y="4529308"/>
            <a:ext cx="7295363" cy="613410"/>
          </a:xfrm>
          <a:prstGeom prst="rect">
            <a:avLst/>
          </a:prstGeom>
        </p:spPr>
        <p:txBody>
          <a:bodyPr anchor="t" rtlCol="false" tIns="0" lIns="0" bIns="0" rIns="0">
            <a:spAutoFit/>
          </a:bodyPr>
          <a:lstStyle/>
          <a:p>
            <a:pPr algn="l">
              <a:lnSpc>
                <a:spcPts val="5040"/>
              </a:lnSpc>
              <a:spcBef>
                <a:spcPct val="0"/>
              </a:spcBef>
            </a:pPr>
            <a:r>
              <a:rPr lang="en-US" sz="3600">
                <a:solidFill>
                  <a:srgbClr val="1F2020"/>
                </a:solidFill>
                <a:latin typeface="Open Sans"/>
                <a:ea typeface="Open Sans"/>
                <a:cs typeface="Open Sans"/>
                <a:sym typeface="Open Sans"/>
              </a:rPr>
              <a:t>Customer retention &amp; satisfaction</a:t>
            </a:r>
          </a:p>
        </p:txBody>
      </p:sp>
      <p:sp>
        <p:nvSpPr>
          <p:cNvPr name="TextBox 21" id="21"/>
          <p:cNvSpPr txBox="true"/>
          <p:nvPr/>
        </p:nvSpPr>
        <p:spPr>
          <a:xfrm rot="0">
            <a:off x="1119520" y="464097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22" id="22"/>
          <p:cNvSpPr txBox="true"/>
          <p:nvPr/>
        </p:nvSpPr>
        <p:spPr>
          <a:xfrm rot="0">
            <a:off x="10641312" y="1394542"/>
            <a:ext cx="5312952" cy="556541"/>
          </a:xfrm>
          <a:prstGeom prst="rect">
            <a:avLst/>
          </a:prstGeom>
        </p:spPr>
        <p:txBody>
          <a:bodyPr anchor="t" rtlCol="false" tIns="0" lIns="0" bIns="0" rIns="0">
            <a:spAutoFit/>
          </a:bodyPr>
          <a:lstStyle/>
          <a:p>
            <a:pPr algn="l">
              <a:lnSpc>
                <a:spcPts val="4181"/>
              </a:lnSpc>
            </a:pPr>
            <a:r>
              <a:rPr lang="en-US" sz="3573" b="true">
                <a:solidFill>
                  <a:srgbClr val="1F2020"/>
                </a:solidFill>
                <a:latin typeface="Poppins Bold"/>
                <a:ea typeface="Poppins Bold"/>
                <a:cs typeface="Poppins Bold"/>
                <a:sym typeface="Poppins Bold"/>
              </a:rPr>
              <a:t>Recommendations</a:t>
            </a:r>
          </a:p>
        </p:txBody>
      </p:sp>
      <p:sp>
        <p:nvSpPr>
          <p:cNvPr name="TextBox 23" id="23"/>
          <p:cNvSpPr txBox="true"/>
          <p:nvPr/>
        </p:nvSpPr>
        <p:spPr>
          <a:xfrm rot="0">
            <a:off x="11698856" y="4993085"/>
            <a:ext cx="7854411" cy="613410"/>
          </a:xfrm>
          <a:prstGeom prst="rect">
            <a:avLst/>
          </a:prstGeom>
        </p:spPr>
        <p:txBody>
          <a:bodyPr anchor="t" rtlCol="false" tIns="0" lIns="0" bIns="0" rIns="0">
            <a:spAutoFit/>
          </a:bodyPr>
          <a:lstStyle/>
          <a:p>
            <a:pPr algn="l">
              <a:lnSpc>
                <a:spcPts val="5040"/>
              </a:lnSpc>
              <a:spcBef>
                <a:spcPct val="0"/>
              </a:spcBef>
            </a:pPr>
            <a:r>
              <a:rPr lang="en-US" sz="3600">
                <a:solidFill>
                  <a:srgbClr val="1F2020"/>
                </a:solidFill>
                <a:latin typeface="Open Sans"/>
                <a:ea typeface="Open Sans"/>
                <a:cs typeface="Open Sans"/>
                <a:sym typeface="Open Sans"/>
              </a:rPr>
              <a:t>Not to Proceed</a:t>
            </a:r>
          </a:p>
        </p:txBody>
      </p:sp>
      <p:grpSp>
        <p:nvGrpSpPr>
          <p:cNvPr name="Group 24" id="24"/>
          <p:cNvGrpSpPr/>
          <p:nvPr/>
        </p:nvGrpSpPr>
        <p:grpSpPr>
          <a:xfrm rot="0">
            <a:off x="1028700" y="5838825"/>
            <a:ext cx="677751" cy="67775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7300"/>
            </a:solidFill>
          </p:spPr>
        </p:sp>
        <p:sp>
          <p:nvSpPr>
            <p:cNvPr name="TextBox 26" id="2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27" id="27"/>
          <p:cNvSpPr txBox="true"/>
          <p:nvPr/>
        </p:nvSpPr>
        <p:spPr>
          <a:xfrm rot="0">
            <a:off x="2018866" y="5836889"/>
            <a:ext cx="7295363" cy="613410"/>
          </a:xfrm>
          <a:prstGeom prst="rect">
            <a:avLst/>
          </a:prstGeom>
        </p:spPr>
        <p:txBody>
          <a:bodyPr anchor="t" rtlCol="false" tIns="0" lIns="0" bIns="0" rIns="0">
            <a:spAutoFit/>
          </a:bodyPr>
          <a:lstStyle/>
          <a:p>
            <a:pPr algn="l">
              <a:lnSpc>
                <a:spcPts val="5040"/>
              </a:lnSpc>
              <a:spcBef>
                <a:spcPct val="0"/>
              </a:spcBef>
            </a:pPr>
            <a:r>
              <a:rPr lang="en-US" sz="3600">
                <a:solidFill>
                  <a:srgbClr val="1F2020"/>
                </a:solidFill>
                <a:latin typeface="Open Sans"/>
                <a:ea typeface="Open Sans"/>
                <a:cs typeface="Open Sans"/>
                <a:sym typeface="Open Sans"/>
              </a:rPr>
              <a:t>Financial status</a:t>
            </a:r>
          </a:p>
        </p:txBody>
      </p:sp>
      <p:sp>
        <p:nvSpPr>
          <p:cNvPr name="TextBox 28" id="28"/>
          <p:cNvSpPr txBox="true"/>
          <p:nvPr/>
        </p:nvSpPr>
        <p:spPr>
          <a:xfrm rot="0">
            <a:off x="1119520" y="6014054"/>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587266" y="4075543"/>
            <a:ext cx="11113467" cy="2721339"/>
            <a:chOff x="0" y="0"/>
            <a:chExt cx="3319331" cy="812800"/>
          </a:xfrm>
        </p:grpSpPr>
        <p:sp>
          <p:nvSpPr>
            <p:cNvPr name="Freeform 4" id="4"/>
            <p:cNvSpPr/>
            <p:nvPr/>
          </p:nvSpPr>
          <p:spPr>
            <a:xfrm flipH="false" flipV="false" rot="0">
              <a:off x="0" y="0"/>
              <a:ext cx="3319331" cy="812800"/>
            </a:xfrm>
            <a:custGeom>
              <a:avLst/>
              <a:gdLst/>
              <a:ahLst/>
              <a:cxnLst/>
              <a:rect r="r" b="b" t="t" l="l"/>
              <a:pathLst>
                <a:path h="812800" w="3319331">
                  <a:moveTo>
                    <a:pt x="0" y="0"/>
                  </a:moveTo>
                  <a:lnTo>
                    <a:pt x="3319331" y="0"/>
                  </a:lnTo>
                  <a:lnTo>
                    <a:pt x="3319331" y="812800"/>
                  </a:lnTo>
                  <a:lnTo>
                    <a:pt x="0" y="812800"/>
                  </a:lnTo>
                  <a:close/>
                </a:path>
              </a:pathLst>
            </a:custGeom>
            <a:ln w="38100" cap="sq">
              <a:solidFill>
                <a:srgbClr val="FF7300"/>
              </a:solidFill>
              <a:prstDash val="solid"/>
              <a:miter/>
            </a:ln>
          </p:spPr>
        </p:sp>
        <p:sp>
          <p:nvSpPr>
            <p:cNvPr name="TextBox 5" id="5"/>
            <p:cNvSpPr txBox="true"/>
            <p:nvPr/>
          </p:nvSpPr>
          <p:spPr>
            <a:xfrm>
              <a:off x="0" y="-38100"/>
              <a:ext cx="3319331" cy="8509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62535" y="-1087604"/>
            <a:ext cx="19583687" cy="13047631"/>
          </a:xfrm>
          <a:custGeom>
            <a:avLst/>
            <a:gdLst/>
            <a:ahLst/>
            <a:cxnLst/>
            <a:rect r="r" b="b" t="t" l="l"/>
            <a:pathLst>
              <a:path h="13047631" w="19583687">
                <a:moveTo>
                  <a:pt x="0" y="0"/>
                </a:moveTo>
                <a:lnTo>
                  <a:pt x="19583687" y="0"/>
                </a:lnTo>
                <a:lnTo>
                  <a:pt x="19583687" y="13047632"/>
                </a:lnTo>
                <a:lnTo>
                  <a:pt x="0" y="13047632"/>
                </a:lnTo>
                <a:lnTo>
                  <a:pt x="0" y="0"/>
                </a:lnTo>
                <a:close/>
              </a:path>
            </a:pathLst>
          </a:custGeom>
          <a:blipFill>
            <a:blip r:embed="rId3"/>
            <a:stretch>
              <a:fillRect l="0" t="0" r="0" b="0"/>
            </a:stretch>
          </a:blipFill>
        </p:spPr>
      </p:sp>
      <p:sp>
        <p:nvSpPr>
          <p:cNvPr name="TextBox 7" id="7"/>
          <p:cNvSpPr txBox="true"/>
          <p:nvPr/>
        </p:nvSpPr>
        <p:spPr>
          <a:xfrm rot="0">
            <a:off x="4275457" y="4306888"/>
            <a:ext cx="9737086" cy="2039574"/>
          </a:xfrm>
          <a:prstGeom prst="rect">
            <a:avLst/>
          </a:prstGeom>
        </p:spPr>
        <p:txBody>
          <a:bodyPr anchor="t" rtlCol="false" tIns="0" lIns="0" bIns="0" rIns="0">
            <a:spAutoFit/>
          </a:bodyPr>
          <a:lstStyle/>
          <a:p>
            <a:pPr algn="ctr">
              <a:lnSpc>
                <a:spcPts val="16783"/>
              </a:lnSpc>
              <a:spcBef>
                <a:spcPct val="0"/>
              </a:spcBef>
            </a:pPr>
            <a:r>
              <a:rPr lang="en-US" b="true" sz="11988">
                <a:solidFill>
                  <a:srgbClr val="000000"/>
                </a:solidFill>
                <a:latin typeface="Montserrat Bold"/>
                <a:ea typeface="Montserrat Bold"/>
                <a:cs typeface="Montserrat Bold"/>
                <a:sym typeface="Montserra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DAGV11n0p-A</dc:identifier>
  <dcterms:modified xsi:type="dcterms:W3CDTF">2011-08-01T06:04:30Z</dcterms:modified>
  <cp:revision>1</cp:revision>
  <dc:title>D9 SQL PRESENTATION</dc:title>
</cp:coreProperties>
</file>