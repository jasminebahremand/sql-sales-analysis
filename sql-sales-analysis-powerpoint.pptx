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8288000" cy="10287000"/>
  <p:notesSz cx="6858000" cy="9144000"/>
  <p:embeddedFontLst>
    <p:embeddedFont>
      <p:font typeface="Canva Sans" panose="020B0503030501040103" pitchFamily="34" charset="0"/>
      <p:regular r:id="rId17"/>
    </p:embeddedFont>
    <p:embeddedFont>
      <p:font typeface="Canva Sans Bold" panose="020B0803030501040103" pitchFamily="34" charset="0"/>
      <p:regular r:id="rId18"/>
      <p:bold r:id="rId19"/>
    </p:embeddedFont>
    <p:embeddedFont>
      <p:font typeface="Canva Sans Bold Italics" panose="020B0803030501040103" pitchFamily="34" charset="0"/>
      <p:regular r:id="rId20"/>
      <p:bold r:id="rId21"/>
      <p:italic r:id="rId22"/>
      <p:boldItalic r:id="rId23"/>
    </p:embeddedFont>
    <p:embeddedFont>
      <p:font typeface="Montserrat Bold"/>
      <p:regular r:id="rId24"/>
      <p:bold r:id="rId25"/>
    </p:embeddedFont>
    <p:embeddedFont>
      <p:font typeface="Open Sans" panose="020B0606030504020204" pitchFamily="34" charset="0"/>
      <p:regular r:id="rId26"/>
      <p:bold r:id="rId27"/>
      <p:italic r:id="rId28"/>
      <p:boldItalic r:id="rId29"/>
    </p:embeddedFont>
    <p:embeddedFont>
      <p:font typeface="Open Sans Bold"/>
      <p:regular r:id="rId30"/>
      <p:bold r:id="rId31"/>
    </p:embeddedFont>
    <p:embeddedFont>
      <p:font typeface="Open Sans Italics" pitchFamily="2" charset="0"/>
      <p:regular r:id="rId32"/>
      <p:italic r:id="rId33"/>
    </p:embeddedFont>
    <p:embeddedFont>
      <p:font typeface="Poppins Bold"/>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83219" autoAdjust="0"/>
  </p:normalViewPr>
  <p:slideViewPr>
    <p:cSldViewPr>
      <p:cViewPr varScale="1">
        <p:scale>
          <a:sx n="70" d="100"/>
          <a:sy n="70" d="100"/>
        </p:scale>
        <p:origin x="138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ableStyles" Target="tableStyles.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to know:</a:t>
            </a:r>
          </a:p>
          <a:p>
            <a:r>
              <a:rPr lang="en-US"/>
              <a:t>- profit not just revenue</a:t>
            </a:r>
          </a:p>
          <a:p>
            <a:r>
              <a:rPr lang="en-US"/>
              <a:t>- market competition</a:t>
            </a:r>
          </a:p>
          <a:p>
            <a:r>
              <a:rPr lang="en-US"/>
              <a:t>etc. </a:t>
            </a:r>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9.sv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4.sv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grpSp>
        <p:nvGrpSpPr>
          <p:cNvPr id="3" name="Group 3"/>
          <p:cNvGrpSpPr/>
          <p:nvPr/>
        </p:nvGrpSpPr>
        <p:grpSpPr>
          <a:xfrm>
            <a:off x="1028700" y="3182152"/>
            <a:ext cx="16230600" cy="3738816"/>
            <a:chOff x="0" y="0"/>
            <a:chExt cx="3851202" cy="887147"/>
          </a:xfrm>
        </p:grpSpPr>
        <p:sp>
          <p:nvSpPr>
            <p:cNvPr id="4" name="Freeform 4"/>
            <p:cNvSpPr/>
            <p:nvPr/>
          </p:nvSpPr>
          <p:spPr>
            <a:xfrm>
              <a:off x="0" y="0"/>
              <a:ext cx="3851202" cy="887147"/>
            </a:xfrm>
            <a:custGeom>
              <a:avLst/>
              <a:gdLst/>
              <a:ahLst/>
              <a:cxnLst/>
              <a:rect l="l" t="t" r="r" b="b"/>
              <a:pathLst>
                <a:path w="3851202" h="887147">
                  <a:moveTo>
                    <a:pt x="0" y="0"/>
                  </a:moveTo>
                  <a:lnTo>
                    <a:pt x="3851202" y="0"/>
                  </a:lnTo>
                  <a:lnTo>
                    <a:pt x="3851202" y="887147"/>
                  </a:lnTo>
                  <a:lnTo>
                    <a:pt x="0" y="887147"/>
                  </a:lnTo>
                  <a:close/>
                </a:path>
              </a:pathLst>
            </a:custGeom>
            <a:ln w="38100" cap="sq">
              <a:solidFill>
                <a:srgbClr val="FF7300"/>
              </a:solidFill>
              <a:prstDash val="solid"/>
              <a:miter/>
            </a:ln>
          </p:spPr>
          <p:txBody>
            <a:bodyPr/>
            <a:lstStyle/>
            <a:p>
              <a:endParaRPr lang="en-US"/>
            </a:p>
          </p:txBody>
        </p:sp>
        <p:sp>
          <p:nvSpPr>
            <p:cNvPr id="5" name="TextBox 5"/>
            <p:cNvSpPr txBox="1"/>
            <p:nvPr/>
          </p:nvSpPr>
          <p:spPr>
            <a:xfrm>
              <a:off x="0" y="-38100"/>
              <a:ext cx="3851202" cy="92524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760254" y="3789478"/>
            <a:ext cx="14767491" cy="2565169"/>
          </a:xfrm>
          <a:prstGeom prst="rect">
            <a:avLst/>
          </a:prstGeom>
        </p:spPr>
        <p:txBody>
          <a:bodyPr lIns="0" tIns="0" rIns="0" bIns="0" rtlCol="0" anchor="t">
            <a:spAutoFit/>
          </a:bodyPr>
          <a:lstStyle/>
          <a:p>
            <a:pPr algn="ctr">
              <a:lnSpc>
                <a:spcPts val="10300"/>
              </a:lnSpc>
              <a:spcBef>
                <a:spcPct val="0"/>
              </a:spcBef>
            </a:pPr>
            <a:r>
              <a:rPr lang="en-US" sz="7357" b="1">
                <a:solidFill>
                  <a:srgbClr val="000000"/>
                </a:solidFill>
                <a:latin typeface="Montserrat Bold"/>
                <a:ea typeface="Montserrat Bold"/>
                <a:cs typeface="Montserrat Bold"/>
                <a:sym typeface="Montserrat Bold"/>
              </a:rPr>
              <a:t>ACQUISITION ANALYSIS: PARCH &amp; POSEY</a:t>
            </a:r>
          </a:p>
        </p:txBody>
      </p:sp>
      <p:sp>
        <p:nvSpPr>
          <p:cNvPr id="7" name="Freeform 7"/>
          <p:cNvSpPr/>
          <p:nvPr/>
        </p:nvSpPr>
        <p:spPr>
          <a:xfrm>
            <a:off x="8014435" y="7402568"/>
            <a:ext cx="2259130" cy="918713"/>
          </a:xfrm>
          <a:custGeom>
            <a:avLst/>
            <a:gdLst/>
            <a:ahLst/>
            <a:cxnLst/>
            <a:rect l="l" t="t" r="r" b="b"/>
            <a:pathLst>
              <a:path w="2259130" h="918713">
                <a:moveTo>
                  <a:pt x="0" y="0"/>
                </a:moveTo>
                <a:lnTo>
                  <a:pt x="2259130" y="0"/>
                </a:lnTo>
                <a:lnTo>
                  <a:pt x="2259130" y="918713"/>
                </a:lnTo>
                <a:lnTo>
                  <a:pt x="0" y="918713"/>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8241" y="2842456"/>
            <a:ext cx="4817620" cy="5068336"/>
            <a:chOff x="0" y="0"/>
            <a:chExt cx="6423493" cy="6757782"/>
          </a:xfrm>
        </p:grpSpPr>
        <p:sp>
          <p:nvSpPr>
            <p:cNvPr id="3" name="Freeform 3"/>
            <p:cNvSpPr/>
            <p:nvPr/>
          </p:nvSpPr>
          <p:spPr>
            <a:xfrm>
              <a:off x="0" y="0"/>
              <a:ext cx="3363541" cy="3481688"/>
            </a:xfrm>
            <a:custGeom>
              <a:avLst/>
              <a:gdLst/>
              <a:ahLst/>
              <a:cxnLst/>
              <a:rect l="l" t="t" r="r" b="b"/>
              <a:pathLst>
                <a:path w="3363541" h="3481688">
                  <a:moveTo>
                    <a:pt x="0" y="0"/>
                  </a:moveTo>
                  <a:lnTo>
                    <a:pt x="3363541" y="0"/>
                  </a:lnTo>
                  <a:lnTo>
                    <a:pt x="3363541" y="3481688"/>
                  </a:lnTo>
                  <a:lnTo>
                    <a:pt x="0" y="3481688"/>
                  </a:lnTo>
                  <a:lnTo>
                    <a:pt x="0" y="0"/>
                  </a:lnTo>
                  <a:close/>
                </a:path>
              </a:pathLst>
            </a:custGeom>
            <a:blipFill>
              <a:blip r:embed="rId3"/>
              <a:stretch>
                <a:fillRect l="-1756" r="-1756"/>
              </a:stretch>
            </a:blipFill>
            <a:ln cap="sq">
              <a:noFill/>
              <a:prstDash val="solid"/>
              <a:miter/>
            </a:ln>
          </p:spPr>
          <p:txBody>
            <a:bodyPr/>
            <a:lstStyle/>
            <a:p>
              <a:endParaRPr lang="en-US"/>
            </a:p>
          </p:txBody>
        </p:sp>
        <p:sp>
          <p:nvSpPr>
            <p:cNvPr id="4" name="Freeform 4"/>
            <p:cNvSpPr/>
            <p:nvPr/>
          </p:nvSpPr>
          <p:spPr>
            <a:xfrm>
              <a:off x="3363541" y="0"/>
              <a:ext cx="3059951" cy="6757782"/>
            </a:xfrm>
            <a:custGeom>
              <a:avLst/>
              <a:gdLst/>
              <a:ahLst/>
              <a:cxnLst/>
              <a:rect l="l" t="t" r="r" b="b"/>
              <a:pathLst>
                <a:path w="3059951" h="6757782">
                  <a:moveTo>
                    <a:pt x="0" y="0"/>
                  </a:moveTo>
                  <a:lnTo>
                    <a:pt x="3059952" y="0"/>
                  </a:lnTo>
                  <a:lnTo>
                    <a:pt x="3059952" y="6757782"/>
                  </a:lnTo>
                  <a:lnTo>
                    <a:pt x="0" y="6757782"/>
                  </a:lnTo>
                  <a:lnTo>
                    <a:pt x="0" y="0"/>
                  </a:lnTo>
                  <a:close/>
                </a:path>
              </a:pathLst>
            </a:custGeom>
            <a:blipFill>
              <a:blip r:embed="rId4"/>
              <a:stretch>
                <a:fillRect l="-56018" r="-66217" b="-629"/>
              </a:stretch>
            </a:blipFill>
            <a:ln cap="sq">
              <a:noFill/>
              <a:prstDash val="solid"/>
              <a:miter/>
            </a:ln>
          </p:spPr>
          <p:txBody>
            <a:bodyPr/>
            <a:lstStyle/>
            <a:p>
              <a:endParaRPr lang="en-US"/>
            </a:p>
          </p:txBody>
        </p:sp>
        <p:sp>
          <p:nvSpPr>
            <p:cNvPr id="5" name="Freeform 5"/>
            <p:cNvSpPr/>
            <p:nvPr/>
          </p:nvSpPr>
          <p:spPr>
            <a:xfrm>
              <a:off x="0" y="3394240"/>
              <a:ext cx="3363541" cy="3363541"/>
            </a:xfrm>
            <a:custGeom>
              <a:avLst/>
              <a:gdLst/>
              <a:ahLst/>
              <a:cxnLst/>
              <a:rect l="l" t="t" r="r" b="b"/>
              <a:pathLst>
                <a:path w="3363541" h="3363541">
                  <a:moveTo>
                    <a:pt x="0" y="0"/>
                  </a:moveTo>
                  <a:lnTo>
                    <a:pt x="3363541" y="0"/>
                  </a:lnTo>
                  <a:lnTo>
                    <a:pt x="3363541" y="3363542"/>
                  </a:lnTo>
                  <a:lnTo>
                    <a:pt x="0" y="3363542"/>
                  </a:lnTo>
                  <a:lnTo>
                    <a:pt x="0" y="0"/>
                  </a:lnTo>
                  <a:close/>
                </a:path>
              </a:pathLst>
            </a:custGeom>
            <a:blipFill>
              <a:blip r:embed="rId5"/>
              <a:stretch>
                <a:fillRect/>
              </a:stretch>
            </a:blipFill>
            <a:ln cap="sq">
              <a:noFill/>
              <a:prstDash val="solid"/>
              <a:miter/>
            </a:ln>
          </p:spPr>
          <p:txBody>
            <a:bodyPr/>
            <a:lstStyle/>
            <a:p>
              <a:endParaRPr lang="en-US"/>
            </a:p>
          </p:txBody>
        </p:sp>
      </p:grpSp>
      <p:pic>
        <p:nvPicPr>
          <p:cNvPr id="6" name="Picture 6"/>
          <p:cNvPicPr>
            <a:picLocks noChangeAspect="1"/>
          </p:cNvPicPr>
          <p:nvPr/>
        </p:nvPicPr>
        <p:blipFill>
          <a:blip r:embed="rId6"/>
          <a:stretch>
            <a:fillRect/>
          </a:stretch>
        </p:blipFill>
        <p:spPr>
          <a:xfrm>
            <a:off x="6808779" y="3208846"/>
            <a:ext cx="3233446" cy="3233446"/>
          </a:xfrm>
          <a:prstGeom prst="rect">
            <a:avLst/>
          </a:prstGeom>
        </p:spPr>
      </p:pic>
      <p:pic>
        <p:nvPicPr>
          <p:cNvPr id="7" name="Picture 7"/>
          <p:cNvPicPr>
            <a:picLocks noChangeAspect="1"/>
          </p:cNvPicPr>
          <p:nvPr/>
        </p:nvPicPr>
        <p:blipFill>
          <a:blip r:embed="rId7"/>
          <a:stretch>
            <a:fillRect/>
          </a:stretch>
        </p:blipFill>
        <p:spPr>
          <a:xfrm>
            <a:off x="10347513" y="3092642"/>
            <a:ext cx="3465853" cy="3465853"/>
          </a:xfrm>
          <a:prstGeom prst="rect">
            <a:avLst/>
          </a:prstGeom>
        </p:spPr>
      </p:pic>
      <p:pic>
        <p:nvPicPr>
          <p:cNvPr id="8" name="Picture 8"/>
          <p:cNvPicPr>
            <a:picLocks noChangeAspect="1"/>
          </p:cNvPicPr>
          <p:nvPr/>
        </p:nvPicPr>
        <p:blipFill>
          <a:blip r:embed="rId8"/>
          <a:stretch>
            <a:fillRect/>
          </a:stretch>
        </p:blipFill>
        <p:spPr>
          <a:xfrm>
            <a:off x="13863867" y="3092642"/>
            <a:ext cx="3465853" cy="3465853"/>
          </a:xfrm>
          <a:prstGeom prst="rect">
            <a:avLst/>
          </a:prstGeom>
        </p:spPr>
      </p:pic>
      <p:sp>
        <p:nvSpPr>
          <p:cNvPr id="9" name="Freeform 9"/>
          <p:cNvSpPr/>
          <p:nvPr/>
        </p:nvSpPr>
        <p:spPr>
          <a:xfrm>
            <a:off x="0" y="-397764"/>
            <a:ext cx="7315200" cy="795528"/>
          </a:xfrm>
          <a:custGeom>
            <a:avLst/>
            <a:gdLst/>
            <a:ahLst/>
            <a:cxnLst/>
            <a:rect l="l" t="t" r="r" b="b"/>
            <a:pathLst>
              <a:path w="7315200" h="795528">
                <a:moveTo>
                  <a:pt x="0" y="0"/>
                </a:moveTo>
                <a:lnTo>
                  <a:pt x="7315200" y="0"/>
                </a:lnTo>
                <a:lnTo>
                  <a:pt x="7315200" y="795528"/>
                </a:lnTo>
                <a:lnTo>
                  <a:pt x="0" y="79552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flipH="1" flipV="1">
            <a:off x="10972800" y="9889236"/>
            <a:ext cx="7315200" cy="795528"/>
          </a:xfrm>
          <a:custGeom>
            <a:avLst/>
            <a:gdLst/>
            <a:ahLst/>
            <a:cxnLst/>
            <a:rect l="l" t="t" r="r" b="b"/>
            <a:pathLst>
              <a:path w="7315200" h="795528">
                <a:moveTo>
                  <a:pt x="7315200" y="795528"/>
                </a:moveTo>
                <a:lnTo>
                  <a:pt x="0" y="795528"/>
                </a:lnTo>
                <a:lnTo>
                  <a:pt x="0" y="0"/>
                </a:lnTo>
                <a:lnTo>
                  <a:pt x="7315200" y="0"/>
                </a:lnTo>
                <a:lnTo>
                  <a:pt x="7315200" y="795528"/>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TextBox 11"/>
          <p:cNvSpPr txBox="1"/>
          <p:nvPr/>
        </p:nvSpPr>
        <p:spPr>
          <a:xfrm>
            <a:off x="7842155" y="7158733"/>
            <a:ext cx="8448664" cy="634365"/>
          </a:xfrm>
          <a:prstGeom prst="rect">
            <a:avLst/>
          </a:prstGeom>
        </p:spPr>
        <p:txBody>
          <a:bodyPr lIns="0" tIns="0" rIns="0" bIns="0" rtlCol="0" anchor="t">
            <a:spAutoFit/>
          </a:bodyPr>
          <a:lstStyle/>
          <a:p>
            <a:pPr algn="l">
              <a:lnSpc>
                <a:spcPts val="4679"/>
              </a:lnSpc>
            </a:pPr>
            <a:r>
              <a:rPr lang="en-US" sz="3999" b="1">
                <a:solidFill>
                  <a:srgbClr val="000000"/>
                </a:solidFill>
                <a:latin typeface="Poppins Bold"/>
                <a:ea typeface="Poppins Bold"/>
                <a:cs typeface="Poppins Bold"/>
                <a:sym typeface="Poppins Bold"/>
              </a:rPr>
              <a:t>$23,141,511.83 Lifetime Revenue</a:t>
            </a:r>
          </a:p>
        </p:txBody>
      </p:sp>
      <p:sp>
        <p:nvSpPr>
          <p:cNvPr id="12" name="TextBox 12"/>
          <p:cNvSpPr txBox="1"/>
          <p:nvPr/>
        </p:nvSpPr>
        <p:spPr>
          <a:xfrm>
            <a:off x="7154647" y="6399875"/>
            <a:ext cx="2888211" cy="349283"/>
          </a:xfrm>
          <a:prstGeom prst="rect">
            <a:avLst/>
          </a:prstGeom>
        </p:spPr>
        <p:txBody>
          <a:bodyPr lIns="0" tIns="0" rIns="0" bIns="0" rtlCol="0" anchor="t">
            <a:spAutoFit/>
          </a:bodyPr>
          <a:lstStyle/>
          <a:p>
            <a:pPr algn="ctr">
              <a:lnSpc>
                <a:spcPts val="2830"/>
              </a:lnSpc>
              <a:spcBef>
                <a:spcPct val="0"/>
              </a:spcBef>
            </a:pPr>
            <a:r>
              <a:rPr lang="en-US" sz="2021" b="1">
                <a:solidFill>
                  <a:srgbClr val="1F2020"/>
                </a:solidFill>
                <a:latin typeface="Open Sans Bold"/>
                <a:ea typeface="Open Sans Bold"/>
                <a:cs typeface="Open Sans Bold"/>
                <a:sym typeface="Open Sans Bold"/>
              </a:rPr>
              <a:t>STANDARD PAPER</a:t>
            </a:r>
          </a:p>
        </p:txBody>
      </p:sp>
      <p:sp>
        <p:nvSpPr>
          <p:cNvPr id="13" name="TextBox 13"/>
          <p:cNvSpPr txBox="1"/>
          <p:nvPr/>
        </p:nvSpPr>
        <p:spPr>
          <a:xfrm>
            <a:off x="10712748" y="6399875"/>
            <a:ext cx="2888211" cy="349283"/>
          </a:xfrm>
          <a:prstGeom prst="rect">
            <a:avLst/>
          </a:prstGeom>
        </p:spPr>
        <p:txBody>
          <a:bodyPr lIns="0" tIns="0" rIns="0" bIns="0" rtlCol="0" anchor="t">
            <a:spAutoFit/>
          </a:bodyPr>
          <a:lstStyle/>
          <a:p>
            <a:pPr algn="ctr">
              <a:lnSpc>
                <a:spcPts val="2830"/>
              </a:lnSpc>
              <a:spcBef>
                <a:spcPct val="0"/>
              </a:spcBef>
            </a:pPr>
            <a:r>
              <a:rPr lang="en-US" sz="2021" b="1">
                <a:solidFill>
                  <a:srgbClr val="1F2020"/>
                </a:solidFill>
                <a:latin typeface="Open Sans Bold"/>
                <a:ea typeface="Open Sans Bold"/>
                <a:cs typeface="Open Sans Bold"/>
                <a:sym typeface="Open Sans Bold"/>
              </a:rPr>
              <a:t>GLOSS PAPER</a:t>
            </a:r>
          </a:p>
        </p:txBody>
      </p:sp>
      <p:sp>
        <p:nvSpPr>
          <p:cNvPr id="14" name="TextBox 14"/>
          <p:cNvSpPr txBox="1"/>
          <p:nvPr/>
        </p:nvSpPr>
        <p:spPr>
          <a:xfrm>
            <a:off x="14271548" y="6399875"/>
            <a:ext cx="2888211" cy="349283"/>
          </a:xfrm>
          <a:prstGeom prst="rect">
            <a:avLst/>
          </a:prstGeom>
        </p:spPr>
        <p:txBody>
          <a:bodyPr lIns="0" tIns="0" rIns="0" bIns="0" rtlCol="0" anchor="t">
            <a:spAutoFit/>
          </a:bodyPr>
          <a:lstStyle/>
          <a:p>
            <a:pPr algn="ctr">
              <a:lnSpc>
                <a:spcPts val="2830"/>
              </a:lnSpc>
              <a:spcBef>
                <a:spcPct val="0"/>
              </a:spcBef>
            </a:pPr>
            <a:r>
              <a:rPr lang="en-US" sz="2021" b="1">
                <a:solidFill>
                  <a:srgbClr val="1F2020"/>
                </a:solidFill>
                <a:latin typeface="Open Sans Bold"/>
                <a:ea typeface="Open Sans Bold"/>
                <a:cs typeface="Open Sans Bold"/>
                <a:sym typeface="Open Sans Bold"/>
              </a:rPr>
              <a:t>POSTER PAPER </a:t>
            </a:r>
          </a:p>
        </p:txBody>
      </p:sp>
      <p:grpSp>
        <p:nvGrpSpPr>
          <p:cNvPr id="15" name="Group 15"/>
          <p:cNvGrpSpPr/>
          <p:nvPr/>
        </p:nvGrpSpPr>
        <p:grpSpPr>
          <a:xfrm>
            <a:off x="1028700" y="1028700"/>
            <a:ext cx="7297261" cy="782680"/>
            <a:chOff x="0" y="0"/>
            <a:chExt cx="9729682" cy="1043573"/>
          </a:xfrm>
        </p:grpSpPr>
        <p:grpSp>
          <p:nvGrpSpPr>
            <p:cNvPr id="16" name="Group 16"/>
            <p:cNvGrpSpPr/>
            <p:nvPr/>
          </p:nvGrpSpPr>
          <p:grpSpPr>
            <a:xfrm>
              <a:off x="0" y="927311"/>
              <a:ext cx="6403663" cy="116262"/>
              <a:chOff x="0" y="0"/>
              <a:chExt cx="1264921" cy="22965"/>
            </a:xfrm>
          </p:grpSpPr>
          <p:sp>
            <p:nvSpPr>
              <p:cNvPr id="17" name="Freeform 17"/>
              <p:cNvSpPr/>
              <p:nvPr/>
            </p:nvSpPr>
            <p:spPr>
              <a:xfrm>
                <a:off x="0" y="0"/>
                <a:ext cx="1264921" cy="22965"/>
              </a:xfrm>
              <a:custGeom>
                <a:avLst/>
                <a:gdLst/>
                <a:ahLst/>
                <a:cxnLst/>
                <a:rect l="l" t="t" r="r" b="b"/>
                <a:pathLst>
                  <a:path w="1264921" h="22965">
                    <a:moveTo>
                      <a:pt x="11483" y="0"/>
                    </a:moveTo>
                    <a:lnTo>
                      <a:pt x="1253438" y="0"/>
                    </a:lnTo>
                    <a:cubicBezTo>
                      <a:pt x="1256484" y="0"/>
                      <a:pt x="1259405" y="1210"/>
                      <a:pt x="1261558" y="3363"/>
                    </a:cubicBezTo>
                    <a:cubicBezTo>
                      <a:pt x="1263711" y="5517"/>
                      <a:pt x="1264921" y="8437"/>
                      <a:pt x="1264921" y="11483"/>
                    </a:cubicBezTo>
                    <a:lnTo>
                      <a:pt x="1264921" y="11483"/>
                    </a:lnTo>
                    <a:cubicBezTo>
                      <a:pt x="1264921" y="14528"/>
                      <a:pt x="1263711" y="17449"/>
                      <a:pt x="1261558" y="19602"/>
                    </a:cubicBezTo>
                    <a:cubicBezTo>
                      <a:pt x="1259405" y="21756"/>
                      <a:pt x="1256484" y="22965"/>
                      <a:pt x="1253438"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18" name="TextBox 18"/>
              <p:cNvSpPr txBox="1"/>
              <p:nvPr/>
            </p:nvSpPr>
            <p:spPr>
              <a:xfrm>
                <a:off x="0" y="-38100"/>
                <a:ext cx="1264921" cy="6106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0" y="-19050"/>
              <a:ext cx="9729682" cy="735705"/>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Current State of the Company</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00287" y="2116386"/>
            <a:ext cx="14887427" cy="6608426"/>
            <a:chOff x="0" y="0"/>
            <a:chExt cx="19849902" cy="8811235"/>
          </a:xfrm>
        </p:grpSpPr>
        <p:sp>
          <p:nvSpPr>
            <p:cNvPr id="3" name="Freeform 3"/>
            <p:cNvSpPr/>
            <p:nvPr/>
          </p:nvSpPr>
          <p:spPr>
            <a:xfrm>
              <a:off x="2190425" y="5675695"/>
              <a:ext cx="3308529" cy="1406125"/>
            </a:xfrm>
            <a:custGeom>
              <a:avLst/>
              <a:gdLst/>
              <a:ahLst/>
              <a:cxnLst/>
              <a:rect l="l" t="t" r="r" b="b"/>
              <a:pathLst>
                <a:path w="3308529" h="1406125">
                  <a:moveTo>
                    <a:pt x="0" y="0"/>
                  </a:moveTo>
                  <a:lnTo>
                    <a:pt x="3308528" y="0"/>
                  </a:lnTo>
                  <a:lnTo>
                    <a:pt x="3308528" y="1406125"/>
                  </a:lnTo>
                  <a:lnTo>
                    <a:pt x="0" y="1406125"/>
                  </a:lnTo>
                  <a:lnTo>
                    <a:pt x="0" y="0"/>
                  </a:lnTo>
                  <a:close/>
                </a:path>
              </a:pathLst>
            </a:custGeom>
            <a:blipFill>
              <a:blip r:embed="rId3"/>
              <a:stretch>
                <a:fillRect/>
              </a:stretch>
            </a:blipFill>
          </p:spPr>
          <p:txBody>
            <a:bodyPr/>
            <a:lstStyle/>
            <a:p>
              <a:endParaRPr lang="en-US"/>
            </a:p>
          </p:txBody>
        </p:sp>
        <p:sp>
          <p:nvSpPr>
            <p:cNvPr id="4" name="Freeform 4"/>
            <p:cNvSpPr/>
            <p:nvPr/>
          </p:nvSpPr>
          <p:spPr>
            <a:xfrm>
              <a:off x="7853832" y="2919923"/>
              <a:ext cx="2478525" cy="1651317"/>
            </a:xfrm>
            <a:custGeom>
              <a:avLst/>
              <a:gdLst/>
              <a:ahLst/>
              <a:cxnLst/>
              <a:rect l="l" t="t" r="r" b="b"/>
              <a:pathLst>
                <a:path w="2478525" h="1651317">
                  <a:moveTo>
                    <a:pt x="0" y="0"/>
                  </a:moveTo>
                  <a:lnTo>
                    <a:pt x="2478525" y="0"/>
                  </a:lnTo>
                  <a:lnTo>
                    <a:pt x="2478525" y="1651317"/>
                  </a:lnTo>
                  <a:lnTo>
                    <a:pt x="0" y="1651317"/>
                  </a:lnTo>
                  <a:lnTo>
                    <a:pt x="0" y="0"/>
                  </a:lnTo>
                  <a:close/>
                </a:path>
              </a:pathLst>
            </a:custGeom>
            <a:blipFill>
              <a:blip r:embed="rId4"/>
              <a:stretch>
                <a:fillRect/>
              </a:stretch>
            </a:blipFill>
          </p:spPr>
          <p:txBody>
            <a:bodyPr/>
            <a:lstStyle/>
            <a:p>
              <a:endParaRPr lang="en-US"/>
            </a:p>
          </p:txBody>
        </p:sp>
        <p:sp>
          <p:nvSpPr>
            <p:cNvPr id="5" name="Freeform 5"/>
            <p:cNvSpPr/>
            <p:nvPr/>
          </p:nvSpPr>
          <p:spPr>
            <a:xfrm>
              <a:off x="10211397" y="4798792"/>
              <a:ext cx="2457554" cy="1382374"/>
            </a:xfrm>
            <a:custGeom>
              <a:avLst/>
              <a:gdLst/>
              <a:ahLst/>
              <a:cxnLst/>
              <a:rect l="l" t="t" r="r" b="b"/>
              <a:pathLst>
                <a:path w="2457554" h="1382374">
                  <a:moveTo>
                    <a:pt x="0" y="0"/>
                  </a:moveTo>
                  <a:lnTo>
                    <a:pt x="2457554" y="0"/>
                  </a:lnTo>
                  <a:lnTo>
                    <a:pt x="2457554" y="1382375"/>
                  </a:lnTo>
                  <a:lnTo>
                    <a:pt x="0" y="1382375"/>
                  </a:lnTo>
                  <a:lnTo>
                    <a:pt x="0" y="0"/>
                  </a:lnTo>
                  <a:close/>
                </a:path>
              </a:pathLst>
            </a:custGeom>
            <a:blipFill>
              <a:blip r:embed="rId5"/>
              <a:stretch>
                <a:fillRect/>
              </a:stretch>
            </a:blipFill>
          </p:spPr>
          <p:txBody>
            <a:bodyPr/>
            <a:lstStyle/>
            <a:p>
              <a:endParaRPr lang="en-US"/>
            </a:p>
          </p:txBody>
        </p:sp>
        <p:sp>
          <p:nvSpPr>
            <p:cNvPr id="6" name="Freeform 6"/>
            <p:cNvSpPr/>
            <p:nvPr/>
          </p:nvSpPr>
          <p:spPr>
            <a:xfrm>
              <a:off x="8015433" y="369298"/>
              <a:ext cx="3726622" cy="1299659"/>
            </a:xfrm>
            <a:custGeom>
              <a:avLst/>
              <a:gdLst/>
              <a:ahLst/>
              <a:cxnLst/>
              <a:rect l="l" t="t" r="r" b="b"/>
              <a:pathLst>
                <a:path w="3726622" h="1299659">
                  <a:moveTo>
                    <a:pt x="0" y="0"/>
                  </a:moveTo>
                  <a:lnTo>
                    <a:pt x="3726622" y="0"/>
                  </a:lnTo>
                  <a:lnTo>
                    <a:pt x="3726622" y="1299660"/>
                  </a:lnTo>
                  <a:lnTo>
                    <a:pt x="0" y="1299660"/>
                  </a:lnTo>
                  <a:lnTo>
                    <a:pt x="0" y="0"/>
                  </a:lnTo>
                  <a:close/>
                </a:path>
              </a:pathLst>
            </a:custGeom>
            <a:blipFill>
              <a:blip r:embed="rId6"/>
              <a:stretch>
                <a:fillRect/>
              </a:stretch>
            </a:blipFill>
          </p:spPr>
          <p:txBody>
            <a:bodyPr/>
            <a:lstStyle/>
            <a:p>
              <a:endParaRPr lang="en-US"/>
            </a:p>
          </p:txBody>
        </p:sp>
        <p:sp>
          <p:nvSpPr>
            <p:cNvPr id="7" name="Freeform 7"/>
            <p:cNvSpPr/>
            <p:nvPr/>
          </p:nvSpPr>
          <p:spPr>
            <a:xfrm>
              <a:off x="12821697" y="2279335"/>
              <a:ext cx="2942555" cy="750352"/>
            </a:xfrm>
            <a:custGeom>
              <a:avLst/>
              <a:gdLst/>
              <a:ahLst/>
              <a:cxnLst/>
              <a:rect l="l" t="t" r="r" b="b"/>
              <a:pathLst>
                <a:path w="2942555" h="750352">
                  <a:moveTo>
                    <a:pt x="0" y="0"/>
                  </a:moveTo>
                  <a:lnTo>
                    <a:pt x="2942555" y="0"/>
                  </a:lnTo>
                  <a:lnTo>
                    <a:pt x="2942555" y="750352"/>
                  </a:lnTo>
                  <a:lnTo>
                    <a:pt x="0" y="750352"/>
                  </a:lnTo>
                  <a:lnTo>
                    <a:pt x="0" y="0"/>
                  </a:lnTo>
                  <a:close/>
                </a:path>
              </a:pathLst>
            </a:custGeom>
            <a:blipFill>
              <a:blip r:embed="rId7"/>
              <a:stretch>
                <a:fillRect/>
              </a:stretch>
            </a:blipFill>
          </p:spPr>
          <p:txBody>
            <a:bodyPr/>
            <a:lstStyle/>
            <a:p>
              <a:endParaRPr lang="en-US"/>
            </a:p>
          </p:txBody>
        </p:sp>
        <p:sp>
          <p:nvSpPr>
            <p:cNvPr id="8" name="Freeform 8"/>
            <p:cNvSpPr/>
            <p:nvPr/>
          </p:nvSpPr>
          <p:spPr>
            <a:xfrm>
              <a:off x="3708611" y="1895916"/>
              <a:ext cx="4561194" cy="1221945"/>
            </a:xfrm>
            <a:custGeom>
              <a:avLst/>
              <a:gdLst/>
              <a:ahLst/>
              <a:cxnLst/>
              <a:rect l="l" t="t" r="r" b="b"/>
              <a:pathLst>
                <a:path w="4561194" h="1221945">
                  <a:moveTo>
                    <a:pt x="0" y="0"/>
                  </a:moveTo>
                  <a:lnTo>
                    <a:pt x="4561194" y="0"/>
                  </a:lnTo>
                  <a:lnTo>
                    <a:pt x="4561194" y="1221945"/>
                  </a:lnTo>
                  <a:lnTo>
                    <a:pt x="0" y="1221945"/>
                  </a:lnTo>
                  <a:lnTo>
                    <a:pt x="0" y="0"/>
                  </a:lnTo>
                  <a:close/>
                </a:path>
              </a:pathLst>
            </a:custGeom>
            <a:blipFill>
              <a:blip r:embed="rId8"/>
              <a:stretch>
                <a:fillRect t="-60161" b="-49804"/>
              </a:stretch>
            </a:blipFill>
          </p:spPr>
          <p:txBody>
            <a:bodyPr/>
            <a:lstStyle/>
            <a:p>
              <a:endParaRPr lang="en-US"/>
            </a:p>
          </p:txBody>
        </p:sp>
        <p:sp>
          <p:nvSpPr>
            <p:cNvPr id="9" name="Freeform 9"/>
            <p:cNvSpPr/>
            <p:nvPr/>
          </p:nvSpPr>
          <p:spPr>
            <a:xfrm>
              <a:off x="16608885" y="1691347"/>
              <a:ext cx="2629540" cy="1700436"/>
            </a:xfrm>
            <a:custGeom>
              <a:avLst/>
              <a:gdLst/>
              <a:ahLst/>
              <a:cxnLst/>
              <a:rect l="l" t="t" r="r" b="b"/>
              <a:pathLst>
                <a:path w="2629540" h="1700436">
                  <a:moveTo>
                    <a:pt x="0" y="0"/>
                  </a:moveTo>
                  <a:lnTo>
                    <a:pt x="2629541" y="0"/>
                  </a:lnTo>
                  <a:lnTo>
                    <a:pt x="2629541" y="1700437"/>
                  </a:lnTo>
                  <a:lnTo>
                    <a:pt x="0" y="1700437"/>
                  </a:lnTo>
                  <a:lnTo>
                    <a:pt x="0" y="0"/>
                  </a:lnTo>
                  <a:close/>
                </a:path>
              </a:pathLst>
            </a:custGeom>
            <a:blipFill>
              <a:blip r:embed="rId9"/>
              <a:stretch>
                <a:fillRect/>
              </a:stretch>
            </a:blipFill>
          </p:spPr>
          <p:txBody>
            <a:bodyPr/>
            <a:lstStyle/>
            <a:p>
              <a:endParaRPr lang="en-US"/>
            </a:p>
          </p:txBody>
        </p:sp>
        <p:sp>
          <p:nvSpPr>
            <p:cNvPr id="10" name="Freeform 10"/>
            <p:cNvSpPr/>
            <p:nvPr/>
          </p:nvSpPr>
          <p:spPr>
            <a:xfrm>
              <a:off x="803672" y="0"/>
              <a:ext cx="6403337" cy="1766305"/>
            </a:xfrm>
            <a:custGeom>
              <a:avLst/>
              <a:gdLst/>
              <a:ahLst/>
              <a:cxnLst/>
              <a:rect l="l" t="t" r="r" b="b"/>
              <a:pathLst>
                <a:path w="6403337" h="1766305">
                  <a:moveTo>
                    <a:pt x="0" y="0"/>
                  </a:moveTo>
                  <a:lnTo>
                    <a:pt x="6403337" y="0"/>
                  </a:lnTo>
                  <a:lnTo>
                    <a:pt x="6403337" y="1766305"/>
                  </a:lnTo>
                  <a:lnTo>
                    <a:pt x="0" y="1766305"/>
                  </a:lnTo>
                  <a:lnTo>
                    <a:pt x="0" y="0"/>
                  </a:lnTo>
                  <a:close/>
                </a:path>
              </a:pathLst>
            </a:custGeom>
            <a:blipFill>
              <a:blip r:embed="rId10"/>
              <a:stretch>
                <a:fillRect t="-8026" r="-584"/>
              </a:stretch>
            </a:blipFill>
          </p:spPr>
          <p:txBody>
            <a:bodyPr/>
            <a:lstStyle/>
            <a:p>
              <a:endParaRPr lang="en-US"/>
            </a:p>
          </p:txBody>
        </p:sp>
        <p:sp>
          <p:nvSpPr>
            <p:cNvPr id="11" name="Freeform 11"/>
            <p:cNvSpPr/>
            <p:nvPr/>
          </p:nvSpPr>
          <p:spPr>
            <a:xfrm>
              <a:off x="218814" y="2603417"/>
              <a:ext cx="2783801" cy="852539"/>
            </a:xfrm>
            <a:custGeom>
              <a:avLst/>
              <a:gdLst/>
              <a:ahLst/>
              <a:cxnLst/>
              <a:rect l="l" t="t" r="r" b="b"/>
              <a:pathLst>
                <a:path w="2783801" h="852539">
                  <a:moveTo>
                    <a:pt x="0" y="0"/>
                  </a:moveTo>
                  <a:lnTo>
                    <a:pt x="2783801" y="0"/>
                  </a:lnTo>
                  <a:lnTo>
                    <a:pt x="2783801" y="852539"/>
                  </a:lnTo>
                  <a:lnTo>
                    <a:pt x="0" y="852539"/>
                  </a:lnTo>
                  <a:lnTo>
                    <a:pt x="0" y="0"/>
                  </a:lnTo>
                  <a:close/>
                </a:path>
              </a:pathLst>
            </a:custGeom>
            <a:blipFill>
              <a:blip r:embed="rId11"/>
              <a:stretch>
                <a:fillRect/>
              </a:stretch>
            </a:blipFill>
          </p:spPr>
          <p:txBody>
            <a:bodyPr/>
            <a:lstStyle/>
            <a:p>
              <a:endParaRPr lang="en-US"/>
            </a:p>
          </p:txBody>
        </p:sp>
        <p:sp>
          <p:nvSpPr>
            <p:cNvPr id="12" name="Freeform 12"/>
            <p:cNvSpPr/>
            <p:nvPr/>
          </p:nvSpPr>
          <p:spPr>
            <a:xfrm>
              <a:off x="14011161" y="5986422"/>
              <a:ext cx="2204420" cy="784670"/>
            </a:xfrm>
            <a:custGeom>
              <a:avLst/>
              <a:gdLst/>
              <a:ahLst/>
              <a:cxnLst/>
              <a:rect l="l" t="t" r="r" b="b"/>
              <a:pathLst>
                <a:path w="2204420" h="784670">
                  <a:moveTo>
                    <a:pt x="0" y="0"/>
                  </a:moveTo>
                  <a:lnTo>
                    <a:pt x="2204420" y="0"/>
                  </a:lnTo>
                  <a:lnTo>
                    <a:pt x="2204420" y="784671"/>
                  </a:lnTo>
                  <a:lnTo>
                    <a:pt x="0" y="784671"/>
                  </a:lnTo>
                  <a:lnTo>
                    <a:pt x="0" y="0"/>
                  </a:lnTo>
                  <a:close/>
                </a:path>
              </a:pathLst>
            </a:custGeom>
            <a:blipFill>
              <a:blip r:embed="rId12"/>
              <a:stretch>
                <a:fillRect b="-4297"/>
              </a:stretch>
            </a:blipFill>
          </p:spPr>
          <p:txBody>
            <a:bodyPr/>
            <a:lstStyle/>
            <a:p>
              <a:endParaRPr lang="en-US"/>
            </a:p>
          </p:txBody>
        </p:sp>
        <p:sp>
          <p:nvSpPr>
            <p:cNvPr id="13" name="Freeform 13"/>
            <p:cNvSpPr/>
            <p:nvPr/>
          </p:nvSpPr>
          <p:spPr>
            <a:xfrm>
              <a:off x="16215581" y="4386613"/>
              <a:ext cx="3398119" cy="824358"/>
            </a:xfrm>
            <a:custGeom>
              <a:avLst/>
              <a:gdLst/>
              <a:ahLst/>
              <a:cxnLst/>
              <a:rect l="l" t="t" r="r" b="b"/>
              <a:pathLst>
                <a:path w="3398119" h="824358">
                  <a:moveTo>
                    <a:pt x="0" y="0"/>
                  </a:moveTo>
                  <a:lnTo>
                    <a:pt x="3398119" y="0"/>
                  </a:lnTo>
                  <a:lnTo>
                    <a:pt x="3398119" y="824359"/>
                  </a:lnTo>
                  <a:lnTo>
                    <a:pt x="0" y="824359"/>
                  </a:lnTo>
                  <a:lnTo>
                    <a:pt x="0" y="0"/>
                  </a:lnTo>
                  <a:close/>
                </a:path>
              </a:pathLst>
            </a:custGeom>
            <a:blipFill>
              <a:blip r:embed="rId13"/>
              <a:stretch>
                <a:fillRect/>
              </a:stretch>
            </a:blipFill>
          </p:spPr>
          <p:txBody>
            <a:bodyPr/>
            <a:lstStyle/>
            <a:p>
              <a:endParaRPr lang="en-US"/>
            </a:p>
          </p:txBody>
        </p:sp>
        <p:sp>
          <p:nvSpPr>
            <p:cNvPr id="14" name="Freeform 14"/>
            <p:cNvSpPr/>
            <p:nvPr/>
          </p:nvSpPr>
          <p:spPr>
            <a:xfrm>
              <a:off x="16457916" y="6181167"/>
              <a:ext cx="3391986" cy="1984312"/>
            </a:xfrm>
            <a:custGeom>
              <a:avLst/>
              <a:gdLst/>
              <a:ahLst/>
              <a:cxnLst/>
              <a:rect l="l" t="t" r="r" b="b"/>
              <a:pathLst>
                <a:path w="3391986" h="1984312">
                  <a:moveTo>
                    <a:pt x="0" y="0"/>
                  </a:moveTo>
                  <a:lnTo>
                    <a:pt x="3391986" y="0"/>
                  </a:lnTo>
                  <a:lnTo>
                    <a:pt x="3391986" y="1984311"/>
                  </a:lnTo>
                  <a:lnTo>
                    <a:pt x="0" y="1984311"/>
                  </a:lnTo>
                  <a:lnTo>
                    <a:pt x="0" y="0"/>
                  </a:lnTo>
                  <a:close/>
                </a:path>
              </a:pathLst>
            </a:custGeom>
            <a:blipFill>
              <a:blip r:embed="rId14"/>
              <a:stretch>
                <a:fillRect/>
              </a:stretch>
            </a:blipFill>
          </p:spPr>
          <p:txBody>
            <a:bodyPr/>
            <a:lstStyle/>
            <a:p>
              <a:endParaRPr lang="en-US"/>
            </a:p>
          </p:txBody>
        </p:sp>
        <p:sp>
          <p:nvSpPr>
            <p:cNvPr id="15" name="Freeform 15"/>
            <p:cNvSpPr/>
            <p:nvPr/>
          </p:nvSpPr>
          <p:spPr>
            <a:xfrm>
              <a:off x="13600390" y="4107999"/>
              <a:ext cx="1683753" cy="1381588"/>
            </a:xfrm>
            <a:custGeom>
              <a:avLst/>
              <a:gdLst/>
              <a:ahLst/>
              <a:cxnLst/>
              <a:rect l="l" t="t" r="r" b="b"/>
              <a:pathLst>
                <a:path w="1683753" h="1381588">
                  <a:moveTo>
                    <a:pt x="0" y="0"/>
                  </a:moveTo>
                  <a:lnTo>
                    <a:pt x="1683753" y="0"/>
                  </a:lnTo>
                  <a:lnTo>
                    <a:pt x="1683753" y="1381587"/>
                  </a:lnTo>
                  <a:lnTo>
                    <a:pt x="0" y="1381587"/>
                  </a:lnTo>
                  <a:lnTo>
                    <a:pt x="0" y="0"/>
                  </a:lnTo>
                  <a:close/>
                </a:path>
              </a:pathLst>
            </a:custGeom>
            <a:blipFill>
              <a:blip r:embed="rId15"/>
              <a:stretch>
                <a:fillRect l="-53289" t="-5643" r="-40567" b="-5986"/>
              </a:stretch>
            </a:blipFill>
          </p:spPr>
          <p:txBody>
            <a:bodyPr/>
            <a:lstStyle/>
            <a:p>
              <a:endParaRPr lang="en-US"/>
            </a:p>
          </p:txBody>
        </p:sp>
        <p:sp>
          <p:nvSpPr>
            <p:cNvPr id="16" name="Freeform 16"/>
            <p:cNvSpPr/>
            <p:nvPr/>
          </p:nvSpPr>
          <p:spPr>
            <a:xfrm>
              <a:off x="10761141" y="1914917"/>
              <a:ext cx="1358066" cy="1377000"/>
            </a:xfrm>
            <a:custGeom>
              <a:avLst/>
              <a:gdLst/>
              <a:ahLst/>
              <a:cxnLst/>
              <a:rect l="l" t="t" r="r" b="b"/>
              <a:pathLst>
                <a:path w="1358066" h="1377000">
                  <a:moveTo>
                    <a:pt x="0" y="0"/>
                  </a:moveTo>
                  <a:lnTo>
                    <a:pt x="1358067" y="0"/>
                  </a:lnTo>
                  <a:lnTo>
                    <a:pt x="1358067" y="1377000"/>
                  </a:lnTo>
                  <a:lnTo>
                    <a:pt x="0" y="1377000"/>
                  </a:lnTo>
                  <a:lnTo>
                    <a:pt x="0" y="0"/>
                  </a:lnTo>
                  <a:close/>
                </a:path>
              </a:pathLst>
            </a:custGeom>
            <a:blipFill>
              <a:blip r:embed="rId16"/>
              <a:stretch>
                <a:fillRect/>
              </a:stretch>
            </a:blipFill>
          </p:spPr>
          <p:txBody>
            <a:bodyPr/>
            <a:lstStyle/>
            <a:p>
              <a:endParaRPr lang="en-US"/>
            </a:p>
          </p:txBody>
        </p:sp>
        <p:sp>
          <p:nvSpPr>
            <p:cNvPr id="17" name="Freeform 17"/>
            <p:cNvSpPr/>
            <p:nvPr/>
          </p:nvSpPr>
          <p:spPr>
            <a:xfrm>
              <a:off x="6535058" y="5104898"/>
              <a:ext cx="2960750" cy="1665422"/>
            </a:xfrm>
            <a:custGeom>
              <a:avLst/>
              <a:gdLst/>
              <a:ahLst/>
              <a:cxnLst/>
              <a:rect l="l" t="t" r="r" b="b"/>
              <a:pathLst>
                <a:path w="2960750" h="1665422">
                  <a:moveTo>
                    <a:pt x="0" y="0"/>
                  </a:moveTo>
                  <a:lnTo>
                    <a:pt x="2960750" y="0"/>
                  </a:lnTo>
                  <a:lnTo>
                    <a:pt x="2960750" y="1665422"/>
                  </a:lnTo>
                  <a:lnTo>
                    <a:pt x="0" y="1665422"/>
                  </a:lnTo>
                  <a:lnTo>
                    <a:pt x="0" y="0"/>
                  </a:lnTo>
                  <a:close/>
                </a:path>
              </a:pathLst>
            </a:custGeom>
            <a:blipFill>
              <a:blip r:embed="rId17"/>
              <a:stretch>
                <a:fillRect/>
              </a:stretch>
            </a:blipFill>
          </p:spPr>
          <p:txBody>
            <a:bodyPr/>
            <a:lstStyle/>
            <a:p>
              <a:endParaRPr lang="en-US"/>
            </a:p>
          </p:txBody>
        </p:sp>
        <p:sp>
          <p:nvSpPr>
            <p:cNvPr id="18" name="Freeform 18"/>
            <p:cNvSpPr/>
            <p:nvPr/>
          </p:nvSpPr>
          <p:spPr>
            <a:xfrm>
              <a:off x="0" y="4107999"/>
              <a:ext cx="2073168" cy="2073168"/>
            </a:xfrm>
            <a:custGeom>
              <a:avLst/>
              <a:gdLst/>
              <a:ahLst/>
              <a:cxnLst/>
              <a:rect l="l" t="t" r="r" b="b"/>
              <a:pathLst>
                <a:path w="2073168" h="2073168">
                  <a:moveTo>
                    <a:pt x="0" y="0"/>
                  </a:moveTo>
                  <a:lnTo>
                    <a:pt x="2073168" y="0"/>
                  </a:lnTo>
                  <a:lnTo>
                    <a:pt x="2073168" y="2073168"/>
                  </a:lnTo>
                  <a:lnTo>
                    <a:pt x="0" y="2073168"/>
                  </a:lnTo>
                  <a:lnTo>
                    <a:pt x="0" y="0"/>
                  </a:lnTo>
                  <a:close/>
                </a:path>
              </a:pathLst>
            </a:custGeom>
            <a:blipFill>
              <a:blip r:embed="rId18"/>
              <a:stretch>
                <a:fillRect/>
              </a:stretch>
            </a:blipFill>
          </p:spPr>
          <p:txBody>
            <a:bodyPr/>
            <a:lstStyle/>
            <a:p>
              <a:endParaRPr lang="en-US"/>
            </a:p>
          </p:txBody>
        </p:sp>
        <p:sp>
          <p:nvSpPr>
            <p:cNvPr id="19" name="Freeform 19"/>
            <p:cNvSpPr/>
            <p:nvPr/>
          </p:nvSpPr>
          <p:spPr>
            <a:xfrm>
              <a:off x="3002615" y="3964805"/>
              <a:ext cx="3983263" cy="833987"/>
            </a:xfrm>
            <a:custGeom>
              <a:avLst/>
              <a:gdLst/>
              <a:ahLst/>
              <a:cxnLst/>
              <a:rect l="l" t="t" r="r" b="b"/>
              <a:pathLst>
                <a:path w="3983263" h="833987">
                  <a:moveTo>
                    <a:pt x="0" y="0"/>
                  </a:moveTo>
                  <a:lnTo>
                    <a:pt x="3983264" y="0"/>
                  </a:lnTo>
                  <a:lnTo>
                    <a:pt x="3983264" y="833987"/>
                  </a:lnTo>
                  <a:lnTo>
                    <a:pt x="0" y="833987"/>
                  </a:lnTo>
                  <a:lnTo>
                    <a:pt x="0" y="0"/>
                  </a:lnTo>
                  <a:close/>
                </a:path>
              </a:pathLst>
            </a:custGeom>
            <a:blipFill>
              <a:blip r:embed="rId19"/>
              <a:stretch>
                <a:fillRect b="-13434"/>
              </a:stretch>
            </a:blipFill>
          </p:spPr>
          <p:txBody>
            <a:bodyPr/>
            <a:lstStyle/>
            <a:p>
              <a:endParaRPr lang="en-US"/>
            </a:p>
          </p:txBody>
        </p:sp>
        <p:sp>
          <p:nvSpPr>
            <p:cNvPr id="20" name="Freeform 20"/>
            <p:cNvSpPr/>
            <p:nvPr/>
          </p:nvSpPr>
          <p:spPr>
            <a:xfrm>
              <a:off x="12644630" y="72856"/>
              <a:ext cx="5279025" cy="1055805"/>
            </a:xfrm>
            <a:custGeom>
              <a:avLst/>
              <a:gdLst/>
              <a:ahLst/>
              <a:cxnLst/>
              <a:rect l="l" t="t" r="r" b="b"/>
              <a:pathLst>
                <a:path w="5279025" h="1055805">
                  <a:moveTo>
                    <a:pt x="0" y="0"/>
                  </a:moveTo>
                  <a:lnTo>
                    <a:pt x="5279025" y="0"/>
                  </a:lnTo>
                  <a:lnTo>
                    <a:pt x="5279025" y="1055805"/>
                  </a:lnTo>
                  <a:lnTo>
                    <a:pt x="0" y="1055805"/>
                  </a:lnTo>
                  <a:lnTo>
                    <a:pt x="0" y="0"/>
                  </a:lnTo>
                  <a:close/>
                </a:path>
              </a:pathLst>
            </a:custGeom>
            <a:blipFill>
              <a:blip r:embed="rId20"/>
              <a:stretch>
                <a:fillRect/>
              </a:stretch>
            </a:blipFill>
          </p:spPr>
          <p:txBody>
            <a:bodyPr/>
            <a:lstStyle/>
            <a:p>
              <a:endParaRPr lang="en-US"/>
            </a:p>
          </p:txBody>
        </p:sp>
        <p:sp>
          <p:nvSpPr>
            <p:cNvPr id="21" name="Freeform 21"/>
            <p:cNvSpPr/>
            <p:nvPr/>
          </p:nvSpPr>
          <p:spPr>
            <a:xfrm>
              <a:off x="9878744" y="6770320"/>
              <a:ext cx="3325889" cy="997767"/>
            </a:xfrm>
            <a:custGeom>
              <a:avLst/>
              <a:gdLst/>
              <a:ahLst/>
              <a:cxnLst/>
              <a:rect l="l" t="t" r="r" b="b"/>
              <a:pathLst>
                <a:path w="3325889" h="997767">
                  <a:moveTo>
                    <a:pt x="0" y="0"/>
                  </a:moveTo>
                  <a:lnTo>
                    <a:pt x="3325889" y="0"/>
                  </a:lnTo>
                  <a:lnTo>
                    <a:pt x="3325889" y="997766"/>
                  </a:lnTo>
                  <a:lnTo>
                    <a:pt x="0" y="997766"/>
                  </a:lnTo>
                  <a:lnTo>
                    <a:pt x="0" y="0"/>
                  </a:lnTo>
                  <a:close/>
                </a:path>
              </a:pathLst>
            </a:custGeom>
            <a:blipFill>
              <a:blip r:embed="rId21"/>
              <a:stretch>
                <a:fillRect/>
              </a:stretch>
            </a:blipFill>
          </p:spPr>
          <p:txBody>
            <a:bodyPr/>
            <a:lstStyle/>
            <a:p>
              <a:endParaRPr lang="en-US"/>
            </a:p>
          </p:txBody>
        </p:sp>
        <p:sp>
          <p:nvSpPr>
            <p:cNvPr id="22" name="Freeform 22"/>
            <p:cNvSpPr/>
            <p:nvPr/>
          </p:nvSpPr>
          <p:spPr>
            <a:xfrm>
              <a:off x="5428063" y="7081820"/>
              <a:ext cx="1729415" cy="1729415"/>
            </a:xfrm>
            <a:custGeom>
              <a:avLst/>
              <a:gdLst/>
              <a:ahLst/>
              <a:cxnLst/>
              <a:rect l="l" t="t" r="r" b="b"/>
              <a:pathLst>
                <a:path w="1729415" h="1729415">
                  <a:moveTo>
                    <a:pt x="0" y="0"/>
                  </a:moveTo>
                  <a:lnTo>
                    <a:pt x="1729416" y="0"/>
                  </a:lnTo>
                  <a:lnTo>
                    <a:pt x="1729416" y="1729415"/>
                  </a:lnTo>
                  <a:lnTo>
                    <a:pt x="0" y="1729415"/>
                  </a:lnTo>
                  <a:lnTo>
                    <a:pt x="0" y="0"/>
                  </a:lnTo>
                  <a:close/>
                </a:path>
              </a:pathLst>
            </a:custGeom>
            <a:blipFill>
              <a:blip r:embed="rId22"/>
              <a:stretch>
                <a:fillRect/>
              </a:stretch>
            </a:blipFill>
          </p:spPr>
          <p:txBody>
            <a:bodyPr/>
            <a:lstStyle/>
            <a:p>
              <a:endParaRPr lang="en-US"/>
            </a:p>
          </p:txBody>
        </p:sp>
        <p:sp>
          <p:nvSpPr>
            <p:cNvPr id="23" name="Freeform 23"/>
            <p:cNvSpPr/>
            <p:nvPr/>
          </p:nvSpPr>
          <p:spPr>
            <a:xfrm>
              <a:off x="457087" y="6818698"/>
              <a:ext cx="1889281" cy="1584635"/>
            </a:xfrm>
            <a:custGeom>
              <a:avLst/>
              <a:gdLst/>
              <a:ahLst/>
              <a:cxnLst/>
              <a:rect l="l" t="t" r="r" b="b"/>
              <a:pathLst>
                <a:path w="1889281" h="1584635">
                  <a:moveTo>
                    <a:pt x="0" y="0"/>
                  </a:moveTo>
                  <a:lnTo>
                    <a:pt x="1889281" y="0"/>
                  </a:lnTo>
                  <a:lnTo>
                    <a:pt x="1889281" y="1584635"/>
                  </a:lnTo>
                  <a:lnTo>
                    <a:pt x="0" y="1584635"/>
                  </a:lnTo>
                  <a:lnTo>
                    <a:pt x="0" y="0"/>
                  </a:lnTo>
                  <a:close/>
                </a:path>
              </a:pathLst>
            </a:custGeom>
            <a:blipFill>
              <a:blip r:embed="rId23"/>
              <a:stretch>
                <a:fillRect/>
              </a:stretch>
            </a:blipFill>
          </p:spPr>
          <p:txBody>
            <a:bodyPr/>
            <a:lstStyle/>
            <a:p>
              <a:endParaRPr lang="en-US"/>
            </a:p>
          </p:txBody>
        </p:sp>
      </p:grpSp>
      <p:sp>
        <p:nvSpPr>
          <p:cNvPr id="24" name="Freeform 24"/>
          <p:cNvSpPr/>
          <p:nvPr/>
        </p:nvSpPr>
        <p:spPr>
          <a:xfrm>
            <a:off x="11446499" y="9699564"/>
            <a:ext cx="7315200" cy="795528"/>
          </a:xfrm>
          <a:custGeom>
            <a:avLst/>
            <a:gdLst/>
            <a:ahLst/>
            <a:cxnLst/>
            <a:rect l="l" t="t" r="r" b="b"/>
            <a:pathLst>
              <a:path w="7315200" h="795528">
                <a:moveTo>
                  <a:pt x="0" y="0"/>
                </a:moveTo>
                <a:lnTo>
                  <a:pt x="7315200" y="0"/>
                </a:lnTo>
                <a:lnTo>
                  <a:pt x="7315200" y="795528"/>
                </a:lnTo>
                <a:lnTo>
                  <a:pt x="0" y="795528"/>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25" name="Freeform 25"/>
          <p:cNvSpPr/>
          <p:nvPr/>
        </p:nvSpPr>
        <p:spPr>
          <a:xfrm>
            <a:off x="4635722" y="9699564"/>
            <a:ext cx="7315200" cy="795528"/>
          </a:xfrm>
          <a:custGeom>
            <a:avLst/>
            <a:gdLst/>
            <a:ahLst/>
            <a:cxnLst/>
            <a:rect l="l" t="t" r="r" b="b"/>
            <a:pathLst>
              <a:path w="7315200" h="795528">
                <a:moveTo>
                  <a:pt x="0" y="0"/>
                </a:moveTo>
                <a:lnTo>
                  <a:pt x="7315200" y="0"/>
                </a:lnTo>
                <a:lnTo>
                  <a:pt x="7315200" y="795528"/>
                </a:lnTo>
                <a:lnTo>
                  <a:pt x="0" y="795528"/>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26" name="Freeform 26"/>
          <p:cNvSpPr/>
          <p:nvPr/>
        </p:nvSpPr>
        <p:spPr>
          <a:xfrm>
            <a:off x="-703048" y="9699564"/>
            <a:ext cx="7315200" cy="795528"/>
          </a:xfrm>
          <a:custGeom>
            <a:avLst/>
            <a:gdLst/>
            <a:ahLst/>
            <a:cxnLst/>
            <a:rect l="l" t="t" r="r" b="b"/>
            <a:pathLst>
              <a:path w="7315200" h="795528">
                <a:moveTo>
                  <a:pt x="0" y="0"/>
                </a:moveTo>
                <a:lnTo>
                  <a:pt x="7315200" y="0"/>
                </a:lnTo>
                <a:lnTo>
                  <a:pt x="7315200" y="795528"/>
                </a:lnTo>
                <a:lnTo>
                  <a:pt x="0" y="795528"/>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grpSp>
        <p:nvGrpSpPr>
          <p:cNvPr id="27" name="Group 27"/>
          <p:cNvGrpSpPr/>
          <p:nvPr/>
        </p:nvGrpSpPr>
        <p:grpSpPr>
          <a:xfrm>
            <a:off x="1028700" y="1028700"/>
            <a:ext cx="6647108" cy="773361"/>
            <a:chOff x="0" y="0"/>
            <a:chExt cx="8862811" cy="1031148"/>
          </a:xfrm>
        </p:grpSpPr>
        <p:grpSp>
          <p:nvGrpSpPr>
            <p:cNvPr id="28" name="Group 28"/>
            <p:cNvGrpSpPr/>
            <p:nvPr/>
          </p:nvGrpSpPr>
          <p:grpSpPr>
            <a:xfrm>
              <a:off x="0" y="914885"/>
              <a:ext cx="4523701" cy="116262"/>
              <a:chOff x="0" y="0"/>
              <a:chExt cx="893571" cy="22965"/>
            </a:xfrm>
          </p:grpSpPr>
          <p:sp>
            <p:nvSpPr>
              <p:cNvPr id="29" name="Freeform 29"/>
              <p:cNvSpPr/>
              <p:nvPr/>
            </p:nvSpPr>
            <p:spPr>
              <a:xfrm>
                <a:off x="0" y="0"/>
                <a:ext cx="893571" cy="22965"/>
              </a:xfrm>
              <a:custGeom>
                <a:avLst/>
                <a:gdLst/>
                <a:ahLst/>
                <a:cxnLst/>
                <a:rect l="l" t="t" r="r" b="b"/>
                <a:pathLst>
                  <a:path w="893571" h="22965">
                    <a:moveTo>
                      <a:pt x="11483" y="0"/>
                    </a:moveTo>
                    <a:lnTo>
                      <a:pt x="882088" y="0"/>
                    </a:lnTo>
                    <a:cubicBezTo>
                      <a:pt x="885133" y="0"/>
                      <a:pt x="888054" y="1210"/>
                      <a:pt x="890207" y="3363"/>
                    </a:cubicBezTo>
                    <a:cubicBezTo>
                      <a:pt x="892361" y="5517"/>
                      <a:pt x="893571" y="8437"/>
                      <a:pt x="893571" y="11483"/>
                    </a:cubicBezTo>
                    <a:lnTo>
                      <a:pt x="893571" y="11483"/>
                    </a:lnTo>
                    <a:cubicBezTo>
                      <a:pt x="893571" y="14528"/>
                      <a:pt x="892361" y="17449"/>
                      <a:pt x="890207" y="19602"/>
                    </a:cubicBezTo>
                    <a:cubicBezTo>
                      <a:pt x="888054" y="21756"/>
                      <a:pt x="885133" y="22965"/>
                      <a:pt x="882088"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30" name="TextBox 30"/>
              <p:cNvSpPr txBox="1"/>
              <p:nvPr/>
            </p:nvSpPr>
            <p:spPr>
              <a:xfrm>
                <a:off x="0" y="-38100"/>
                <a:ext cx="893571" cy="6106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0" y="-19050"/>
              <a:ext cx="8862811" cy="735705"/>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Global Customer Network</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0643" y="2562438"/>
            <a:ext cx="3496759" cy="87197"/>
            <a:chOff x="0" y="0"/>
            <a:chExt cx="920957" cy="22965"/>
          </a:xfrm>
        </p:grpSpPr>
        <p:sp>
          <p:nvSpPr>
            <p:cNvPr id="3" name="Freeform 3"/>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4" name="TextBox 4"/>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10643" y="2949949"/>
            <a:ext cx="677751" cy="67775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7" name="TextBox 7"/>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8" name="TextBox 8"/>
          <p:cNvSpPr txBox="1"/>
          <p:nvPr/>
        </p:nvSpPr>
        <p:spPr>
          <a:xfrm>
            <a:off x="901463" y="527900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graphicFrame>
        <p:nvGraphicFramePr>
          <p:cNvPr id="9" name="Table 9"/>
          <p:cNvGraphicFramePr>
            <a:graphicFrameLocks noGrp="1"/>
          </p:cNvGraphicFramePr>
          <p:nvPr/>
        </p:nvGraphicFramePr>
        <p:xfrm>
          <a:off x="901463" y="5695317"/>
          <a:ext cx="6360334" cy="2902435"/>
        </p:xfrm>
        <a:graphic>
          <a:graphicData uri="http://schemas.openxmlformats.org/drawingml/2006/table">
            <a:tbl>
              <a:tblPr/>
              <a:tblGrid>
                <a:gridCol w="2860257">
                  <a:extLst>
                    <a:ext uri="{9D8B030D-6E8A-4147-A177-3AD203B41FA5}">
                      <a16:colId xmlns:a16="http://schemas.microsoft.com/office/drawing/2014/main" val="20000"/>
                    </a:ext>
                  </a:extLst>
                </a:gridCol>
                <a:gridCol w="3500077">
                  <a:extLst>
                    <a:ext uri="{9D8B030D-6E8A-4147-A177-3AD203B41FA5}">
                      <a16:colId xmlns:a16="http://schemas.microsoft.com/office/drawing/2014/main" val="20001"/>
                    </a:ext>
                  </a:extLst>
                </a:gridCol>
              </a:tblGrid>
              <a:tr h="1386622">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Product Type</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Order Count</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extLst>
                  <a:ext uri="{0D108BD9-81ED-4DB2-BD59-A6C34878D82A}">
                    <a16:rowId xmlns:a16="http://schemas.microsoft.com/office/drawing/2014/main" val="10000"/>
                  </a:ext>
                </a:extLst>
              </a:tr>
              <a:tr h="495969">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Standard</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1,938,346</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9922">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Gloss</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1,013,773</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9922">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Poster</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723,646</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Freeform 10"/>
          <p:cNvSpPr/>
          <p:nvPr/>
        </p:nvSpPr>
        <p:spPr>
          <a:xfrm>
            <a:off x="9009770" y="2177458"/>
            <a:ext cx="8465214" cy="6667504"/>
          </a:xfrm>
          <a:custGeom>
            <a:avLst/>
            <a:gdLst/>
            <a:ahLst/>
            <a:cxnLst/>
            <a:rect l="l" t="t" r="r" b="b"/>
            <a:pathLst>
              <a:path w="8465214" h="6667504">
                <a:moveTo>
                  <a:pt x="0" y="0"/>
                </a:moveTo>
                <a:lnTo>
                  <a:pt x="8465214" y="0"/>
                </a:lnTo>
                <a:lnTo>
                  <a:pt x="8465214" y="6667504"/>
                </a:lnTo>
                <a:lnTo>
                  <a:pt x="0" y="6667504"/>
                </a:lnTo>
                <a:lnTo>
                  <a:pt x="0" y="0"/>
                </a:lnTo>
                <a:close/>
              </a:path>
            </a:pathLst>
          </a:custGeom>
          <a:blipFill>
            <a:blip r:embed="rId3"/>
            <a:stretch>
              <a:fillRect t="-11029" b="-10695"/>
            </a:stretch>
          </a:blipFill>
        </p:spPr>
        <p:txBody>
          <a:bodyPr/>
          <a:lstStyle/>
          <a:p>
            <a:endParaRPr lang="en-US"/>
          </a:p>
        </p:txBody>
      </p:sp>
      <p:sp>
        <p:nvSpPr>
          <p:cNvPr id="11" name="TextBox 11"/>
          <p:cNvSpPr txBox="1"/>
          <p:nvPr/>
        </p:nvSpPr>
        <p:spPr>
          <a:xfrm>
            <a:off x="810643" y="1260365"/>
            <a:ext cx="5312952" cy="1080416"/>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Product Popularity by Order Count</a:t>
            </a:r>
          </a:p>
        </p:txBody>
      </p:sp>
      <p:sp>
        <p:nvSpPr>
          <p:cNvPr id="12" name="TextBox 12"/>
          <p:cNvSpPr txBox="1"/>
          <p:nvPr/>
        </p:nvSpPr>
        <p:spPr>
          <a:xfrm>
            <a:off x="1693010" y="2993052"/>
            <a:ext cx="5838485" cy="2446046"/>
          </a:xfrm>
          <a:prstGeom prst="rect">
            <a:avLst/>
          </a:prstGeom>
        </p:spPr>
        <p:txBody>
          <a:bodyPr lIns="0" tIns="0" rIns="0" bIns="0" rtlCol="0" anchor="t">
            <a:spAutoFit/>
          </a:bodyPr>
          <a:lstStyle/>
          <a:p>
            <a:pPr algn="l">
              <a:lnSpc>
                <a:spcPts val="3253"/>
              </a:lnSpc>
            </a:pPr>
            <a:r>
              <a:rPr lang="en-US" sz="2323" i="1">
                <a:solidFill>
                  <a:srgbClr val="1F2020"/>
                </a:solidFill>
                <a:latin typeface="Open Sans Italics"/>
                <a:ea typeface="Open Sans Italics"/>
                <a:cs typeface="Open Sans Italics"/>
                <a:sym typeface="Open Sans Italics"/>
              </a:rPr>
              <a:t>To determine product popularity, count the number of unique orders where the product quantity is greater than zero. This reveals how often each product is ordered, helping to identify high-demand items.</a:t>
            </a:r>
          </a:p>
          <a:p>
            <a:pPr algn="l">
              <a:lnSpc>
                <a:spcPts val="3253"/>
              </a:lnSpc>
              <a:spcBef>
                <a:spcPct val="0"/>
              </a:spcBef>
            </a:pPr>
            <a:endParaRPr lang="en-US" sz="2323" i="1">
              <a:solidFill>
                <a:srgbClr val="1F2020"/>
              </a:solidFill>
              <a:latin typeface="Open Sans Italics"/>
              <a:ea typeface="Open Sans Italics"/>
              <a:cs typeface="Open Sans Italics"/>
              <a:sym typeface="Open Sans Italics"/>
            </a:endParaRPr>
          </a:p>
        </p:txBody>
      </p:sp>
      <p:sp>
        <p:nvSpPr>
          <p:cNvPr id="13" name="TextBox 13"/>
          <p:cNvSpPr txBox="1"/>
          <p:nvPr/>
        </p:nvSpPr>
        <p:spPr>
          <a:xfrm>
            <a:off x="901463" y="312594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177932" y="8597752"/>
            <a:ext cx="110068" cy="660548"/>
            <a:chOff x="0" y="0"/>
            <a:chExt cx="28989" cy="173972"/>
          </a:xfrm>
        </p:grpSpPr>
        <p:sp>
          <p:nvSpPr>
            <p:cNvPr id="3" name="Freeform 3"/>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txBody>
            <a:bodyPr/>
            <a:lstStyle/>
            <a:p>
              <a:endParaRPr lang="en-US"/>
            </a:p>
          </p:txBody>
        </p:sp>
        <p:sp>
          <p:nvSpPr>
            <p:cNvPr id="4" name="TextBox 4"/>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10643" y="2562438"/>
            <a:ext cx="3496759" cy="87197"/>
            <a:chOff x="0" y="0"/>
            <a:chExt cx="920957" cy="22965"/>
          </a:xfrm>
        </p:grpSpPr>
        <p:sp>
          <p:nvSpPr>
            <p:cNvPr id="6" name="Freeform 6"/>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7" name="TextBox 7"/>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810643" y="2949949"/>
            <a:ext cx="677751" cy="677751"/>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1" name="TextBox 11"/>
          <p:cNvSpPr txBox="1"/>
          <p:nvPr/>
        </p:nvSpPr>
        <p:spPr>
          <a:xfrm>
            <a:off x="901463" y="527900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graphicFrame>
        <p:nvGraphicFramePr>
          <p:cNvPr id="12" name="Table 12"/>
          <p:cNvGraphicFramePr>
            <a:graphicFrameLocks noGrp="1"/>
          </p:cNvGraphicFramePr>
          <p:nvPr/>
        </p:nvGraphicFramePr>
        <p:xfrm>
          <a:off x="1028700" y="5695317"/>
          <a:ext cx="6360334" cy="2902435"/>
        </p:xfrm>
        <a:graphic>
          <a:graphicData uri="http://schemas.openxmlformats.org/drawingml/2006/table">
            <a:tbl>
              <a:tblPr/>
              <a:tblGrid>
                <a:gridCol w="2860257">
                  <a:extLst>
                    <a:ext uri="{9D8B030D-6E8A-4147-A177-3AD203B41FA5}">
                      <a16:colId xmlns:a16="http://schemas.microsoft.com/office/drawing/2014/main" val="20000"/>
                    </a:ext>
                  </a:extLst>
                </a:gridCol>
                <a:gridCol w="3500077">
                  <a:extLst>
                    <a:ext uri="{9D8B030D-6E8A-4147-A177-3AD203B41FA5}">
                      <a16:colId xmlns:a16="http://schemas.microsoft.com/office/drawing/2014/main" val="20001"/>
                    </a:ext>
                  </a:extLst>
                </a:gridCol>
              </a:tblGrid>
              <a:tr h="1386622">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Product Type</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Total Revenue</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extLst>
                  <a:ext uri="{0D108BD9-81ED-4DB2-BD59-A6C34878D82A}">
                    <a16:rowId xmlns:a16="http://schemas.microsoft.com/office/drawing/2014/main" val="10000"/>
                  </a:ext>
                </a:extLst>
              </a:tr>
              <a:tr h="495969">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Standard</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9,672,346.54</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9922">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Gloss</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7,593,159.77</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9922">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Poster</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5,876,005.52</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Freeform 13"/>
          <p:cNvSpPr/>
          <p:nvPr/>
        </p:nvSpPr>
        <p:spPr>
          <a:xfrm>
            <a:off x="9628151" y="2213859"/>
            <a:ext cx="8210154" cy="6665444"/>
          </a:xfrm>
          <a:custGeom>
            <a:avLst/>
            <a:gdLst/>
            <a:ahLst/>
            <a:cxnLst/>
            <a:rect l="l" t="t" r="r" b="b"/>
            <a:pathLst>
              <a:path w="8210154" h="6665444">
                <a:moveTo>
                  <a:pt x="0" y="0"/>
                </a:moveTo>
                <a:lnTo>
                  <a:pt x="8210154" y="0"/>
                </a:lnTo>
                <a:lnTo>
                  <a:pt x="8210154" y="6665444"/>
                </a:lnTo>
                <a:lnTo>
                  <a:pt x="0" y="6665444"/>
                </a:lnTo>
                <a:lnTo>
                  <a:pt x="0" y="0"/>
                </a:lnTo>
                <a:close/>
              </a:path>
            </a:pathLst>
          </a:custGeom>
          <a:blipFill>
            <a:blip r:embed="rId3"/>
            <a:stretch>
              <a:fillRect l="-966" t="-13655" r="-1505" b="-4202"/>
            </a:stretch>
          </a:blipFill>
        </p:spPr>
        <p:txBody>
          <a:bodyPr/>
          <a:lstStyle/>
          <a:p>
            <a:endParaRPr lang="en-US"/>
          </a:p>
        </p:txBody>
      </p:sp>
      <p:sp>
        <p:nvSpPr>
          <p:cNvPr id="14" name="TextBox 14"/>
          <p:cNvSpPr txBox="1"/>
          <p:nvPr/>
        </p:nvSpPr>
        <p:spPr>
          <a:xfrm>
            <a:off x="810643" y="1260365"/>
            <a:ext cx="5312952" cy="1080416"/>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Revenue Contribution  by Product Type</a:t>
            </a:r>
          </a:p>
        </p:txBody>
      </p:sp>
      <p:sp>
        <p:nvSpPr>
          <p:cNvPr id="15" name="TextBox 15"/>
          <p:cNvSpPr txBox="1"/>
          <p:nvPr/>
        </p:nvSpPr>
        <p:spPr>
          <a:xfrm>
            <a:off x="2026327" y="2993052"/>
            <a:ext cx="5838485" cy="2036471"/>
          </a:xfrm>
          <a:prstGeom prst="rect">
            <a:avLst/>
          </a:prstGeom>
        </p:spPr>
        <p:txBody>
          <a:bodyPr lIns="0" tIns="0" rIns="0" bIns="0" rtlCol="0" anchor="t">
            <a:spAutoFit/>
          </a:bodyPr>
          <a:lstStyle/>
          <a:p>
            <a:pPr algn="l">
              <a:lnSpc>
                <a:spcPts val="3253"/>
              </a:lnSpc>
            </a:pPr>
            <a:r>
              <a:rPr lang="en-US" sz="2323" i="1">
                <a:solidFill>
                  <a:srgbClr val="1F2020"/>
                </a:solidFill>
                <a:latin typeface="Open Sans Italics"/>
                <a:ea typeface="Open Sans Italics"/>
                <a:cs typeface="Open Sans Italics"/>
                <a:sym typeface="Open Sans Italics"/>
              </a:rPr>
              <a:t>The pie chart shows the revenue share of each product type.</a:t>
            </a:r>
          </a:p>
          <a:p>
            <a:pPr algn="l">
              <a:lnSpc>
                <a:spcPts val="3253"/>
              </a:lnSpc>
            </a:pPr>
            <a:r>
              <a:rPr lang="en-US" sz="2323" i="1">
                <a:solidFill>
                  <a:srgbClr val="1F2020"/>
                </a:solidFill>
                <a:latin typeface="Open Sans Italics"/>
                <a:ea typeface="Open Sans Italics"/>
                <a:cs typeface="Open Sans Italics"/>
                <a:sym typeface="Open Sans Italics"/>
              </a:rPr>
              <a:t>This highlights which products are the primary contributors to total revenue.</a:t>
            </a:r>
          </a:p>
          <a:p>
            <a:pPr algn="l">
              <a:lnSpc>
                <a:spcPts val="3253"/>
              </a:lnSpc>
              <a:spcBef>
                <a:spcPct val="0"/>
              </a:spcBef>
            </a:pPr>
            <a:endParaRPr lang="en-US" sz="2323" i="1">
              <a:solidFill>
                <a:srgbClr val="1F2020"/>
              </a:solidFill>
              <a:latin typeface="Open Sans Italics"/>
              <a:ea typeface="Open Sans Italics"/>
              <a:cs typeface="Open Sans Italics"/>
              <a:sym typeface="Open Sans Italics"/>
            </a:endParaRPr>
          </a:p>
        </p:txBody>
      </p:sp>
      <p:sp>
        <p:nvSpPr>
          <p:cNvPr id="16" name="TextBox 16"/>
          <p:cNvSpPr txBox="1"/>
          <p:nvPr/>
        </p:nvSpPr>
        <p:spPr>
          <a:xfrm>
            <a:off x="901463" y="312594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177932" y="8597752"/>
            <a:ext cx="110068" cy="660548"/>
            <a:chOff x="0" y="0"/>
            <a:chExt cx="28989" cy="173972"/>
          </a:xfrm>
        </p:grpSpPr>
        <p:sp>
          <p:nvSpPr>
            <p:cNvPr id="3" name="Freeform 3"/>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txBody>
            <a:bodyPr/>
            <a:lstStyle/>
            <a:p>
              <a:endParaRPr lang="en-US"/>
            </a:p>
          </p:txBody>
        </p:sp>
        <p:sp>
          <p:nvSpPr>
            <p:cNvPr id="4" name="TextBox 4"/>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10643" y="2562438"/>
            <a:ext cx="3496759" cy="87197"/>
            <a:chOff x="0" y="0"/>
            <a:chExt cx="920957" cy="22965"/>
          </a:xfrm>
        </p:grpSpPr>
        <p:sp>
          <p:nvSpPr>
            <p:cNvPr id="6" name="Freeform 6"/>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7" name="TextBox 7"/>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810643" y="2949949"/>
            <a:ext cx="677751" cy="677751"/>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1" name="TextBox 11"/>
          <p:cNvSpPr txBox="1"/>
          <p:nvPr/>
        </p:nvSpPr>
        <p:spPr>
          <a:xfrm>
            <a:off x="901463" y="527900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sp>
        <p:nvSpPr>
          <p:cNvPr id="12" name="TextBox 12"/>
          <p:cNvSpPr txBox="1"/>
          <p:nvPr/>
        </p:nvSpPr>
        <p:spPr>
          <a:xfrm>
            <a:off x="810643" y="1260365"/>
            <a:ext cx="7576725" cy="1080416"/>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Revenue Contribution by Product Type for Sample Orders</a:t>
            </a:r>
          </a:p>
        </p:txBody>
      </p:sp>
      <p:sp>
        <p:nvSpPr>
          <p:cNvPr id="13" name="TextBox 13"/>
          <p:cNvSpPr txBox="1"/>
          <p:nvPr/>
        </p:nvSpPr>
        <p:spPr>
          <a:xfrm>
            <a:off x="1693010" y="2993052"/>
            <a:ext cx="5838485" cy="2446046"/>
          </a:xfrm>
          <a:prstGeom prst="rect">
            <a:avLst/>
          </a:prstGeom>
        </p:spPr>
        <p:txBody>
          <a:bodyPr lIns="0" tIns="0" rIns="0" bIns="0" rtlCol="0" anchor="t">
            <a:spAutoFit/>
          </a:bodyPr>
          <a:lstStyle/>
          <a:p>
            <a:pPr algn="l">
              <a:lnSpc>
                <a:spcPts val="3253"/>
              </a:lnSpc>
              <a:spcBef>
                <a:spcPct val="0"/>
              </a:spcBef>
            </a:pPr>
            <a:r>
              <a:rPr lang="en-US" sz="2323" i="1">
                <a:solidFill>
                  <a:srgbClr val="1F2020"/>
                </a:solidFill>
                <a:latin typeface="Open Sans Italics"/>
                <a:ea typeface="Open Sans Italics"/>
                <a:cs typeface="Open Sans Italics"/>
                <a:sym typeface="Open Sans Italics"/>
              </a:rPr>
              <a:t>This stacked bar chart shows how each product (Standard, Gloss, Poster) contributes to the revenue of individual orders. It highlights the varying revenue contributions, illustrating that some orders are more focused on certain products.</a:t>
            </a:r>
          </a:p>
        </p:txBody>
      </p:sp>
      <p:sp>
        <p:nvSpPr>
          <p:cNvPr id="14" name="TextBox 14"/>
          <p:cNvSpPr txBox="1"/>
          <p:nvPr/>
        </p:nvSpPr>
        <p:spPr>
          <a:xfrm>
            <a:off x="901463" y="312594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pic>
        <p:nvPicPr>
          <p:cNvPr id="15" name="Picture 15"/>
          <p:cNvPicPr>
            <a:picLocks noChangeAspect="1"/>
          </p:cNvPicPr>
          <p:nvPr/>
        </p:nvPicPr>
        <p:blipFill>
          <a:blip r:embed="rId3"/>
          <a:stretch>
            <a:fillRect/>
          </a:stretch>
        </p:blipFill>
        <p:spPr>
          <a:xfrm>
            <a:off x="8296949" y="398687"/>
            <a:ext cx="10164616" cy="93763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177932" y="8872565"/>
            <a:ext cx="110068" cy="660548"/>
            <a:chOff x="0" y="0"/>
            <a:chExt cx="28989" cy="173972"/>
          </a:xfrm>
        </p:grpSpPr>
        <p:sp>
          <p:nvSpPr>
            <p:cNvPr id="3" name="Freeform 3"/>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txBody>
            <a:bodyPr/>
            <a:lstStyle/>
            <a:p>
              <a:endParaRPr lang="en-US"/>
            </a:p>
          </p:txBody>
        </p:sp>
        <p:sp>
          <p:nvSpPr>
            <p:cNvPr id="4" name="TextBox 4"/>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1696840" y="3214837"/>
            <a:ext cx="677751" cy="67775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7" name="TextBox 7"/>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8" name="Group 8"/>
          <p:cNvGrpSpPr/>
          <p:nvPr/>
        </p:nvGrpSpPr>
        <p:grpSpPr>
          <a:xfrm>
            <a:off x="11696840" y="5842155"/>
            <a:ext cx="677751" cy="677751"/>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1696840" y="7542372"/>
            <a:ext cx="677751" cy="677751"/>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3" name="TextBox 13"/>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11519487" y="2732177"/>
            <a:ext cx="3496759" cy="87197"/>
            <a:chOff x="0" y="0"/>
            <a:chExt cx="920957" cy="22965"/>
          </a:xfrm>
        </p:grpSpPr>
        <p:sp>
          <p:nvSpPr>
            <p:cNvPr id="15" name="Freeform 15"/>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16" name="TextBox 16"/>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286229" y="2323417"/>
            <a:ext cx="9960557" cy="5623591"/>
          </a:xfrm>
          <a:custGeom>
            <a:avLst/>
            <a:gdLst/>
            <a:ahLst/>
            <a:cxnLst/>
            <a:rect l="l" t="t" r="r" b="b"/>
            <a:pathLst>
              <a:path w="9960557" h="5623591">
                <a:moveTo>
                  <a:pt x="0" y="0"/>
                </a:moveTo>
                <a:lnTo>
                  <a:pt x="9960558" y="0"/>
                </a:lnTo>
                <a:lnTo>
                  <a:pt x="9960558" y="5623592"/>
                </a:lnTo>
                <a:lnTo>
                  <a:pt x="0" y="5623592"/>
                </a:lnTo>
                <a:lnTo>
                  <a:pt x="0" y="0"/>
                </a:lnTo>
                <a:close/>
              </a:path>
            </a:pathLst>
          </a:custGeom>
          <a:blipFill>
            <a:blip r:embed="rId2"/>
            <a:stretch>
              <a:fillRect b="-294"/>
            </a:stretch>
          </a:blipFill>
        </p:spPr>
        <p:txBody>
          <a:bodyPr/>
          <a:lstStyle/>
          <a:p>
            <a:endParaRPr lang="en-US"/>
          </a:p>
        </p:txBody>
      </p:sp>
      <p:sp>
        <p:nvSpPr>
          <p:cNvPr id="19" name="TextBox 19"/>
          <p:cNvSpPr txBox="1"/>
          <p:nvPr/>
        </p:nvSpPr>
        <p:spPr>
          <a:xfrm>
            <a:off x="11503962" y="1983866"/>
            <a:ext cx="8073662" cy="546735"/>
          </a:xfrm>
          <a:prstGeom prst="rect">
            <a:avLst/>
          </a:prstGeom>
        </p:spPr>
        <p:txBody>
          <a:bodyPr lIns="0" tIns="0" rIns="0" bIns="0" rtlCol="0" anchor="t">
            <a:spAutoFit/>
          </a:bodyPr>
          <a:lstStyle/>
          <a:p>
            <a:pPr algn="l">
              <a:lnSpc>
                <a:spcPts val="4095"/>
              </a:lnSpc>
            </a:pPr>
            <a:r>
              <a:rPr lang="en-US" sz="3500" b="1">
                <a:solidFill>
                  <a:srgbClr val="1F2020"/>
                </a:solidFill>
                <a:latin typeface="Poppins Bold"/>
                <a:ea typeface="Poppins Bold"/>
                <a:cs typeface="Poppins Bold"/>
                <a:sym typeface="Poppins Bold"/>
              </a:rPr>
              <a:t>Parch &amp; Posey is growing</a:t>
            </a:r>
          </a:p>
        </p:txBody>
      </p:sp>
      <p:sp>
        <p:nvSpPr>
          <p:cNvPr id="20" name="TextBox 20"/>
          <p:cNvSpPr txBox="1"/>
          <p:nvPr/>
        </p:nvSpPr>
        <p:spPr>
          <a:xfrm>
            <a:off x="12739378" y="5819930"/>
            <a:ext cx="3709745" cy="1406525"/>
          </a:xfrm>
          <a:prstGeom prst="rect">
            <a:avLst/>
          </a:prstGeom>
        </p:spPr>
        <p:txBody>
          <a:bodyPr lIns="0" tIns="0" rIns="0" bIns="0" rtlCol="0" anchor="t">
            <a:spAutoFit/>
          </a:bodyPr>
          <a:lstStyle/>
          <a:p>
            <a:pPr algn="l">
              <a:lnSpc>
                <a:spcPts val="2800"/>
              </a:lnSpc>
            </a:pPr>
            <a:r>
              <a:rPr lang="en-US" sz="2000" dirty="0">
                <a:solidFill>
                  <a:srgbClr val="1F2020"/>
                </a:solidFill>
                <a:latin typeface="Open Sans"/>
                <a:ea typeface="Open Sans"/>
                <a:cs typeface="Open Sans"/>
                <a:sym typeface="Open Sans"/>
              </a:rPr>
              <a:t>Yearly growth(USD) rate :</a:t>
            </a:r>
          </a:p>
          <a:p>
            <a:pPr marL="431801" lvl="1" indent="-215900" algn="l">
              <a:lnSpc>
                <a:spcPts val="2800"/>
              </a:lnSpc>
              <a:buFont typeface="Arial"/>
              <a:buChar char="•"/>
            </a:pPr>
            <a:r>
              <a:rPr lang="en-US" sz="2000" dirty="0">
                <a:solidFill>
                  <a:srgbClr val="1F2020"/>
                </a:solidFill>
                <a:latin typeface="Open Sans"/>
                <a:ea typeface="Open Sans"/>
                <a:cs typeface="Open Sans"/>
                <a:sym typeface="Open Sans"/>
              </a:rPr>
              <a:t>2014 - 2015 : 41.4%</a:t>
            </a:r>
          </a:p>
          <a:p>
            <a:pPr marL="431801" lvl="1" indent="-215900" algn="l">
              <a:lnSpc>
                <a:spcPts val="2800"/>
              </a:lnSpc>
              <a:buFont typeface="Arial"/>
              <a:buChar char="•"/>
            </a:pPr>
            <a:r>
              <a:rPr lang="en-US" sz="2000" dirty="0">
                <a:solidFill>
                  <a:srgbClr val="1F2020"/>
                </a:solidFill>
                <a:latin typeface="Open Sans"/>
                <a:ea typeface="Open Sans"/>
                <a:cs typeface="Open Sans"/>
                <a:sym typeface="Open Sans"/>
              </a:rPr>
              <a:t>2015 - 2016 : 123.7%</a:t>
            </a:r>
          </a:p>
          <a:p>
            <a:pPr algn="l">
              <a:lnSpc>
                <a:spcPts val="2800"/>
              </a:lnSpc>
              <a:spcBef>
                <a:spcPct val="0"/>
              </a:spcBef>
            </a:pPr>
            <a:endParaRPr lang="en-US" sz="2000" dirty="0">
              <a:solidFill>
                <a:srgbClr val="1F2020"/>
              </a:solidFill>
              <a:latin typeface="Open Sans"/>
              <a:ea typeface="Open Sans"/>
              <a:cs typeface="Open Sans"/>
              <a:sym typeface="Open Sans"/>
            </a:endParaRPr>
          </a:p>
        </p:txBody>
      </p:sp>
      <p:sp>
        <p:nvSpPr>
          <p:cNvPr id="21" name="TextBox 21"/>
          <p:cNvSpPr txBox="1"/>
          <p:nvPr/>
        </p:nvSpPr>
        <p:spPr>
          <a:xfrm>
            <a:off x="11787660" y="3390835"/>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sp>
        <p:nvSpPr>
          <p:cNvPr id="22" name="TextBox 22"/>
          <p:cNvSpPr txBox="1"/>
          <p:nvPr/>
        </p:nvSpPr>
        <p:spPr>
          <a:xfrm>
            <a:off x="12739378" y="7520147"/>
            <a:ext cx="4519922" cy="701675"/>
          </a:xfrm>
          <a:prstGeom prst="rect">
            <a:avLst/>
          </a:prstGeom>
        </p:spPr>
        <p:txBody>
          <a:bodyPr lIns="0" tIns="0" rIns="0" bIns="0" rtlCol="0" anchor="t">
            <a:spAutoFit/>
          </a:bodyPr>
          <a:lstStyle/>
          <a:p>
            <a:pPr algn="l">
              <a:lnSpc>
                <a:spcPts val="2800"/>
              </a:lnSpc>
            </a:pPr>
            <a:r>
              <a:rPr lang="en-US" sz="2000">
                <a:solidFill>
                  <a:srgbClr val="1F2020"/>
                </a:solidFill>
                <a:latin typeface="Open Sans"/>
                <a:ea typeface="Open Sans"/>
                <a:cs typeface="Open Sans"/>
                <a:sym typeface="Open Sans"/>
              </a:rPr>
              <a:t>Total growth rate from</a:t>
            </a:r>
          </a:p>
          <a:p>
            <a:pPr algn="l">
              <a:lnSpc>
                <a:spcPts val="2800"/>
              </a:lnSpc>
              <a:spcBef>
                <a:spcPct val="0"/>
              </a:spcBef>
            </a:pPr>
            <a:r>
              <a:rPr lang="en-US" sz="2000">
                <a:solidFill>
                  <a:srgbClr val="1F2020"/>
                </a:solidFill>
                <a:latin typeface="Open Sans"/>
                <a:ea typeface="Open Sans"/>
                <a:cs typeface="Open Sans"/>
                <a:sym typeface="Open Sans"/>
              </a:rPr>
              <a:t>2014 - 2016 : </a:t>
            </a:r>
            <a:r>
              <a:rPr lang="en-US" sz="2000" b="1">
                <a:solidFill>
                  <a:srgbClr val="1F2020"/>
                </a:solidFill>
                <a:latin typeface="Open Sans Bold"/>
                <a:ea typeface="Open Sans Bold"/>
                <a:cs typeface="Open Sans Bold"/>
                <a:sym typeface="Open Sans Bold"/>
              </a:rPr>
              <a:t>216%</a:t>
            </a:r>
            <a:r>
              <a:rPr lang="en-US" sz="2000">
                <a:solidFill>
                  <a:srgbClr val="1F2020"/>
                </a:solidFill>
                <a:latin typeface="Open Sans"/>
                <a:ea typeface="Open Sans"/>
                <a:cs typeface="Open Sans"/>
                <a:sym typeface="Open Sans"/>
              </a:rPr>
              <a:t> </a:t>
            </a:r>
          </a:p>
        </p:txBody>
      </p:sp>
      <p:sp>
        <p:nvSpPr>
          <p:cNvPr id="23" name="TextBox 23"/>
          <p:cNvSpPr txBox="1"/>
          <p:nvPr/>
        </p:nvSpPr>
        <p:spPr>
          <a:xfrm>
            <a:off x="11787660" y="6018152"/>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sp>
        <p:nvSpPr>
          <p:cNvPr id="24" name="TextBox 24"/>
          <p:cNvSpPr txBox="1"/>
          <p:nvPr/>
        </p:nvSpPr>
        <p:spPr>
          <a:xfrm>
            <a:off x="12705562" y="3167212"/>
            <a:ext cx="4553738" cy="1054100"/>
          </a:xfrm>
          <a:prstGeom prst="rect">
            <a:avLst/>
          </a:prstGeom>
        </p:spPr>
        <p:txBody>
          <a:bodyPr lIns="0" tIns="0" rIns="0" bIns="0" rtlCol="0" anchor="t">
            <a:spAutoFit/>
          </a:bodyPr>
          <a:lstStyle/>
          <a:p>
            <a:pPr algn="l">
              <a:lnSpc>
                <a:spcPts val="2800"/>
              </a:lnSpc>
            </a:pPr>
            <a:r>
              <a:rPr lang="en-US" sz="2000" dirty="0">
                <a:solidFill>
                  <a:srgbClr val="1F2020"/>
                </a:solidFill>
                <a:latin typeface="Open Sans"/>
                <a:ea typeface="Open Sans"/>
                <a:cs typeface="Open Sans"/>
                <a:sym typeface="Open Sans"/>
              </a:rPr>
              <a:t>Yearly Revenue &amp; Sales QTY</a:t>
            </a:r>
          </a:p>
          <a:p>
            <a:pPr algn="l">
              <a:lnSpc>
                <a:spcPts val="2800"/>
              </a:lnSpc>
            </a:pPr>
            <a:r>
              <a:rPr lang="en-US" sz="2000" dirty="0">
                <a:solidFill>
                  <a:srgbClr val="1F2020"/>
                </a:solidFill>
                <a:latin typeface="Open Sans"/>
                <a:ea typeface="Open Sans"/>
                <a:cs typeface="Open Sans"/>
                <a:sym typeface="Open Sans"/>
              </a:rPr>
              <a:t>(2014 - 2016)</a:t>
            </a:r>
          </a:p>
          <a:p>
            <a:pPr algn="l">
              <a:lnSpc>
                <a:spcPts val="2800"/>
              </a:lnSpc>
              <a:spcBef>
                <a:spcPct val="0"/>
              </a:spcBef>
            </a:pPr>
            <a:endParaRPr lang="en-US" sz="2000" dirty="0">
              <a:solidFill>
                <a:srgbClr val="1F2020"/>
              </a:solidFill>
              <a:latin typeface="Open Sans"/>
              <a:ea typeface="Open Sans"/>
              <a:cs typeface="Open Sans"/>
              <a:sym typeface="Open Sans"/>
            </a:endParaRPr>
          </a:p>
        </p:txBody>
      </p:sp>
      <p:sp>
        <p:nvSpPr>
          <p:cNvPr id="25" name="TextBox 25"/>
          <p:cNvSpPr txBox="1"/>
          <p:nvPr/>
        </p:nvSpPr>
        <p:spPr>
          <a:xfrm>
            <a:off x="11787660" y="7718370"/>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03</a:t>
            </a:r>
          </a:p>
        </p:txBody>
      </p:sp>
      <p:graphicFrame>
        <p:nvGraphicFramePr>
          <p:cNvPr id="27" name="Table 26">
            <a:extLst>
              <a:ext uri="{FF2B5EF4-FFF2-40B4-BE49-F238E27FC236}">
                <a16:creationId xmlns:a16="http://schemas.microsoft.com/office/drawing/2014/main" id="{675D0737-0118-6F89-CF1F-CA5B68F26A21}"/>
              </a:ext>
            </a:extLst>
          </p:cNvPr>
          <p:cNvGraphicFramePr>
            <a:graphicFrameLocks noGrp="1"/>
          </p:cNvGraphicFramePr>
          <p:nvPr>
            <p:extLst>
              <p:ext uri="{D42A27DB-BD31-4B8C-83A1-F6EECF244321}">
                <p14:modId xmlns:p14="http://schemas.microsoft.com/office/powerpoint/2010/main" val="705915763"/>
              </p:ext>
            </p:extLst>
          </p:nvPr>
        </p:nvGraphicFramePr>
        <p:xfrm>
          <a:off x="11696840" y="4043386"/>
          <a:ext cx="5562459" cy="1478280"/>
        </p:xfrm>
        <a:graphic>
          <a:graphicData uri="http://schemas.openxmlformats.org/drawingml/2006/table">
            <a:tbl>
              <a:tblPr firstRow="1" bandRow="1">
                <a:tableStyleId>{5C22544A-7EE6-4342-B048-85BDC9FD1C3A}</a:tableStyleId>
              </a:tblPr>
              <a:tblGrid>
                <a:gridCol w="1854153">
                  <a:extLst>
                    <a:ext uri="{9D8B030D-6E8A-4147-A177-3AD203B41FA5}">
                      <a16:colId xmlns:a16="http://schemas.microsoft.com/office/drawing/2014/main" val="2305240219"/>
                    </a:ext>
                  </a:extLst>
                </a:gridCol>
                <a:gridCol w="1854153">
                  <a:extLst>
                    <a:ext uri="{9D8B030D-6E8A-4147-A177-3AD203B41FA5}">
                      <a16:colId xmlns:a16="http://schemas.microsoft.com/office/drawing/2014/main" val="1961344305"/>
                    </a:ext>
                  </a:extLst>
                </a:gridCol>
                <a:gridCol w="1854153">
                  <a:extLst>
                    <a:ext uri="{9D8B030D-6E8A-4147-A177-3AD203B41FA5}">
                      <a16:colId xmlns:a16="http://schemas.microsoft.com/office/drawing/2014/main" val="4055336264"/>
                    </a:ext>
                  </a:extLst>
                </a:gridCol>
              </a:tblGrid>
              <a:tr h="325120">
                <a:tc>
                  <a:txBody>
                    <a:bodyPr/>
                    <a:lstStyle/>
                    <a:p>
                      <a:r>
                        <a:rPr lang="en-US" dirty="0"/>
                        <a:t>Year</a:t>
                      </a:r>
                    </a:p>
                  </a:txBody>
                  <a:tcPr>
                    <a:solidFill>
                      <a:srgbClr val="FFC000"/>
                    </a:solidFill>
                  </a:tcPr>
                </a:tc>
                <a:tc>
                  <a:txBody>
                    <a:bodyPr/>
                    <a:lstStyle/>
                    <a:p>
                      <a:r>
                        <a:rPr lang="en-US" dirty="0"/>
                        <a:t>Total Quantity </a:t>
                      </a:r>
                    </a:p>
                  </a:txBody>
                  <a:tcPr>
                    <a:solidFill>
                      <a:srgbClr val="FFC000"/>
                    </a:solidFill>
                  </a:tcPr>
                </a:tc>
                <a:tc>
                  <a:txBody>
                    <a:bodyPr/>
                    <a:lstStyle/>
                    <a:p>
                      <a:r>
                        <a:rPr lang="en-US" dirty="0"/>
                        <a:t>Total USD</a:t>
                      </a:r>
                    </a:p>
                  </a:txBody>
                  <a:tcPr>
                    <a:solidFill>
                      <a:srgbClr val="FFC000"/>
                    </a:solidFill>
                  </a:tcPr>
                </a:tc>
                <a:extLst>
                  <a:ext uri="{0D108BD9-81ED-4DB2-BD59-A6C34878D82A}">
                    <a16:rowId xmlns:a16="http://schemas.microsoft.com/office/drawing/2014/main" val="3763196862"/>
                  </a:ext>
                </a:extLst>
              </a:tr>
              <a:tr h="370840">
                <a:tc>
                  <a:txBody>
                    <a:bodyPr/>
                    <a:lstStyle/>
                    <a:p>
                      <a:r>
                        <a:rPr lang="en-US" dirty="0"/>
                        <a:t>2014</a:t>
                      </a:r>
                    </a:p>
                  </a:txBody>
                  <a:tcPr>
                    <a:solidFill>
                      <a:schemeClr val="accent6">
                        <a:lumMod val="20000"/>
                        <a:lumOff val="80000"/>
                      </a:schemeClr>
                    </a:solidFill>
                  </a:tcPr>
                </a:tc>
                <a:tc>
                  <a:txBody>
                    <a:bodyPr/>
                    <a:lstStyle/>
                    <a:p>
                      <a:r>
                        <a:rPr lang="en-US" dirty="0"/>
                        <a:t>651</a:t>
                      </a:r>
                    </a:p>
                  </a:txBody>
                  <a:tcPr>
                    <a:solidFill>
                      <a:schemeClr val="accent6">
                        <a:lumMod val="20000"/>
                        <a:lumOff val="80000"/>
                      </a:schemeClr>
                    </a:solidFill>
                  </a:tcPr>
                </a:tc>
                <a:tc>
                  <a:txBody>
                    <a:bodyPr/>
                    <a:lstStyle/>
                    <a:p>
                      <a:r>
                        <a:rPr lang="en-US" dirty="0"/>
                        <a:t>$4,069</a:t>
                      </a:r>
                    </a:p>
                  </a:txBody>
                  <a:tcPr>
                    <a:solidFill>
                      <a:schemeClr val="accent6">
                        <a:lumMod val="20000"/>
                        <a:lumOff val="80000"/>
                      </a:schemeClr>
                    </a:solidFill>
                  </a:tcPr>
                </a:tc>
                <a:extLst>
                  <a:ext uri="{0D108BD9-81ED-4DB2-BD59-A6C34878D82A}">
                    <a16:rowId xmlns:a16="http://schemas.microsoft.com/office/drawing/2014/main" val="959185413"/>
                  </a:ext>
                </a:extLst>
              </a:tr>
              <a:tr h="370840">
                <a:tc>
                  <a:txBody>
                    <a:bodyPr/>
                    <a:lstStyle/>
                    <a:p>
                      <a:r>
                        <a:rPr lang="en-US" dirty="0"/>
                        <a:t>2015</a:t>
                      </a:r>
                    </a:p>
                  </a:txBody>
                  <a:tcPr>
                    <a:solidFill>
                      <a:schemeClr val="accent6">
                        <a:lumMod val="40000"/>
                        <a:lumOff val="60000"/>
                      </a:schemeClr>
                    </a:solidFill>
                  </a:tcPr>
                </a:tc>
                <a:tc>
                  <a:txBody>
                    <a:bodyPr/>
                    <a:lstStyle/>
                    <a:p>
                      <a:r>
                        <a:rPr lang="en-US" dirty="0"/>
                        <a:t>913</a:t>
                      </a:r>
                    </a:p>
                  </a:txBody>
                  <a:tcPr>
                    <a:solidFill>
                      <a:schemeClr val="accent6">
                        <a:lumMod val="40000"/>
                        <a:lumOff val="60000"/>
                      </a:schemeClr>
                    </a:solidFill>
                  </a:tcPr>
                </a:tc>
                <a:tc>
                  <a:txBody>
                    <a:bodyPr/>
                    <a:lstStyle/>
                    <a:p>
                      <a:r>
                        <a:rPr lang="en-US" dirty="0"/>
                        <a:t>$5752</a:t>
                      </a:r>
                    </a:p>
                  </a:txBody>
                  <a:tcPr>
                    <a:solidFill>
                      <a:schemeClr val="accent6">
                        <a:lumMod val="40000"/>
                        <a:lumOff val="60000"/>
                      </a:schemeClr>
                    </a:solidFill>
                  </a:tcPr>
                </a:tc>
                <a:extLst>
                  <a:ext uri="{0D108BD9-81ED-4DB2-BD59-A6C34878D82A}">
                    <a16:rowId xmlns:a16="http://schemas.microsoft.com/office/drawing/2014/main" val="571283497"/>
                  </a:ext>
                </a:extLst>
              </a:tr>
              <a:tr h="370840">
                <a:tc>
                  <a:txBody>
                    <a:bodyPr/>
                    <a:lstStyle/>
                    <a:p>
                      <a:r>
                        <a:rPr lang="en-US" dirty="0"/>
                        <a:t>2016</a:t>
                      </a:r>
                    </a:p>
                  </a:txBody>
                  <a:tcPr>
                    <a:solidFill>
                      <a:schemeClr val="accent6">
                        <a:lumMod val="20000"/>
                        <a:lumOff val="80000"/>
                      </a:schemeClr>
                    </a:solidFill>
                  </a:tcPr>
                </a:tc>
                <a:tc>
                  <a:txBody>
                    <a:bodyPr/>
                    <a:lstStyle/>
                    <a:p>
                      <a:r>
                        <a:rPr lang="en-US" dirty="0"/>
                        <a:t>2042</a:t>
                      </a:r>
                    </a:p>
                  </a:txBody>
                  <a:tcPr>
                    <a:solidFill>
                      <a:schemeClr val="accent6">
                        <a:lumMod val="20000"/>
                        <a:lumOff val="80000"/>
                      </a:schemeClr>
                    </a:solidFill>
                  </a:tcPr>
                </a:tc>
                <a:tc>
                  <a:txBody>
                    <a:bodyPr/>
                    <a:lstStyle/>
                    <a:p>
                      <a:r>
                        <a:rPr lang="en-US" dirty="0"/>
                        <a:t>$12865</a:t>
                      </a:r>
                    </a:p>
                  </a:txBody>
                  <a:tcPr>
                    <a:solidFill>
                      <a:schemeClr val="accent6">
                        <a:lumMod val="20000"/>
                        <a:lumOff val="80000"/>
                      </a:schemeClr>
                    </a:solidFill>
                  </a:tcPr>
                </a:tc>
                <a:extLst>
                  <a:ext uri="{0D108BD9-81ED-4DB2-BD59-A6C34878D82A}">
                    <a16:rowId xmlns:a16="http://schemas.microsoft.com/office/drawing/2014/main" val="295980008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10643" y="3491179"/>
          <a:ext cx="7136551" cy="4705348"/>
        </p:xfrm>
        <a:graphic>
          <a:graphicData uri="http://schemas.openxmlformats.org/drawingml/2006/table">
            <a:tbl>
              <a:tblPr/>
              <a:tblGrid>
                <a:gridCol w="1656358">
                  <a:extLst>
                    <a:ext uri="{9D8B030D-6E8A-4147-A177-3AD203B41FA5}">
                      <a16:colId xmlns:a16="http://schemas.microsoft.com/office/drawing/2014/main" val="20000"/>
                    </a:ext>
                  </a:extLst>
                </a:gridCol>
                <a:gridCol w="1826731">
                  <a:extLst>
                    <a:ext uri="{9D8B030D-6E8A-4147-A177-3AD203B41FA5}">
                      <a16:colId xmlns:a16="http://schemas.microsoft.com/office/drawing/2014/main" val="20001"/>
                    </a:ext>
                  </a:extLst>
                </a:gridCol>
                <a:gridCol w="1826731">
                  <a:extLst>
                    <a:ext uri="{9D8B030D-6E8A-4147-A177-3AD203B41FA5}">
                      <a16:colId xmlns:a16="http://schemas.microsoft.com/office/drawing/2014/main" val="20002"/>
                    </a:ext>
                  </a:extLst>
                </a:gridCol>
                <a:gridCol w="1826731">
                  <a:extLst>
                    <a:ext uri="{9D8B030D-6E8A-4147-A177-3AD203B41FA5}">
                      <a16:colId xmlns:a16="http://schemas.microsoft.com/office/drawing/2014/main" val="20003"/>
                    </a:ext>
                  </a:extLst>
                </a:gridCol>
              </a:tblGrid>
              <a:tr h="1478824">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Region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Num of</a:t>
                      </a:r>
                      <a:endParaRPr lang="en-US" sz="1100"/>
                    </a:p>
                    <a:p>
                      <a:pPr algn="ctr">
                        <a:lnSpc>
                          <a:spcPts val="2659"/>
                        </a:lnSpc>
                      </a:pPr>
                      <a:r>
                        <a:rPr lang="en-US" sz="1899" b="1">
                          <a:solidFill>
                            <a:srgbClr val="FFFFFF"/>
                          </a:solidFill>
                          <a:latin typeface="Canva Sans Bold"/>
                          <a:ea typeface="Canva Sans Bold"/>
                          <a:cs typeface="Canva Sans Bold"/>
                          <a:sym typeface="Canva Sans Bold"/>
                        </a:rPr>
                        <a:t>Accounts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Sales Representative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Avg of  accounts per  person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extLst>
                  <a:ext uri="{0D108BD9-81ED-4DB2-BD59-A6C34878D82A}">
                    <a16:rowId xmlns:a16="http://schemas.microsoft.com/office/drawing/2014/main" val="10000"/>
                  </a:ext>
                </a:extLst>
              </a:tr>
              <a:tr h="806631">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Northeast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21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E7191F"/>
                          </a:solidFill>
                          <a:latin typeface="Canva Sans Bold"/>
                          <a:ea typeface="Canva Sans Bold"/>
                          <a:cs typeface="Canva Sans Bold"/>
                          <a:sym typeface="Canva Sans Bold"/>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6631">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Midwest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48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E7191F"/>
                          </a:solidFill>
                          <a:latin typeface="Canva Sans Bold"/>
                          <a:ea typeface="Canva Sans Bold"/>
                          <a:cs typeface="Canva Sans Bold"/>
                          <a:sym typeface="Canva Sans Bold"/>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06631">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Southeast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96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E7191F"/>
                          </a:solidFill>
                          <a:latin typeface="Canva Sans Bold"/>
                          <a:ea typeface="Canva Sans Bold"/>
                          <a:cs typeface="Canva Sans Bold"/>
                          <a:sym typeface="Canva Sans Bold"/>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6631">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West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E7191F"/>
                          </a:solidFill>
                          <a:latin typeface="Canva Sans Bold"/>
                          <a:ea typeface="Canva Sans Bold"/>
                          <a:cs typeface="Canva Sans Bold"/>
                          <a:sym typeface="Canva Sans Bold"/>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3" name="Picture 3"/>
          <p:cNvPicPr>
            <a:picLocks noChangeAspect="1"/>
          </p:cNvPicPr>
          <p:nvPr/>
        </p:nvPicPr>
        <p:blipFill>
          <a:blip r:embed="rId2"/>
          <a:stretch>
            <a:fillRect/>
          </a:stretch>
        </p:blipFill>
        <p:spPr>
          <a:xfrm>
            <a:off x="8606956" y="-22999"/>
            <a:ext cx="8608820" cy="9443668"/>
          </a:xfrm>
          <a:prstGeom prst="rect">
            <a:avLst/>
          </a:prstGeom>
        </p:spPr>
      </p:pic>
      <p:grpSp>
        <p:nvGrpSpPr>
          <p:cNvPr id="4" name="Group 4"/>
          <p:cNvGrpSpPr/>
          <p:nvPr/>
        </p:nvGrpSpPr>
        <p:grpSpPr>
          <a:xfrm>
            <a:off x="947856" y="2541939"/>
            <a:ext cx="3496759" cy="87197"/>
            <a:chOff x="0" y="0"/>
            <a:chExt cx="920957" cy="22965"/>
          </a:xfrm>
        </p:grpSpPr>
        <p:sp>
          <p:nvSpPr>
            <p:cNvPr id="5" name="Freeform 5"/>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6" name="TextBox 6"/>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947856" y="1288155"/>
            <a:ext cx="5774738" cy="1080416"/>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Sales Representatives Allocation By Accounts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177932" y="8597752"/>
            <a:ext cx="110068" cy="660548"/>
            <a:chOff x="0" y="0"/>
            <a:chExt cx="28989" cy="173972"/>
          </a:xfrm>
        </p:grpSpPr>
        <p:sp>
          <p:nvSpPr>
            <p:cNvPr id="3" name="Freeform 3"/>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txBody>
            <a:bodyPr/>
            <a:lstStyle/>
            <a:p>
              <a:endParaRPr lang="en-US"/>
            </a:p>
          </p:txBody>
        </p:sp>
        <p:sp>
          <p:nvSpPr>
            <p:cNvPr id="4" name="TextBox 4"/>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10643" y="2562438"/>
            <a:ext cx="3496759" cy="87197"/>
            <a:chOff x="0" y="0"/>
            <a:chExt cx="920957" cy="22965"/>
          </a:xfrm>
        </p:grpSpPr>
        <p:sp>
          <p:nvSpPr>
            <p:cNvPr id="6" name="Freeform 6"/>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7" name="TextBox 7"/>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810643" y="1260365"/>
            <a:ext cx="5312952" cy="1080416"/>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Sales Representatives Allocation By Sales</a:t>
            </a:r>
          </a:p>
        </p:txBody>
      </p:sp>
      <p:grpSp>
        <p:nvGrpSpPr>
          <p:cNvPr id="9" name="Group 9"/>
          <p:cNvGrpSpPr/>
          <p:nvPr/>
        </p:nvGrpSpPr>
        <p:grpSpPr>
          <a:xfrm>
            <a:off x="810643" y="2949949"/>
            <a:ext cx="677751" cy="677751"/>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2" name="TextBox 12"/>
          <p:cNvSpPr txBox="1"/>
          <p:nvPr/>
        </p:nvSpPr>
        <p:spPr>
          <a:xfrm>
            <a:off x="1800808" y="3002577"/>
            <a:ext cx="4931744" cy="692150"/>
          </a:xfrm>
          <a:prstGeom prst="rect">
            <a:avLst/>
          </a:prstGeom>
        </p:spPr>
        <p:txBody>
          <a:bodyPr lIns="0" tIns="0" rIns="0" bIns="0" rtlCol="0" anchor="t">
            <a:spAutoFit/>
          </a:bodyPr>
          <a:lstStyle/>
          <a:p>
            <a:pPr algn="l">
              <a:lnSpc>
                <a:spcPts val="2799"/>
              </a:lnSpc>
              <a:spcBef>
                <a:spcPct val="0"/>
              </a:spcBef>
            </a:pPr>
            <a:r>
              <a:rPr lang="en-US" sz="1999">
                <a:solidFill>
                  <a:srgbClr val="1F2020"/>
                </a:solidFill>
                <a:latin typeface="Open Sans"/>
                <a:ea typeface="Open Sans"/>
                <a:cs typeface="Open Sans"/>
                <a:sym typeface="Open Sans"/>
              </a:rPr>
              <a:t>Over-Allocation of sales representatives in the Northeast</a:t>
            </a:r>
          </a:p>
        </p:txBody>
      </p:sp>
      <p:sp>
        <p:nvSpPr>
          <p:cNvPr id="13" name="TextBox 13"/>
          <p:cNvSpPr txBox="1"/>
          <p:nvPr/>
        </p:nvSpPr>
        <p:spPr>
          <a:xfrm>
            <a:off x="901463" y="312594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sp>
        <p:nvSpPr>
          <p:cNvPr id="14" name="TextBox 14"/>
          <p:cNvSpPr txBox="1"/>
          <p:nvPr/>
        </p:nvSpPr>
        <p:spPr>
          <a:xfrm>
            <a:off x="901463" y="527900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grpSp>
        <p:nvGrpSpPr>
          <p:cNvPr id="15" name="Group 15"/>
          <p:cNvGrpSpPr/>
          <p:nvPr/>
        </p:nvGrpSpPr>
        <p:grpSpPr>
          <a:xfrm>
            <a:off x="810643" y="3928013"/>
            <a:ext cx="677751" cy="677751"/>
            <a:chOff x="0" y="0"/>
            <a:chExt cx="812800" cy="812800"/>
          </a:xfrm>
        </p:grpSpPr>
        <p:sp>
          <p:nvSpPr>
            <p:cNvPr id="16" name="Freeform 1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7" name="TextBox 17"/>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8" name="TextBox 18"/>
          <p:cNvSpPr txBox="1"/>
          <p:nvPr/>
        </p:nvSpPr>
        <p:spPr>
          <a:xfrm>
            <a:off x="1800808" y="4087465"/>
            <a:ext cx="4661117" cy="692150"/>
          </a:xfrm>
          <a:prstGeom prst="rect">
            <a:avLst/>
          </a:prstGeom>
        </p:spPr>
        <p:txBody>
          <a:bodyPr lIns="0" tIns="0" rIns="0" bIns="0" rtlCol="0" anchor="t">
            <a:spAutoFit/>
          </a:bodyPr>
          <a:lstStyle/>
          <a:p>
            <a:pPr algn="l">
              <a:lnSpc>
                <a:spcPts val="2799"/>
              </a:lnSpc>
              <a:spcBef>
                <a:spcPct val="0"/>
              </a:spcBef>
            </a:pPr>
            <a:r>
              <a:rPr lang="en-US" sz="1999">
                <a:solidFill>
                  <a:srgbClr val="1F2020"/>
                </a:solidFill>
                <a:latin typeface="Open Sans"/>
                <a:ea typeface="Open Sans"/>
                <a:cs typeface="Open Sans"/>
                <a:sym typeface="Open Sans"/>
              </a:rPr>
              <a:t>Under-Allocation in the Southeast and West</a:t>
            </a:r>
          </a:p>
        </p:txBody>
      </p:sp>
      <p:sp>
        <p:nvSpPr>
          <p:cNvPr id="19" name="Freeform 19"/>
          <p:cNvSpPr/>
          <p:nvPr/>
        </p:nvSpPr>
        <p:spPr>
          <a:xfrm>
            <a:off x="7990895" y="1758536"/>
            <a:ext cx="9926745" cy="8226790"/>
          </a:xfrm>
          <a:custGeom>
            <a:avLst/>
            <a:gdLst/>
            <a:ahLst/>
            <a:cxnLst/>
            <a:rect l="l" t="t" r="r" b="b"/>
            <a:pathLst>
              <a:path w="9926745" h="8226790">
                <a:moveTo>
                  <a:pt x="0" y="0"/>
                </a:moveTo>
                <a:lnTo>
                  <a:pt x="9926745" y="0"/>
                </a:lnTo>
                <a:lnTo>
                  <a:pt x="9926745" y="8226790"/>
                </a:lnTo>
                <a:lnTo>
                  <a:pt x="0" y="8226790"/>
                </a:lnTo>
                <a:lnTo>
                  <a:pt x="0" y="0"/>
                </a:lnTo>
                <a:close/>
              </a:path>
            </a:pathLst>
          </a:custGeom>
          <a:blipFill>
            <a:blip r:embed="rId2"/>
            <a:stretch>
              <a:fillRect/>
            </a:stretch>
          </a:blipFill>
        </p:spPr>
        <p:txBody>
          <a:bodyPr/>
          <a:lstStyle/>
          <a:p>
            <a:endParaRPr lang="en-US"/>
          </a:p>
        </p:txBody>
      </p:sp>
      <p:sp>
        <p:nvSpPr>
          <p:cNvPr id="20" name="TextBox 20"/>
          <p:cNvSpPr txBox="1"/>
          <p:nvPr/>
        </p:nvSpPr>
        <p:spPr>
          <a:xfrm>
            <a:off x="901463" y="410324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graphicFrame>
        <p:nvGraphicFramePr>
          <p:cNvPr id="21" name="Table 21"/>
          <p:cNvGraphicFramePr>
            <a:graphicFrameLocks noGrp="1"/>
          </p:cNvGraphicFramePr>
          <p:nvPr/>
        </p:nvGraphicFramePr>
        <p:xfrm>
          <a:off x="810643" y="5084415"/>
          <a:ext cx="6360335" cy="4045758"/>
        </p:xfrm>
        <a:graphic>
          <a:graphicData uri="http://schemas.openxmlformats.org/drawingml/2006/table">
            <a:tbl>
              <a:tblPr/>
              <a:tblGrid>
                <a:gridCol w="1438182">
                  <a:extLst>
                    <a:ext uri="{9D8B030D-6E8A-4147-A177-3AD203B41FA5}">
                      <a16:colId xmlns:a16="http://schemas.microsoft.com/office/drawing/2014/main" val="20000"/>
                    </a:ext>
                  </a:extLst>
                </a:gridCol>
                <a:gridCol w="1759893">
                  <a:extLst>
                    <a:ext uri="{9D8B030D-6E8A-4147-A177-3AD203B41FA5}">
                      <a16:colId xmlns:a16="http://schemas.microsoft.com/office/drawing/2014/main" val="20001"/>
                    </a:ext>
                  </a:extLst>
                </a:gridCol>
                <a:gridCol w="1679386">
                  <a:extLst>
                    <a:ext uri="{9D8B030D-6E8A-4147-A177-3AD203B41FA5}">
                      <a16:colId xmlns:a16="http://schemas.microsoft.com/office/drawing/2014/main" val="20002"/>
                    </a:ext>
                  </a:extLst>
                </a:gridCol>
                <a:gridCol w="1482874">
                  <a:extLst>
                    <a:ext uri="{9D8B030D-6E8A-4147-A177-3AD203B41FA5}">
                      <a16:colId xmlns:a16="http://schemas.microsoft.com/office/drawing/2014/main" val="20003"/>
                    </a:ext>
                  </a:extLst>
                </a:gridCol>
              </a:tblGrid>
              <a:tr h="1393932">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Regions</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Total</a:t>
                      </a:r>
                    </a:p>
                    <a:p>
                      <a:pPr algn="ctr">
                        <a:lnSpc>
                          <a:spcPts val="2659"/>
                        </a:lnSpc>
                      </a:pPr>
                      <a:r>
                        <a:rPr lang="en-US" sz="1899" b="1">
                          <a:solidFill>
                            <a:srgbClr val="FFFFFF"/>
                          </a:solidFill>
                          <a:latin typeface="Canva Sans Bold"/>
                          <a:ea typeface="Canva Sans Bold"/>
                          <a:cs typeface="Canva Sans Bold"/>
                          <a:sym typeface="Canva Sans Bold"/>
                        </a:rPr>
                        <a:t>   Amount ($)</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Sales Proportion</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Revenue per person</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extLst>
                  <a:ext uri="{0D108BD9-81ED-4DB2-BD59-A6C34878D82A}">
                    <a16:rowId xmlns:a16="http://schemas.microsoft.com/office/drawing/2014/main" val="10000"/>
                  </a:ext>
                </a:extLst>
              </a:tr>
              <a:tr h="496469">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                                 7,744,405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33.47%</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a:lnSpc>
                          <a:spcPts val="949"/>
                        </a:lnSpc>
                        <a:defRPr/>
                      </a:pPr>
                      <a:r>
                        <a:rPr lang="en-US" sz="1899" spc="-41">
                          <a:solidFill>
                            <a:srgbClr val="000000"/>
                          </a:solidFill>
                          <a:latin typeface="Canva Sans"/>
                          <a:ea typeface="Canva Sans"/>
                          <a:cs typeface="Canva Sans"/>
                          <a:sym typeface="Canva Sans"/>
                        </a:rPr>
                        <a:t>          368,781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9448">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                                 6,458,497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27.91%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a:lnSpc>
                          <a:spcPts val="949"/>
                        </a:lnSpc>
                        <a:defRPr/>
                      </a:pPr>
                      <a:r>
                        <a:rPr lang="en-US" sz="1899" spc="-41">
                          <a:solidFill>
                            <a:srgbClr val="000000"/>
                          </a:solidFill>
                          <a:latin typeface="Canva Sans"/>
                          <a:ea typeface="Canva Sans"/>
                          <a:cs typeface="Canva Sans"/>
                          <a:sym typeface="Canva Sans"/>
                        </a:rPr>
                        <a:t>          645,850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9448">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                                 5,925,123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25.60%</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a:lnSpc>
                          <a:spcPts val="949"/>
                        </a:lnSpc>
                        <a:defRPr/>
                      </a:pPr>
                      <a:r>
                        <a:rPr lang="en-US" sz="1899" spc="-41">
                          <a:solidFill>
                            <a:srgbClr val="000000"/>
                          </a:solidFill>
                          <a:latin typeface="Canva Sans"/>
                          <a:ea typeface="Canva Sans"/>
                          <a:cs typeface="Canva Sans"/>
                          <a:sym typeface="Canva Sans"/>
                        </a:rPr>
                        <a:t>          592,512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9448">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                                 3,013,487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13.02%</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a:lnSpc>
                          <a:spcPts val="949"/>
                        </a:lnSpc>
                        <a:defRPr/>
                      </a:pPr>
                      <a:r>
                        <a:rPr lang="en-US" sz="1899" spc="-41">
                          <a:solidFill>
                            <a:srgbClr val="000000"/>
                          </a:solidFill>
                          <a:latin typeface="Canva Sans"/>
                          <a:ea typeface="Canva Sans"/>
                          <a:cs typeface="Canva Sans"/>
                          <a:sym typeface="Canva Sans"/>
                        </a:rPr>
                        <a:t>          334,832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7013">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TOTAL</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                             </a:t>
                      </a:r>
                      <a:endParaRPr lang="en-US" sz="1100"/>
                    </a:p>
                    <a:p>
                      <a:pPr algn="ctr">
                        <a:lnSpc>
                          <a:spcPts val="949"/>
                        </a:lnSpc>
                      </a:pPr>
                      <a:r>
                        <a:rPr lang="en-US" sz="1899" b="1" spc="-41">
                          <a:solidFill>
                            <a:srgbClr val="000000"/>
                          </a:solidFill>
                          <a:latin typeface="Canva Sans Bold"/>
                          <a:ea typeface="Canva Sans Bold"/>
                          <a:cs typeface="Canva Sans Bold"/>
                          <a:sym typeface="Canva Sans Bold"/>
                        </a:rPr>
                        <a:t>  23,141,512 </a:t>
                      </a:r>
                    </a:p>
                    <a:p>
                      <a:pPr algn="ctr">
                        <a:lnSpc>
                          <a:spcPts val="949"/>
                        </a:lnSpc>
                      </a:pPr>
                      <a:endParaRPr lang="en-US" sz="1899" b="1" spc="-41">
                        <a:solidFill>
                          <a:srgbClr val="000000"/>
                        </a:solidFill>
                        <a:latin typeface="Canva Sans Bold"/>
                        <a:ea typeface="Canva Sans Bold"/>
                        <a:cs typeface="Canva Sans Bold"/>
                        <a:sym typeface="Canva Sans Bold"/>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100%</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tc>
                  <a:txBody>
                    <a:bodyPr/>
                    <a:lstStyle/>
                    <a:p>
                      <a:pPr algn="ctr">
                        <a:lnSpc>
                          <a:spcPts val="949"/>
                        </a:lnSpc>
                        <a:defRPr/>
                      </a:pP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8F410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79834" y="3851481"/>
            <a:ext cx="8115300" cy="5406819"/>
          </a:xfrm>
          <a:custGeom>
            <a:avLst/>
            <a:gdLst/>
            <a:ahLst/>
            <a:cxnLst/>
            <a:rect l="l" t="t" r="r" b="b"/>
            <a:pathLst>
              <a:path w="8115300" h="5406819">
                <a:moveTo>
                  <a:pt x="0" y="0"/>
                </a:moveTo>
                <a:lnTo>
                  <a:pt x="8115300" y="0"/>
                </a:lnTo>
                <a:lnTo>
                  <a:pt x="8115300" y="5406819"/>
                </a:lnTo>
                <a:lnTo>
                  <a:pt x="0" y="540681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2349889"/>
            <a:ext cx="13202894" cy="1018604"/>
          </a:xfrm>
          <a:prstGeom prst="rect">
            <a:avLst/>
          </a:prstGeom>
        </p:spPr>
        <p:txBody>
          <a:bodyPr lIns="0" tIns="0" rIns="0" bIns="0" rtlCol="0" anchor="t">
            <a:spAutoFit/>
          </a:bodyPr>
          <a:lstStyle/>
          <a:p>
            <a:pPr algn="l">
              <a:lnSpc>
                <a:spcPts val="4147"/>
              </a:lnSpc>
            </a:pPr>
            <a:r>
              <a:rPr lang="en-US" sz="2764" b="1">
                <a:solidFill>
                  <a:srgbClr val="000000"/>
                </a:solidFill>
                <a:latin typeface="Canva Sans Bold"/>
                <a:ea typeface="Canva Sans Bold"/>
                <a:cs typeface="Canva Sans Bold"/>
                <a:sym typeface="Canva Sans Bold"/>
              </a:rPr>
              <a:t>Adding North and South regions means redistributing sales representatives. Population distribution may be the key.</a:t>
            </a:r>
          </a:p>
        </p:txBody>
      </p:sp>
      <p:sp>
        <p:nvSpPr>
          <p:cNvPr id="4" name="TextBox 4"/>
          <p:cNvSpPr txBox="1"/>
          <p:nvPr/>
        </p:nvSpPr>
        <p:spPr>
          <a:xfrm>
            <a:off x="1028700" y="1028700"/>
            <a:ext cx="7266330" cy="914400"/>
          </a:xfrm>
          <a:prstGeom prst="rect">
            <a:avLst/>
          </a:prstGeom>
        </p:spPr>
        <p:txBody>
          <a:bodyPr lIns="0" tIns="0" rIns="0" bIns="0" rtlCol="0" anchor="t">
            <a:spAutoFit/>
          </a:bodyPr>
          <a:lstStyle/>
          <a:p>
            <a:pPr marL="0" lvl="0" indent="0" algn="l">
              <a:lnSpc>
                <a:spcPts val="7268"/>
              </a:lnSpc>
              <a:spcBef>
                <a:spcPct val="0"/>
              </a:spcBef>
            </a:pPr>
            <a:r>
              <a:rPr lang="en-US" sz="6056" b="1">
                <a:solidFill>
                  <a:srgbClr val="000000"/>
                </a:solidFill>
                <a:latin typeface="Canva Sans Bold"/>
                <a:ea typeface="Canva Sans Bold"/>
                <a:cs typeface="Canva Sans Bold"/>
                <a:sym typeface="Canva Sans Bold"/>
              </a:rPr>
              <a:t>Additional Regions</a:t>
            </a:r>
          </a:p>
        </p:txBody>
      </p:sp>
      <p:graphicFrame>
        <p:nvGraphicFramePr>
          <p:cNvPr id="5" name="Table 5"/>
          <p:cNvGraphicFramePr>
            <a:graphicFrameLocks noGrp="1"/>
          </p:cNvGraphicFramePr>
          <p:nvPr/>
        </p:nvGraphicFramePr>
        <p:xfrm>
          <a:off x="1028700" y="3904864"/>
          <a:ext cx="8197044" cy="5353437"/>
        </p:xfrm>
        <a:graphic>
          <a:graphicData uri="http://schemas.openxmlformats.org/drawingml/2006/table">
            <a:tbl>
              <a:tblPr/>
              <a:tblGrid>
                <a:gridCol w="2732348">
                  <a:extLst>
                    <a:ext uri="{9D8B030D-6E8A-4147-A177-3AD203B41FA5}">
                      <a16:colId xmlns:a16="http://schemas.microsoft.com/office/drawing/2014/main" val="20000"/>
                    </a:ext>
                  </a:extLst>
                </a:gridCol>
                <a:gridCol w="2732348">
                  <a:extLst>
                    <a:ext uri="{9D8B030D-6E8A-4147-A177-3AD203B41FA5}">
                      <a16:colId xmlns:a16="http://schemas.microsoft.com/office/drawing/2014/main" val="20001"/>
                    </a:ext>
                  </a:extLst>
                </a:gridCol>
                <a:gridCol w="2732348">
                  <a:extLst>
                    <a:ext uri="{9D8B030D-6E8A-4147-A177-3AD203B41FA5}">
                      <a16:colId xmlns:a16="http://schemas.microsoft.com/office/drawing/2014/main" val="20002"/>
                    </a:ext>
                  </a:extLst>
                </a:gridCol>
              </a:tblGrid>
              <a:tr h="1059159">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Regions</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Current Distribution</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Proposed Distribution </a:t>
                      </a:r>
                      <a:r>
                        <a:rPr lang="en-US" sz="1899">
                          <a:solidFill>
                            <a:srgbClr val="FFFFFF"/>
                          </a:solidFill>
                          <a:latin typeface="Canva Sans"/>
                          <a:ea typeface="Canva Sans"/>
                          <a:cs typeface="Canva Sans"/>
                          <a:sym typeface="Canva Sans"/>
                        </a:rPr>
                        <a:t>(based on region pop)</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extLst>
                  <a:ext uri="{0D108BD9-81ED-4DB2-BD59-A6C34878D82A}">
                    <a16:rowId xmlns:a16="http://schemas.microsoft.com/office/drawing/2014/main" val="10000"/>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21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5</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10</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9</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10</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7</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9</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6</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International</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North</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216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South</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12</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639151">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TOTAL</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51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tc>
                  <a:txBody>
                    <a:bodyPr/>
                    <a:lstStyle/>
                    <a:p>
                      <a:pPr algn="ctr">
                        <a:lnSpc>
                          <a:spcPts val="949"/>
                        </a:lnSpc>
                        <a:defRPr/>
                      </a:pPr>
                      <a:r>
                        <a:rPr lang="en-US" sz="1899" b="1" spc="-41">
                          <a:solidFill>
                            <a:srgbClr val="000000"/>
                          </a:solidFill>
                          <a:latin typeface="Canva Sans Bold"/>
                          <a:ea typeface="Canva Sans Bold"/>
                          <a:cs typeface="Canva Sans Bold"/>
                          <a:sym typeface="Canva Sans Bold"/>
                        </a:rPr>
                        <a:t>51</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F410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6" name="Group 6"/>
          <p:cNvGrpSpPr/>
          <p:nvPr/>
        </p:nvGrpSpPr>
        <p:grpSpPr>
          <a:xfrm>
            <a:off x="1028700" y="1943100"/>
            <a:ext cx="3496759" cy="108294"/>
            <a:chOff x="0" y="0"/>
            <a:chExt cx="920957" cy="28522"/>
          </a:xfrm>
        </p:grpSpPr>
        <p:sp>
          <p:nvSpPr>
            <p:cNvPr id="7" name="Freeform 7"/>
            <p:cNvSpPr/>
            <p:nvPr/>
          </p:nvSpPr>
          <p:spPr>
            <a:xfrm>
              <a:off x="0" y="0"/>
              <a:ext cx="920957" cy="28522"/>
            </a:xfrm>
            <a:custGeom>
              <a:avLst/>
              <a:gdLst/>
              <a:ahLst/>
              <a:cxnLst/>
              <a:rect l="l" t="t" r="r" b="b"/>
              <a:pathLst>
                <a:path w="920957" h="28522">
                  <a:moveTo>
                    <a:pt x="14261" y="0"/>
                  </a:moveTo>
                  <a:lnTo>
                    <a:pt x="906696" y="0"/>
                  </a:lnTo>
                  <a:cubicBezTo>
                    <a:pt x="914572" y="0"/>
                    <a:pt x="920957" y="6385"/>
                    <a:pt x="920957" y="14261"/>
                  </a:cubicBezTo>
                  <a:lnTo>
                    <a:pt x="920957" y="14261"/>
                  </a:lnTo>
                  <a:cubicBezTo>
                    <a:pt x="920957" y="18043"/>
                    <a:pt x="919455" y="21670"/>
                    <a:pt x="916780" y="24345"/>
                  </a:cubicBezTo>
                  <a:cubicBezTo>
                    <a:pt x="914106" y="27019"/>
                    <a:pt x="910479" y="28522"/>
                    <a:pt x="906696" y="28522"/>
                  </a:cubicBezTo>
                  <a:lnTo>
                    <a:pt x="14261" y="28522"/>
                  </a:lnTo>
                  <a:cubicBezTo>
                    <a:pt x="10479" y="28522"/>
                    <a:pt x="6851" y="27019"/>
                    <a:pt x="4177" y="24345"/>
                  </a:cubicBezTo>
                  <a:cubicBezTo>
                    <a:pt x="1502" y="21670"/>
                    <a:pt x="0" y="18043"/>
                    <a:pt x="0" y="14261"/>
                  </a:cubicBezTo>
                  <a:lnTo>
                    <a:pt x="0" y="14261"/>
                  </a:lnTo>
                  <a:cubicBezTo>
                    <a:pt x="0" y="10479"/>
                    <a:pt x="1502" y="6851"/>
                    <a:pt x="4177" y="4177"/>
                  </a:cubicBezTo>
                  <a:cubicBezTo>
                    <a:pt x="6851" y="1502"/>
                    <a:pt x="10479" y="0"/>
                    <a:pt x="14261" y="0"/>
                  </a:cubicBezTo>
                  <a:close/>
                </a:path>
              </a:pathLst>
            </a:custGeom>
            <a:solidFill>
              <a:srgbClr val="FF7300"/>
            </a:solidFill>
          </p:spPr>
          <p:txBody>
            <a:bodyPr/>
            <a:lstStyle/>
            <a:p>
              <a:endParaRPr lang="en-US"/>
            </a:p>
          </p:txBody>
        </p:sp>
        <p:sp>
          <p:nvSpPr>
            <p:cNvPr id="8" name="TextBox 8"/>
            <p:cNvSpPr txBox="1"/>
            <p:nvPr/>
          </p:nvSpPr>
          <p:spPr>
            <a:xfrm>
              <a:off x="0" y="-38100"/>
              <a:ext cx="920957" cy="6662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3286125"/>
          <a:ext cx="7702504" cy="5972175"/>
        </p:xfrm>
        <a:graphic>
          <a:graphicData uri="http://schemas.openxmlformats.org/drawingml/2006/table">
            <a:tbl>
              <a:tblPr/>
              <a:tblGrid>
                <a:gridCol w="3011858">
                  <a:extLst>
                    <a:ext uri="{9D8B030D-6E8A-4147-A177-3AD203B41FA5}">
                      <a16:colId xmlns:a16="http://schemas.microsoft.com/office/drawing/2014/main" val="20000"/>
                    </a:ext>
                  </a:extLst>
                </a:gridCol>
                <a:gridCol w="2046846">
                  <a:extLst>
                    <a:ext uri="{9D8B030D-6E8A-4147-A177-3AD203B41FA5}">
                      <a16:colId xmlns:a16="http://schemas.microsoft.com/office/drawing/2014/main" val="20001"/>
                    </a:ext>
                  </a:extLst>
                </a:gridCol>
                <a:gridCol w="2643800">
                  <a:extLst>
                    <a:ext uri="{9D8B030D-6E8A-4147-A177-3AD203B41FA5}">
                      <a16:colId xmlns:a16="http://schemas.microsoft.com/office/drawing/2014/main" val="20002"/>
                    </a:ext>
                  </a:extLst>
                </a:gridCol>
              </a:tblGrid>
              <a:tr h="1140753">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Industry</a:t>
                      </a:r>
                      <a:endParaRPr lang="en-US" sz="1100"/>
                    </a:p>
                    <a:p>
                      <a:pPr algn="ctr">
                        <a:lnSpc>
                          <a:spcPts val="2659"/>
                        </a:lnSpc>
                      </a:pPr>
                      <a:r>
                        <a:rPr lang="en-US" sz="1899" b="1">
                          <a:solidFill>
                            <a:srgbClr val="FFFFFF"/>
                          </a:solidFill>
                          <a:latin typeface="Canva Sans Bold"/>
                          <a:ea typeface="Canva Sans Bold"/>
                          <a:cs typeface="Canva Sans Bold"/>
                          <a:sym typeface="Canva Sans Bold"/>
                        </a:rPr>
                        <a:t>Category</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Customer</a:t>
                      </a:r>
                      <a:endParaRPr lang="en-US" sz="1100"/>
                    </a:p>
                    <a:p>
                      <a:pPr algn="ctr">
                        <a:lnSpc>
                          <a:spcPts val="2659"/>
                        </a:lnSpc>
                      </a:pPr>
                      <a:r>
                        <a:rPr lang="en-US" sz="1899" b="1">
                          <a:solidFill>
                            <a:srgbClr val="FFFFFF"/>
                          </a:solidFill>
                          <a:latin typeface="Canva Sans Bold"/>
                          <a:ea typeface="Canva Sans Bold"/>
                          <a:cs typeface="Canva Sans Bold"/>
                          <a:sym typeface="Canva Sans Bold"/>
                        </a:rPr>
                        <a:t>Count</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Orders</a:t>
                      </a:r>
                      <a:endParaRPr lang="en-US" sz="1100"/>
                    </a:p>
                    <a:p>
                      <a:pPr algn="ctr">
                        <a:lnSpc>
                          <a:spcPts val="2659"/>
                        </a:lnSpc>
                      </a:pPr>
                      <a:r>
                        <a:rPr lang="en-US" sz="1899" b="1">
                          <a:solidFill>
                            <a:srgbClr val="FFFFFF"/>
                          </a:solidFill>
                          <a:latin typeface="Canva Sans Bold"/>
                          <a:ea typeface="Canva Sans Bold"/>
                          <a:cs typeface="Canva Sans Bold"/>
                          <a:sym typeface="Canva Sans Bold"/>
                        </a:rPr>
                        <a:t>Associated</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300"/>
                    </a:solidFill>
                  </a:tcPr>
                </a:tc>
                <a:extLst>
                  <a:ext uri="{0D108BD9-81ED-4DB2-BD59-A6C34878D82A}">
                    <a16:rowId xmlns:a16="http://schemas.microsoft.com/office/drawing/2014/main" val="10000"/>
                  </a:ext>
                </a:extLst>
              </a:tr>
              <a:tr h="805237">
                <a:tc>
                  <a:txBody>
                    <a:bodyPr/>
                    <a:lstStyle/>
                    <a:p>
                      <a:pPr algn="ctr">
                        <a:lnSpc>
                          <a:spcPts val="2659"/>
                        </a:lnSpc>
                        <a:defRPr/>
                      </a:pPr>
                      <a:r>
                        <a:rPr lang="en-US" sz="1899" b="1" i="1" u="sng">
                          <a:solidFill>
                            <a:srgbClr val="000000"/>
                          </a:solidFill>
                          <a:latin typeface="Canva Sans Bold Italics"/>
                          <a:ea typeface="Canva Sans Bold Italics"/>
                          <a:cs typeface="Canva Sans Bold Italics"/>
                          <a:sym typeface="Canva Sans Bold Italics"/>
                        </a:rPr>
                        <a:t>Finance &amp; Insurance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471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5237">
                <a:tc>
                  <a:txBody>
                    <a:bodyPr/>
                    <a:lstStyle/>
                    <a:p>
                      <a:pPr algn="ctr">
                        <a:lnSpc>
                          <a:spcPts val="2659"/>
                        </a:lnSpc>
                        <a:defRPr/>
                      </a:pPr>
                      <a:r>
                        <a:rPr lang="en-US" sz="1899" b="1" i="1" u="sng">
                          <a:solidFill>
                            <a:srgbClr val="000000"/>
                          </a:solidFill>
                          <a:latin typeface="Canva Sans Bold Italics"/>
                          <a:ea typeface="Canva Sans Bold Italics"/>
                          <a:cs typeface="Canva Sans Bold Italics"/>
                          <a:sym typeface="Canva Sans Bold Italics"/>
                        </a:rPr>
                        <a:t>Energy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23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417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05237">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Tech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291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5237">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Automobile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180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05237">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Food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149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05237">
                <a:tc>
                  <a:txBody>
                    <a:bodyPr/>
                    <a:lstStyle/>
                    <a:p>
                      <a:pPr algn="ctr">
                        <a:lnSpc>
                          <a:spcPts val="2659"/>
                        </a:lnSpc>
                        <a:defRPr/>
                      </a:pPr>
                      <a:r>
                        <a:rPr lang="en-US" sz="1899" b="1" i="1">
                          <a:solidFill>
                            <a:srgbClr val="000000"/>
                          </a:solidFill>
                          <a:latin typeface="Canva Sans Bold Italics"/>
                          <a:ea typeface="Canva Sans Bold Italics"/>
                          <a:cs typeface="Canva Sans Bold Italics"/>
                          <a:sym typeface="Canva Sans Bold Italics"/>
                        </a:rPr>
                        <a:t>Health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90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3" name="Picture 3"/>
          <p:cNvPicPr>
            <a:picLocks noChangeAspect="1"/>
          </p:cNvPicPr>
          <p:nvPr/>
        </p:nvPicPr>
        <p:blipFill>
          <a:blip r:embed="rId2"/>
          <a:stretch>
            <a:fillRect/>
          </a:stretch>
        </p:blipFill>
        <p:spPr>
          <a:xfrm>
            <a:off x="8907103" y="134359"/>
            <a:ext cx="8917998" cy="10732086"/>
          </a:xfrm>
          <a:prstGeom prst="rect">
            <a:avLst/>
          </a:prstGeom>
        </p:spPr>
      </p:pic>
      <p:grpSp>
        <p:nvGrpSpPr>
          <p:cNvPr id="4" name="Group 4"/>
          <p:cNvGrpSpPr/>
          <p:nvPr/>
        </p:nvGrpSpPr>
        <p:grpSpPr>
          <a:xfrm>
            <a:off x="966906" y="2541939"/>
            <a:ext cx="3496759" cy="87197"/>
            <a:chOff x="0" y="0"/>
            <a:chExt cx="920957" cy="22965"/>
          </a:xfrm>
        </p:grpSpPr>
        <p:sp>
          <p:nvSpPr>
            <p:cNvPr id="5" name="Freeform 5"/>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6" name="TextBox 6"/>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947856" y="1288155"/>
            <a:ext cx="5774738" cy="1080416"/>
          </a:xfrm>
          <a:prstGeom prst="rect">
            <a:avLst/>
          </a:prstGeom>
        </p:spPr>
        <p:txBody>
          <a:bodyPr lIns="0" tIns="0" rIns="0" bIns="0" rtlCol="0" anchor="t">
            <a:spAutoFit/>
          </a:bodyPr>
          <a:lstStyle/>
          <a:p>
            <a:pPr algn="l">
              <a:lnSpc>
                <a:spcPts val="4181"/>
              </a:lnSpc>
            </a:pPr>
            <a:r>
              <a:rPr lang="en-US" sz="3573" b="1" dirty="0">
                <a:solidFill>
                  <a:srgbClr val="1F2020"/>
                </a:solidFill>
                <a:latin typeface="Poppins Bold"/>
                <a:ea typeface="Poppins Bold"/>
                <a:cs typeface="Poppins Bold"/>
                <a:sym typeface="Poppins Bold"/>
              </a:rPr>
              <a:t>Industries Most Popular Among Customers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611826"/>
            <a:ext cx="13202894" cy="494729"/>
          </a:xfrm>
          <a:prstGeom prst="rect">
            <a:avLst/>
          </a:prstGeom>
        </p:spPr>
        <p:txBody>
          <a:bodyPr lIns="0" tIns="0" rIns="0" bIns="0" rtlCol="0" anchor="t">
            <a:spAutoFit/>
          </a:bodyPr>
          <a:lstStyle/>
          <a:p>
            <a:pPr algn="l">
              <a:lnSpc>
                <a:spcPts val="4147"/>
              </a:lnSpc>
            </a:pPr>
            <a:r>
              <a:rPr lang="en-US" sz="2764" b="1">
                <a:solidFill>
                  <a:srgbClr val="000000"/>
                </a:solidFill>
                <a:latin typeface="Canva Sans Bold"/>
                <a:ea typeface="Canva Sans Bold"/>
                <a:cs typeface="Canva Sans Bold"/>
                <a:sym typeface="Canva Sans Bold"/>
              </a:rPr>
              <a:t>The marketing team aims to invest on popular web channels in new regions </a:t>
            </a:r>
          </a:p>
        </p:txBody>
      </p:sp>
      <p:sp>
        <p:nvSpPr>
          <p:cNvPr id="3" name="TextBox 3"/>
          <p:cNvSpPr txBox="1"/>
          <p:nvPr/>
        </p:nvSpPr>
        <p:spPr>
          <a:xfrm>
            <a:off x="1028700" y="1028700"/>
            <a:ext cx="13018458" cy="914400"/>
          </a:xfrm>
          <a:prstGeom prst="rect">
            <a:avLst/>
          </a:prstGeom>
        </p:spPr>
        <p:txBody>
          <a:bodyPr lIns="0" tIns="0" rIns="0" bIns="0" rtlCol="0" anchor="t">
            <a:spAutoFit/>
          </a:bodyPr>
          <a:lstStyle/>
          <a:p>
            <a:pPr marL="0" lvl="0" indent="0" algn="l">
              <a:lnSpc>
                <a:spcPts val="7268"/>
              </a:lnSpc>
              <a:spcBef>
                <a:spcPct val="0"/>
              </a:spcBef>
            </a:pPr>
            <a:r>
              <a:rPr lang="en-US" sz="6056" b="1">
                <a:solidFill>
                  <a:srgbClr val="000000"/>
                </a:solidFill>
                <a:latin typeface="Canva Sans Bold"/>
                <a:ea typeface="Canva Sans Bold"/>
                <a:cs typeface="Canva Sans Bold"/>
                <a:sym typeface="Canva Sans Bold"/>
              </a:rPr>
              <a:t>Least Used Channels</a:t>
            </a:r>
          </a:p>
        </p:txBody>
      </p:sp>
      <p:graphicFrame>
        <p:nvGraphicFramePr>
          <p:cNvPr id="4" name="Table 4"/>
          <p:cNvGraphicFramePr>
            <a:graphicFrameLocks noGrp="1"/>
          </p:cNvGraphicFramePr>
          <p:nvPr/>
        </p:nvGraphicFramePr>
        <p:xfrm>
          <a:off x="1028700" y="3904864"/>
          <a:ext cx="8767260" cy="5366582"/>
        </p:xfrm>
        <a:graphic>
          <a:graphicData uri="http://schemas.openxmlformats.org/drawingml/2006/table">
            <a:tbl>
              <a:tblPr/>
              <a:tblGrid>
                <a:gridCol w="2922420">
                  <a:extLst>
                    <a:ext uri="{9D8B030D-6E8A-4147-A177-3AD203B41FA5}">
                      <a16:colId xmlns:a16="http://schemas.microsoft.com/office/drawing/2014/main" val="20000"/>
                    </a:ext>
                  </a:extLst>
                </a:gridCol>
                <a:gridCol w="2922420">
                  <a:extLst>
                    <a:ext uri="{9D8B030D-6E8A-4147-A177-3AD203B41FA5}">
                      <a16:colId xmlns:a16="http://schemas.microsoft.com/office/drawing/2014/main" val="20001"/>
                    </a:ext>
                  </a:extLst>
                </a:gridCol>
                <a:gridCol w="2922420">
                  <a:extLst>
                    <a:ext uri="{9D8B030D-6E8A-4147-A177-3AD203B41FA5}">
                      <a16:colId xmlns:a16="http://schemas.microsoft.com/office/drawing/2014/main" val="20002"/>
                    </a:ext>
                  </a:extLst>
                </a:gridCol>
              </a:tblGrid>
              <a:tr h="1401218">
                <a:tc>
                  <a:txBody>
                    <a:bodyPr/>
                    <a:lstStyle/>
                    <a:p>
                      <a:pPr algn="ctr">
                        <a:lnSpc>
                          <a:spcPts val="2659"/>
                        </a:lnSpc>
                        <a:defRPr/>
                      </a:pPr>
                      <a:endParaRPr lang="en-US" sz="1100"/>
                    </a:p>
                    <a:p>
                      <a:pPr algn="ctr">
                        <a:lnSpc>
                          <a:spcPts val="2659"/>
                        </a:lnSpc>
                      </a:pPr>
                      <a:r>
                        <a:rPr lang="en-US" sz="1899" b="1">
                          <a:solidFill>
                            <a:srgbClr val="FFFFFF"/>
                          </a:solidFill>
                          <a:latin typeface="Canva Sans Bold"/>
                          <a:ea typeface="Canva Sans Bold"/>
                          <a:cs typeface="Canva Sans Bold"/>
                          <a:sym typeface="Canva Sans Bold"/>
                        </a:rPr>
                        <a:t>  Regions</a:t>
                      </a:r>
                    </a:p>
                    <a:p>
                      <a:pPr algn="ctr">
                        <a:lnSpc>
                          <a:spcPts val="2659"/>
                        </a:lnSpc>
                      </a:pPr>
                      <a:r>
                        <a:rPr lang="en-US" sz="1899" b="1">
                          <a:solidFill>
                            <a:srgbClr val="FFFFFF"/>
                          </a:solidFill>
                          <a:latin typeface="Canva Sans Bold"/>
                          <a:ea typeface="Canva Sans Bold"/>
                          <a:cs typeface="Canva Sans Bold"/>
                          <a:sym typeface="Canva Sans Bold"/>
                        </a:rPr>
                        <a:t>  </a:t>
                      </a:r>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Channel Name  </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tc>
                  <a:txBody>
                    <a:bodyPr/>
                    <a:lstStyle/>
                    <a:p>
                      <a:pPr algn="ctr">
                        <a:lnSpc>
                          <a:spcPts val="2659"/>
                        </a:lnSpc>
                        <a:defRPr/>
                      </a:pPr>
                      <a:r>
                        <a:rPr lang="en-US" sz="1899" b="1">
                          <a:solidFill>
                            <a:srgbClr val="FFFFFF"/>
                          </a:solidFill>
                          <a:latin typeface="Canva Sans Bold"/>
                          <a:ea typeface="Canva Sans Bold"/>
                          <a:cs typeface="Canva Sans Bold"/>
                          <a:sym typeface="Canva Sans Bold"/>
                        </a:rPr>
                        <a:t>Least Usage count</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8F4101"/>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9741"/>
                    </a:solidFill>
                  </a:tcPr>
                </a:tc>
                <a:extLst>
                  <a:ext uri="{0D108BD9-81ED-4DB2-BD59-A6C34878D82A}">
                    <a16:rowId xmlns:a16="http://schemas.microsoft.com/office/drawing/2014/main" val="10000"/>
                  </a:ext>
                </a:extLst>
              </a:tr>
              <a:tr h="99134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Twitter</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154</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134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Banner</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59</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9134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Twitter</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127</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91341">
                <a:tc>
                  <a:txBody>
                    <a:bodyPr/>
                    <a:lstStyle/>
                    <a:p>
                      <a:pPr algn="ctr">
                        <a:lnSpc>
                          <a:spcPts val="949"/>
                        </a:lnSpc>
                        <a:defRPr/>
                      </a:pPr>
                      <a:r>
                        <a:rPr lang="en-US" sz="1899" b="1" i="1"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w="9525" cap="flat" cmpd="sng" algn="ctr">
                      <a:solidFill>
                        <a:srgbClr val="8F410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000000"/>
                          </a:solidFill>
                          <a:latin typeface="Canva Sans"/>
                          <a:ea typeface="Canva Sans"/>
                          <a:cs typeface="Canva Sans"/>
                          <a:sym typeface="Canva Sans"/>
                        </a:rPr>
                        <a:t>Banner</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949"/>
                        </a:lnSpc>
                        <a:defRPr/>
                      </a:pPr>
                      <a:r>
                        <a:rPr lang="en-US" sz="1899" spc="-41">
                          <a:solidFill>
                            <a:srgbClr val="E7191F"/>
                          </a:solidFill>
                          <a:latin typeface="Canva Sans"/>
                          <a:ea typeface="Canva Sans"/>
                          <a:cs typeface="Canva Sans"/>
                          <a:sym typeface="Canva Sans"/>
                        </a:rPr>
                        <a:t>116</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Picture 5"/>
          <p:cNvPicPr>
            <a:picLocks noChangeAspect="1"/>
          </p:cNvPicPr>
          <p:nvPr/>
        </p:nvPicPr>
        <p:blipFill>
          <a:blip r:embed="rId2"/>
          <a:stretch>
            <a:fillRect/>
          </a:stretch>
        </p:blipFill>
        <p:spPr>
          <a:xfrm>
            <a:off x="10586595" y="3394878"/>
            <a:ext cx="2807749" cy="2807749"/>
          </a:xfrm>
          <a:prstGeom prst="rect">
            <a:avLst/>
          </a:prstGeom>
        </p:spPr>
      </p:pic>
      <p:sp>
        <p:nvSpPr>
          <p:cNvPr id="6" name="TextBox 6"/>
          <p:cNvSpPr txBox="1"/>
          <p:nvPr/>
        </p:nvSpPr>
        <p:spPr>
          <a:xfrm>
            <a:off x="10886928" y="6178575"/>
            <a:ext cx="2507966" cy="290518"/>
          </a:xfrm>
          <a:prstGeom prst="rect">
            <a:avLst/>
          </a:prstGeom>
        </p:spPr>
        <p:txBody>
          <a:bodyPr lIns="0" tIns="0" rIns="0" bIns="0" rtlCol="0" anchor="t">
            <a:spAutoFit/>
          </a:bodyPr>
          <a:lstStyle/>
          <a:p>
            <a:pPr algn="ctr">
              <a:lnSpc>
                <a:spcPts val="2457"/>
              </a:lnSpc>
              <a:spcBef>
                <a:spcPct val="0"/>
              </a:spcBef>
            </a:pPr>
            <a:r>
              <a:rPr lang="en-US" sz="1755" b="1">
                <a:solidFill>
                  <a:srgbClr val="1F2020"/>
                </a:solidFill>
                <a:latin typeface="Open Sans Bold"/>
                <a:ea typeface="Open Sans Bold"/>
                <a:cs typeface="Open Sans Bold"/>
                <a:sym typeface="Open Sans Bold"/>
              </a:rPr>
              <a:t>NORTHEAST</a:t>
            </a:r>
          </a:p>
        </p:txBody>
      </p:sp>
      <p:pic>
        <p:nvPicPr>
          <p:cNvPr id="7" name="Picture 7"/>
          <p:cNvPicPr>
            <a:picLocks noChangeAspect="1"/>
          </p:cNvPicPr>
          <p:nvPr/>
        </p:nvPicPr>
        <p:blipFill>
          <a:blip r:embed="rId3"/>
          <a:stretch>
            <a:fillRect/>
          </a:stretch>
        </p:blipFill>
        <p:spPr>
          <a:xfrm>
            <a:off x="13824562" y="3394878"/>
            <a:ext cx="2807749" cy="2807749"/>
          </a:xfrm>
          <a:prstGeom prst="rect">
            <a:avLst/>
          </a:prstGeom>
        </p:spPr>
      </p:pic>
      <p:sp>
        <p:nvSpPr>
          <p:cNvPr id="8" name="TextBox 8"/>
          <p:cNvSpPr txBox="1"/>
          <p:nvPr/>
        </p:nvSpPr>
        <p:spPr>
          <a:xfrm>
            <a:off x="14124895" y="6178575"/>
            <a:ext cx="2507966" cy="290518"/>
          </a:xfrm>
          <a:prstGeom prst="rect">
            <a:avLst/>
          </a:prstGeom>
        </p:spPr>
        <p:txBody>
          <a:bodyPr lIns="0" tIns="0" rIns="0" bIns="0" rtlCol="0" anchor="t">
            <a:spAutoFit/>
          </a:bodyPr>
          <a:lstStyle/>
          <a:p>
            <a:pPr algn="ctr">
              <a:lnSpc>
                <a:spcPts val="2457"/>
              </a:lnSpc>
              <a:spcBef>
                <a:spcPct val="0"/>
              </a:spcBef>
            </a:pPr>
            <a:r>
              <a:rPr lang="en-US" sz="1755" b="1">
                <a:solidFill>
                  <a:srgbClr val="1F2020"/>
                </a:solidFill>
                <a:latin typeface="Open Sans Bold"/>
                <a:ea typeface="Open Sans Bold"/>
                <a:cs typeface="Open Sans Bold"/>
                <a:sym typeface="Open Sans Bold"/>
              </a:rPr>
              <a:t>SOUTHEAST</a:t>
            </a:r>
          </a:p>
        </p:txBody>
      </p:sp>
      <p:pic>
        <p:nvPicPr>
          <p:cNvPr id="9" name="Picture 9"/>
          <p:cNvPicPr>
            <a:picLocks noChangeAspect="1"/>
          </p:cNvPicPr>
          <p:nvPr/>
        </p:nvPicPr>
        <p:blipFill>
          <a:blip r:embed="rId4"/>
          <a:stretch>
            <a:fillRect/>
          </a:stretch>
        </p:blipFill>
        <p:spPr>
          <a:xfrm>
            <a:off x="10652949" y="6473239"/>
            <a:ext cx="2807749" cy="2807749"/>
          </a:xfrm>
          <a:prstGeom prst="rect">
            <a:avLst/>
          </a:prstGeom>
        </p:spPr>
      </p:pic>
      <p:sp>
        <p:nvSpPr>
          <p:cNvPr id="10" name="TextBox 10"/>
          <p:cNvSpPr txBox="1"/>
          <p:nvPr/>
        </p:nvSpPr>
        <p:spPr>
          <a:xfrm>
            <a:off x="10820574" y="9256936"/>
            <a:ext cx="2507966" cy="290518"/>
          </a:xfrm>
          <a:prstGeom prst="rect">
            <a:avLst/>
          </a:prstGeom>
        </p:spPr>
        <p:txBody>
          <a:bodyPr lIns="0" tIns="0" rIns="0" bIns="0" rtlCol="0" anchor="t">
            <a:spAutoFit/>
          </a:bodyPr>
          <a:lstStyle/>
          <a:p>
            <a:pPr algn="ctr">
              <a:lnSpc>
                <a:spcPts val="2457"/>
              </a:lnSpc>
              <a:spcBef>
                <a:spcPct val="0"/>
              </a:spcBef>
            </a:pPr>
            <a:r>
              <a:rPr lang="en-US" sz="1755" b="1">
                <a:solidFill>
                  <a:srgbClr val="1F2020"/>
                </a:solidFill>
                <a:latin typeface="Open Sans Bold"/>
                <a:ea typeface="Open Sans Bold"/>
                <a:cs typeface="Open Sans Bold"/>
                <a:sym typeface="Open Sans Bold"/>
              </a:rPr>
              <a:t>WEST</a:t>
            </a:r>
          </a:p>
        </p:txBody>
      </p:sp>
      <p:pic>
        <p:nvPicPr>
          <p:cNvPr id="11" name="Picture 11"/>
          <p:cNvPicPr>
            <a:picLocks noChangeAspect="1"/>
          </p:cNvPicPr>
          <p:nvPr/>
        </p:nvPicPr>
        <p:blipFill>
          <a:blip r:embed="rId5"/>
          <a:stretch>
            <a:fillRect/>
          </a:stretch>
        </p:blipFill>
        <p:spPr>
          <a:xfrm>
            <a:off x="13890916" y="6473239"/>
            <a:ext cx="2807749" cy="2807749"/>
          </a:xfrm>
          <a:prstGeom prst="rect">
            <a:avLst/>
          </a:prstGeom>
        </p:spPr>
      </p:pic>
      <p:sp>
        <p:nvSpPr>
          <p:cNvPr id="12" name="TextBox 12"/>
          <p:cNvSpPr txBox="1"/>
          <p:nvPr/>
        </p:nvSpPr>
        <p:spPr>
          <a:xfrm>
            <a:off x="14058541" y="9229725"/>
            <a:ext cx="2507966" cy="290518"/>
          </a:xfrm>
          <a:prstGeom prst="rect">
            <a:avLst/>
          </a:prstGeom>
        </p:spPr>
        <p:txBody>
          <a:bodyPr lIns="0" tIns="0" rIns="0" bIns="0" rtlCol="0" anchor="t">
            <a:spAutoFit/>
          </a:bodyPr>
          <a:lstStyle/>
          <a:p>
            <a:pPr algn="ctr">
              <a:lnSpc>
                <a:spcPts val="2457"/>
              </a:lnSpc>
              <a:spcBef>
                <a:spcPct val="0"/>
              </a:spcBef>
            </a:pPr>
            <a:r>
              <a:rPr lang="en-US" sz="1755" b="1">
                <a:solidFill>
                  <a:srgbClr val="1F2020"/>
                </a:solidFill>
                <a:latin typeface="Open Sans Bold"/>
                <a:ea typeface="Open Sans Bold"/>
                <a:cs typeface="Open Sans Bold"/>
                <a:sym typeface="Open Sans Bold"/>
              </a:rPr>
              <a:t>MIDWEST</a:t>
            </a:r>
          </a:p>
        </p:txBody>
      </p:sp>
      <p:grpSp>
        <p:nvGrpSpPr>
          <p:cNvPr id="13" name="Group 13"/>
          <p:cNvGrpSpPr/>
          <p:nvPr/>
        </p:nvGrpSpPr>
        <p:grpSpPr>
          <a:xfrm>
            <a:off x="1028700" y="1943100"/>
            <a:ext cx="3496759" cy="108294"/>
            <a:chOff x="0" y="0"/>
            <a:chExt cx="920957" cy="28522"/>
          </a:xfrm>
        </p:grpSpPr>
        <p:sp>
          <p:nvSpPr>
            <p:cNvPr id="14" name="Freeform 14"/>
            <p:cNvSpPr/>
            <p:nvPr/>
          </p:nvSpPr>
          <p:spPr>
            <a:xfrm>
              <a:off x="0" y="0"/>
              <a:ext cx="920957" cy="28522"/>
            </a:xfrm>
            <a:custGeom>
              <a:avLst/>
              <a:gdLst/>
              <a:ahLst/>
              <a:cxnLst/>
              <a:rect l="l" t="t" r="r" b="b"/>
              <a:pathLst>
                <a:path w="920957" h="28522">
                  <a:moveTo>
                    <a:pt x="14261" y="0"/>
                  </a:moveTo>
                  <a:lnTo>
                    <a:pt x="906696" y="0"/>
                  </a:lnTo>
                  <a:cubicBezTo>
                    <a:pt x="914572" y="0"/>
                    <a:pt x="920957" y="6385"/>
                    <a:pt x="920957" y="14261"/>
                  </a:cubicBezTo>
                  <a:lnTo>
                    <a:pt x="920957" y="14261"/>
                  </a:lnTo>
                  <a:cubicBezTo>
                    <a:pt x="920957" y="18043"/>
                    <a:pt x="919455" y="21670"/>
                    <a:pt x="916780" y="24345"/>
                  </a:cubicBezTo>
                  <a:cubicBezTo>
                    <a:pt x="914106" y="27019"/>
                    <a:pt x="910479" y="28522"/>
                    <a:pt x="906696" y="28522"/>
                  </a:cubicBezTo>
                  <a:lnTo>
                    <a:pt x="14261" y="28522"/>
                  </a:lnTo>
                  <a:cubicBezTo>
                    <a:pt x="10479" y="28522"/>
                    <a:pt x="6851" y="27019"/>
                    <a:pt x="4177" y="24345"/>
                  </a:cubicBezTo>
                  <a:cubicBezTo>
                    <a:pt x="1502" y="21670"/>
                    <a:pt x="0" y="18043"/>
                    <a:pt x="0" y="14261"/>
                  </a:cubicBezTo>
                  <a:lnTo>
                    <a:pt x="0" y="14261"/>
                  </a:lnTo>
                  <a:cubicBezTo>
                    <a:pt x="0" y="10479"/>
                    <a:pt x="1502" y="6851"/>
                    <a:pt x="4177" y="4177"/>
                  </a:cubicBezTo>
                  <a:cubicBezTo>
                    <a:pt x="6851" y="1502"/>
                    <a:pt x="10479" y="0"/>
                    <a:pt x="14261" y="0"/>
                  </a:cubicBezTo>
                  <a:close/>
                </a:path>
              </a:pathLst>
            </a:custGeom>
            <a:solidFill>
              <a:srgbClr val="FF7300"/>
            </a:solidFill>
          </p:spPr>
          <p:txBody>
            <a:bodyPr/>
            <a:lstStyle/>
            <a:p>
              <a:endParaRPr lang="en-US"/>
            </a:p>
          </p:txBody>
        </p:sp>
        <p:sp>
          <p:nvSpPr>
            <p:cNvPr id="15" name="TextBox 15"/>
            <p:cNvSpPr txBox="1"/>
            <p:nvPr/>
          </p:nvSpPr>
          <p:spPr>
            <a:xfrm>
              <a:off x="0" y="-38100"/>
              <a:ext cx="920957" cy="6662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031964"/>
            <a:ext cx="3496759" cy="87197"/>
            <a:chOff x="0" y="0"/>
            <a:chExt cx="920957" cy="22965"/>
          </a:xfrm>
        </p:grpSpPr>
        <p:sp>
          <p:nvSpPr>
            <p:cNvPr id="3" name="Freeform 3"/>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4" name="TextBox 4"/>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3157386"/>
            <a:ext cx="677751" cy="67775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7" name="TextBox 7"/>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8" name="Group 8"/>
          <p:cNvGrpSpPr/>
          <p:nvPr/>
        </p:nvGrpSpPr>
        <p:grpSpPr>
          <a:xfrm>
            <a:off x="1028700" y="4465749"/>
            <a:ext cx="677751" cy="677751"/>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1" name="Freeform 11"/>
          <p:cNvSpPr/>
          <p:nvPr/>
        </p:nvSpPr>
        <p:spPr>
          <a:xfrm>
            <a:off x="1198182" y="7366285"/>
            <a:ext cx="3157795" cy="1642054"/>
          </a:xfrm>
          <a:custGeom>
            <a:avLst/>
            <a:gdLst/>
            <a:ahLst/>
            <a:cxnLst/>
            <a:rect l="l" t="t" r="r" b="b"/>
            <a:pathLst>
              <a:path w="3157795" h="1642054">
                <a:moveTo>
                  <a:pt x="0" y="0"/>
                </a:moveTo>
                <a:lnTo>
                  <a:pt x="3157795" y="0"/>
                </a:lnTo>
                <a:lnTo>
                  <a:pt x="3157795" y="1642054"/>
                </a:lnTo>
                <a:lnTo>
                  <a:pt x="0" y="16420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5845901" y="6957109"/>
            <a:ext cx="2518403" cy="2301191"/>
          </a:xfrm>
          <a:custGeom>
            <a:avLst/>
            <a:gdLst/>
            <a:ahLst/>
            <a:cxnLst/>
            <a:rect l="l" t="t" r="r" b="b"/>
            <a:pathLst>
              <a:path w="2518403" h="2301191">
                <a:moveTo>
                  <a:pt x="0" y="0"/>
                </a:moveTo>
                <a:lnTo>
                  <a:pt x="2518403" y="0"/>
                </a:lnTo>
                <a:lnTo>
                  <a:pt x="2518403" y="2301191"/>
                </a:lnTo>
                <a:lnTo>
                  <a:pt x="0" y="23011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2018866" y="3221727"/>
            <a:ext cx="7854411" cy="613410"/>
          </a:xfrm>
          <a:prstGeom prst="rect">
            <a:avLst/>
          </a:prstGeom>
        </p:spPr>
        <p:txBody>
          <a:bodyPr lIns="0" tIns="0" rIns="0" bIns="0" rtlCol="0" anchor="t">
            <a:spAutoFit/>
          </a:bodyPr>
          <a:lstStyle/>
          <a:p>
            <a:pPr algn="l">
              <a:lnSpc>
                <a:spcPts val="5040"/>
              </a:lnSpc>
              <a:spcBef>
                <a:spcPct val="0"/>
              </a:spcBef>
            </a:pPr>
            <a:r>
              <a:rPr lang="en-US" sz="3600">
                <a:solidFill>
                  <a:srgbClr val="1F2020"/>
                </a:solidFill>
                <a:latin typeface="Open Sans"/>
                <a:ea typeface="Open Sans"/>
                <a:cs typeface="Open Sans"/>
                <a:sym typeface="Open Sans"/>
              </a:rPr>
              <a:t>Internal &amp; external competitors</a:t>
            </a:r>
          </a:p>
        </p:txBody>
      </p:sp>
      <p:sp>
        <p:nvSpPr>
          <p:cNvPr id="14" name="AutoShape 14"/>
          <p:cNvSpPr/>
          <p:nvPr/>
        </p:nvSpPr>
        <p:spPr>
          <a:xfrm flipV="1">
            <a:off x="9873277" y="1652453"/>
            <a:ext cx="0" cy="7229998"/>
          </a:xfrm>
          <a:prstGeom prst="line">
            <a:avLst/>
          </a:prstGeom>
          <a:ln w="38100" cap="flat">
            <a:solidFill>
              <a:srgbClr val="000000"/>
            </a:solidFill>
            <a:prstDash val="sysDot"/>
            <a:headEnd type="none" w="sm" len="sm"/>
            <a:tailEnd type="none" w="sm" len="sm"/>
          </a:ln>
        </p:spPr>
        <p:txBody>
          <a:bodyPr/>
          <a:lstStyle/>
          <a:p>
            <a:endParaRPr lang="en-US"/>
          </a:p>
        </p:txBody>
      </p:sp>
      <p:grpSp>
        <p:nvGrpSpPr>
          <p:cNvPr id="15" name="Group 15"/>
          <p:cNvGrpSpPr/>
          <p:nvPr/>
        </p:nvGrpSpPr>
        <p:grpSpPr>
          <a:xfrm>
            <a:off x="10641312" y="2075563"/>
            <a:ext cx="3496759" cy="87197"/>
            <a:chOff x="0" y="0"/>
            <a:chExt cx="920957" cy="22965"/>
          </a:xfrm>
        </p:grpSpPr>
        <p:sp>
          <p:nvSpPr>
            <p:cNvPr id="16" name="Freeform 16"/>
            <p:cNvSpPr/>
            <p:nvPr/>
          </p:nvSpPr>
          <p:spPr>
            <a:xfrm>
              <a:off x="0" y="0"/>
              <a:ext cx="920957" cy="22965"/>
            </a:xfrm>
            <a:custGeom>
              <a:avLst/>
              <a:gdLst/>
              <a:ahLst/>
              <a:cxnLst/>
              <a:rect l="l" t="t" r="r" b="b"/>
              <a:pathLst>
                <a:path w="920957" h="22965">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txBody>
            <a:bodyPr/>
            <a:lstStyle/>
            <a:p>
              <a:endParaRPr lang="en-US"/>
            </a:p>
          </p:txBody>
        </p:sp>
        <p:sp>
          <p:nvSpPr>
            <p:cNvPr id="17" name="TextBox 17"/>
            <p:cNvSpPr txBox="1"/>
            <p:nvPr/>
          </p:nvSpPr>
          <p:spPr>
            <a:xfrm>
              <a:off x="0" y="-38100"/>
              <a:ext cx="920957" cy="61065"/>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028700" y="1364657"/>
            <a:ext cx="5312952" cy="556541"/>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More Areas to Explore</a:t>
            </a:r>
          </a:p>
        </p:txBody>
      </p:sp>
      <p:sp>
        <p:nvSpPr>
          <p:cNvPr id="19" name="TextBox 19"/>
          <p:cNvSpPr txBox="1"/>
          <p:nvPr/>
        </p:nvSpPr>
        <p:spPr>
          <a:xfrm>
            <a:off x="1119520" y="3333384"/>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sp>
        <p:nvSpPr>
          <p:cNvPr id="20" name="TextBox 20"/>
          <p:cNvSpPr txBox="1"/>
          <p:nvPr/>
        </p:nvSpPr>
        <p:spPr>
          <a:xfrm>
            <a:off x="2018866" y="4529308"/>
            <a:ext cx="7295363" cy="613410"/>
          </a:xfrm>
          <a:prstGeom prst="rect">
            <a:avLst/>
          </a:prstGeom>
        </p:spPr>
        <p:txBody>
          <a:bodyPr lIns="0" tIns="0" rIns="0" bIns="0" rtlCol="0" anchor="t">
            <a:spAutoFit/>
          </a:bodyPr>
          <a:lstStyle/>
          <a:p>
            <a:pPr algn="l">
              <a:lnSpc>
                <a:spcPts val="5040"/>
              </a:lnSpc>
              <a:spcBef>
                <a:spcPct val="0"/>
              </a:spcBef>
            </a:pPr>
            <a:r>
              <a:rPr lang="en-US" sz="3600">
                <a:solidFill>
                  <a:srgbClr val="1F2020"/>
                </a:solidFill>
                <a:latin typeface="Open Sans"/>
                <a:ea typeface="Open Sans"/>
                <a:cs typeface="Open Sans"/>
                <a:sym typeface="Open Sans"/>
              </a:rPr>
              <a:t>Customer retention &amp; satisfaction</a:t>
            </a:r>
          </a:p>
        </p:txBody>
      </p:sp>
      <p:sp>
        <p:nvSpPr>
          <p:cNvPr id="21" name="TextBox 21"/>
          <p:cNvSpPr txBox="1"/>
          <p:nvPr/>
        </p:nvSpPr>
        <p:spPr>
          <a:xfrm>
            <a:off x="1119520" y="4640979"/>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sp>
        <p:nvSpPr>
          <p:cNvPr id="22" name="TextBox 22"/>
          <p:cNvSpPr txBox="1"/>
          <p:nvPr/>
        </p:nvSpPr>
        <p:spPr>
          <a:xfrm>
            <a:off x="10641312" y="1394542"/>
            <a:ext cx="5312952" cy="556541"/>
          </a:xfrm>
          <a:prstGeom prst="rect">
            <a:avLst/>
          </a:prstGeom>
        </p:spPr>
        <p:txBody>
          <a:bodyPr lIns="0" tIns="0" rIns="0" bIns="0" rtlCol="0" anchor="t">
            <a:spAutoFit/>
          </a:bodyPr>
          <a:lstStyle/>
          <a:p>
            <a:pPr algn="l">
              <a:lnSpc>
                <a:spcPts val="4181"/>
              </a:lnSpc>
            </a:pPr>
            <a:r>
              <a:rPr lang="en-US" sz="3573" b="1">
                <a:solidFill>
                  <a:srgbClr val="1F2020"/>
                </a:solidFill>
                <a:latin typeface="Poppins Bold"/>
                <a:ea typeface="Poppins Bold"/>
                <a:cs typeface="Poppins Bold"/>
                <a:sym typeface="Poppins Bold"/>
              </a:rPr>
              <a:t>Recommendations</a:t>
            </a:r>
          </a:p>
        </p:txBody>
      </p:sp>
      <p:sp>
        <p:nvSpPr>
          <p:cNvPr id="23" name="TextBox 23"/>
          <p:cNvSpPr txBox="1"/>
          <p:nvPr/>
        </p:nvSpPr>
        <p:spPr>
          <a:xfrm>
            <a:off x="11698856" y="4993085"/>
            <a:ext cx="7854411" cy="613410"/>
          </a:xfrm>
          <a:prstGeom prst="rect">
            <a:avLst/>
          </a:prstGeom>
        </p:spPr>
        <p:txBody>
          <a:bodyPr lIns="0" tIns="0" rIns="0" bIns="0" rtlCol="0" anchor="t">
            <a:spAutoFit/>
          </a:bodyPr>
          <a:lstStyle/>
          <a:p>
            <a:pPr algn="l">
              <a:lnSpc>
                <a:spcPts val="5040"/>
              </a:lnSpc>
              <a:spcBef>
                <a:spcPct val="0"/>
              </a:spcBef>
            </a:pPr>
            <a:r>
              <a:rPr lang="en-US" sz="3600">
                <a:solidFill>
                  <a:srgbClr val="1F2020"/>
                </a:solidFill>
                <a:latin typeface="Open Sans"/>
                <a:ea typeface="Open Sans"/>
                <a:cs typeface="Open Sans"/>
                <a:sym typeface="Open Sans"/>
              </a:rPr>
              <a:t>Not to Proceed</a:t>
            </a:r>
          </a:p>
        </p:txBody>
      </p:sp>
      <p:grpSp>
        <p:nvGrpSpPr>
          <p:cNvPr id="24" name="Group 24"/>
          <p:cNvGrpSpPr/>
          <p:nvPr/>
        </p:nvGrpSpPr>
        <p:grpSpPr>
          <a:xfrm>
            <a:off x="1028700" y="5838825"/>
            <a:ext cx="677751" cy="677751"/>
            <a:chOff x="0" y="0"/>
            <a:chExt cx="812800" cy="812800"/>
          </a:xfrm>
        </p:grpSpPr>
        <p:sp>
          <p:nvSpPr>
            <p:cNvPr id="25"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txBody>
            <a:bodyPr/>
            <a:lstStyle/>
            <a:p>
              <a:endParaRPr lang="en-US"/>
            </a:p>
          </p:txBody>
        </p:sp>
        <p:sp>
          <p:nvSpPr>
            <p:cNvPr id="26" name="TextBox 26"/>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27" name="TextBox 27"/>
          <p:cNvSpPr txBox="1"/>
          <p:nvPr/>
        </p:nvSpPr>
        <p:spPr>
          <a:xfrm>
            <a:off x="2018866" y="5836889"/>
            <a:ext cx="7295363" cy="613410"/>
          </a:xfrm>
          <a:prstGeom prst="rect">
            <a:avLst/>
          </a:prstGeom>
        </p:spPr>
        <p:txBody>
          <a:bodyPr lIns="0" tIns="0" rIns="0" bIns="0" rtlCol="0" anchor="t">
            <a:spAutoFit/>
          </a:bodyPr>
          <a:lstStyle/>
          <a:p>
            <a:pPr algn="l">
              <a:lnSpc>
                <a:spcPts val="5040"/>
              </a:lnSpc>
              <a:spcBef>
                <a:spcPct val="0"/>
              </a:spcBef>
            </a:pPr>
            <a:r>
              <a:rPr lang="en-US" sz="3600">
                <a:solidFill>
                  <a:srgbClr val="1F2020"/>
                </a:solidFill>
                <a:latin typeface="Open Sans"/>
                <a:ea typeface="Open Sans"/>
                <a:cs typeface="Open Sans"/>
                <a:sym typeface="Open Sans"/>
              </a:rPr>
              <a:t>Financial status</a:t>
            </a:r>
          </a:p>
        </p:txBody>
      </p:sp>
      <p:sp>
        <p:nvSpPr>
          <p:cNvPr id="28" name="TextBox 28"/>
          <p:cNvSpPr txBox="1"/>
          <p:nvPr/>
        </p:nvSpPr>
        <p:spPr>
          <a:xfrm>
            <a:off x="1119520" y="6014054"/>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grpSp>
        <p:nvGrpSpPr>
          <p:cNvPr id="3" name="Group 3"/>
          <p:cNvGrpSpPr/>
          <p:nvPr/>
        </p:nvGrpSpPr>
        <p:grpSpPr>
          <a:xfrm>
            <a:off x="3587266" y="4075543"/>
            <a:ext cx="11113467" cy="2721339"/>
            <a:chOff x="0" y="0"/>
            <a:chExt cx="3319331" cy="812800"/>
          </a:xfrm>
        </p:grpSpPr>
        <p:sp>
          <p:nvSpPr>
            <p:cNvPr id="4" name="Freeform 4"/>
            <p:cNvSpPr/>
            <p:nvPr/>
          </p:nvSpPr>
          <p:spPr>
            <a:xfrm>
              <a:off x="0" y="0"/>
              <a:ext cx="3319331" cy="812800"/>
            </a:xfrm>
            <a:custGeom>
              <a:avLst/>
              <a:gdLst/>
              <a:ahLst/>
              <a:cxnLst/>
              <a:rect l="l" t="t" r="r" b="b"/>
              <a:pathLst>
                <a:path w="3319331" h="812800">
                  <a:moveTo>
                    <a:pt x="0" y="0"/>
                  </a:moveTo>
                  <a:lnTo>
                    <a:pt x="3319331" y="0"/>
                  </a:lnTo>
                  <a:lnTo>
                    <a:pt x="3319331" y="812800"/>
                  </a:lnTo>
                  <a:lnTo>
                    <a:pt x="0" y="812800"/>
                  </a:lnTo>
                  <a:close/>
                </a:path>
              </a:pathLst>
            </a:custGeom>
            <a:ln w="38100" cap="sq">
              <a:solidFill>
                <a:srgbClr val="FF7300"/>
              </a:solidFill>
              <a:prstDash val="solid"/>
              <a:miter/>
            </a:ln>
          </p:spPr>
          <p:txBody>
            <a:bodyPr/>
            <a:lstStyle/>
            <a:p>
              <a:endParaRPr lang="en-US"/>
            </a:p>
          </p:txBody>
        </p:sp>
        <p:sp>
          <p:nvSpPr>
            <p:cNvPr id="5" name="TextBox 5"/>
            <p:cNvSpPr txBox="1"/>
            <p:nvPr/>
          </p:nvSpPr>
          <p:spPr>
            <a:xfrm>
              <a:off x="0" y="-38100"/>
              <a:ext cx="3319331" cy="8509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362535" y="-1087604"/>
            <a:ext cx="19583687" cy="13047631"/>
          </a:xfrm>
          <a:custGeom>
            <a:avLst/>
            <a:gdLst/>
            <a:ahLst/>
            <a:cxnLst/>
            <a:rect l="l" t="t" r="r" b="b"/>
            <a:pathLst>
              <a:path w="19583687" h="13047631">
                <a:moveTo>
                  <a:pt x="0" y="0"/>
                </a:moveTo>
                <a:lnTo>
                  <a:pt x="19583687" y="0"/>
                </a:lnTo>
                <a:lnTo>
                  <a:pt x="19583687" y="13047632"/>
                </a:lnTo>
                <a:lnTo>
                  <a:pt x="0" y="13047632"/>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4275457" y="4306888"/>
            <a:ext cx="9737086" cy="2039574"/>
          </a:xfrm>
          <a:prstGeom prst="rect">
            <a:avLst/>
          </a:prstGeom>
        </p:spPr>
        <p:txBody>
          <a:bodyPr lIns="0" tIns="0" rIns="0" bIns="0" rtlCol="0" anchor="t">
            <a:spAutoFit/>
          </a:bodyPr>
          <a:lstStyle/>
          <a:p>
            <a:pPr algn="ctr">
              <a:lnSpc>
                <a:spcPts val="16783"/>
              </a:lnSpc>
              <a:spcBef>
                <a:spcPct val="0"/>
              </a:spcBef>
            </a:pPr>
            <a:r>
              <a:rPr lang="en-US" sz="11988" b="1">
                <a:solidFill>
                  <a:srgbClr val="000000"/>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516</Words>
  <Application>Microsoft Macintosh PowerPoint</Application>
  <PresentationFormat>Custom</PresentationFormat>
  <Paragraphs>230</Paragraphs>
  <Slides>14</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Canva Sans</vt:lpstr>
      <vt:lpstr>Open Sans Italics</vt:lpstr>
      <vt:lpstr>Open Sans Bold</vt:lpstr>
      <vt:lpstr>Open Sans</vt:lpstr>
      <vt:lpstr>Canva Sans Bold</vt:lpstr>
      <vt:lpstr>Poppins Bold</vt:lpstr>
      <vt:lpstr>Calibri</vt:lpstr>
      <vt:lpstr>Canva Sans Bold Italics</vt:lpstr>
      <vt:lpstr>Montserrat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D9 SQL PRESENTATION</dc:title>
  <cp:lastModifiedBy>Bahremand, Jasmine</cp:lastModifiedBy>
  <cp:revision>4</cp:revision>
  <dcterms:created xsi:type="dcterms:W3CDTF">2006-08-16T00:00:00Z</dcterms:created>
  <dcterms:modified xsi:type="dcterms:W3CDTF">2026-07-31T02:01:19Z</dcterms:modified>
  <dc:identifier>DAHBiHE4VXc</dc:identifier>
</cp:coreProperties>
</file>